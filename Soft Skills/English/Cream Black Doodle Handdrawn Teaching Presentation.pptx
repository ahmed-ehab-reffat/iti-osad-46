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anva Sans" panose="020B0604020202020204" charset="0"/>
      <p:regular r:id="rId25"/>
    </p:embeddedFont>
    <p:embeddedFont>
      <p:font typeface="Fredoka" panose="020B0604020202020204" charset="0"/>
      <p:regular r:id="rId26"/>
    </p:embeddedFont>
    <p:embeddedFont>
      <p:font typeface="Nunito" pitchFamily="2"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Reading slides</a:t>
            </a:r>
          </a:p>
          <a:p>
            <a:r>
              <a:rPr lang="en-US"/>
              <a:t>Too much text</a:t>
            </a:r>
          </a:p>
          <a:p>
            <a:r>
              <a:rPr lang="en-US"/>
              <a:t>No audience interaction</a:t>
            </a:r>
          </a:p>
          <a:p>
            <a:r>
              <a:rPr lang="en-US"/>
              <a:t>Poor eye contact</a:t>
            </a:r>
          </a:p>
          <a:p>
            <a:r>
              <a:rPr lang="en-US"/>
              <a:t>Lack of preparation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Purpose:</a:t>
            </a:r>
          </a:p>
          <a:p>
            <a:r>
              <a:rPr lang="en-US" dirty="0"/>
              <a:t>Develop confidence and spontaneity.</a:t>
            </a:r>
          </a:p>
          <a:p>
            <a:r>
              <a:rPr lang="en-US" dirty="0"/>
              <a:t>Just divide parts and start talking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group creats a list</a:t>
            </a:r>
          </a:p>
          <a:p>
            <a:r>
              <a:rPr lang="en-US"/>
              <a:t>Confidence</a:t>
            </a:r>
          </a:p>
          <a:p>
            <a:r>
              <a:rPr lang="en-US"/>
              <a:t>Clarity</a:t>
            </a:r>
          </a:p>
          <a:p>
            <a:r>
              <a:rPr lang="en-US"/>
              <a:t>Storytelling</a:t>
            </a:r>
          </a:p>
          <a:p>
            <a:r>
              <a:rPr lang="en-US"/>
              <a:t>Audience awareness</a:t>
            </a:r>
          </a:p>
          <a:p>
            <a:r>
              <a:rPr lang="en-US"/>
              <a:t>Energy</a:t>
            </a:r>
          </a:p>
          <a:p>
            <a:r>
              <a:rPr lang="en-US"/>
              <a:t>Timing</a:t>
            </a:r>
          </a:p>
          <a:p>
            <a:r>
              <a:rPr lang="en-US"/>
              <a:t>Visual design</a:t>
            </a:r>
          </a:p>
          <a:p>
            <a:r>
              <a:rPr lang="en-US"/>
              <a:t>Adaptability</a:t>
            </a:r>
          </a:p>
          <a:p>
            <a:r>
              <a:rPr lang="en-US"/>
              <a:t>Engagement</a:t>
            </a:r>
          </a:p>
          <a:p>
            <a:r>
              <a:rPr lang="en-US"/>
              <a:t>Organization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Transitioning (mentioning names for each part.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 Id="rId4"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5009058" y="3927255"/>
            <a:ext cx="2730823" cy="1522434"/>
          </a:xfrm>
          <a:custGeom>
            <a:avLst/>
            <a:gdLst/>
            <a:ahLst/>
            <a:cxnLst/>
            <a:rect l="l" t="t" r="r" b="b"/>
            <a:pathLst>
              <a:path w="2730823" h="1522434">
                <a:moveTo>
                  <a:pt x="0" y="0"/>
                </a:moveTo>
                <a:lnTo>
                  <a:pt x="2730823" y="0"/>
                </a:lnTo>
                <a:lnTo>
                  <a:pt x="2730823" y="1522434"/>
                </a:lnTo>
                <a:lnTo>
                  <a:pt x="0" y="15224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028700" y="6339639"/>
            <a:ext cx="2900419" cy="2918661"/>
          </a:xfrm>
          <a:custGeom>
            <a:avLst/>
            <a:gdLst/>
            <a:ahLst/>
            <a:cxnLst/>
            <a:rect l="l" t="t" r="r" b="b"/>
            <a:pathLst>
              <a:path w="2900419" h="2918661">
                <a:moveTo>
                  <a:pt x="0" y="0"/>
                </a:moveTo>
                <a:lnTo>
                  <a:pt x="2900419" y="0"/>
                </a:lnTo>
                <a:lnTo>
                  <a:pt x="2900419" y="2918661"/>
                </a:lnTo>
                <a:lnTo>
                  <a:pt x="0" y="29186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728367" y="1009490"/>
            <a:ext cx="1426760" cy="1255548"/>
          </a:xfrm>
          <a:custGeom>
            <a:avLst/>
            <a:gdLst/>
            <a:ahLst/>
            <a:cxnLst/>
            <a:rect l="l" t="t" r="r" b="b"/>
            <a:pathLst>
              <a:path w="1426760" h="1255548">
                <a:moveTo>
                  <a:pt x="0" y="0"/>
                </a:moveTo>
                <a:lnTo>
                  <a:pt x="1426760" y="0"/>
                </a:lnTo>
                <a:lnTo>
                  <a:pt x="1426760" y="1255548"/>
                </a:lnTo>
                <a:lnTo>
                  <a:pt x="0" y="12555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3297619" y="2265038"/>
            <a:ext cx="1430749" cy="1316289"/>
          </a:xfrm>
          <a:custGeom>
            <a:avLst/>
            <a:gdLst/>
            <a:ahLst/>
            <a:cxnLst/>
            <a:rect l="l" t="t" r="r" b="b"/>
            <a:pathLst>
              <a:path w="1430749" h="1316289">
                <a:moveTo>
                  <a:pt x="0" y="0"/>
                </a:moveTo>
                <a:lnTo>
                  <a:pt x="1430748" y="0"/>
                </a:lnTo>
                <a:lnTo>
                  <a:pt x="1430748" y="1316289"/>
                </a:lnTo>
                <a:lnTo>
                  <a:pt x="0" y="131628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1864208" y="8072043"/>
            <a:ext cx="1177192" cy="1027100"/>
          </a:xfrm>
          <a:custGeom>
            <a:avLst/>
            <a:gdLst/>
            <a:ahLst/>
            <a:cxnLst/>
            <a:rect l="l" t="t" r="r" b="b"/>
            <a:pathLst>
              <a:path w="1177192" h="1027100">
                <a:moveTo>
                  <a:pt x="0" y="0"/>
                </a:moveTo>
                <a:lnTo>
                  <a:pt x="1177191" y="0"/>
                </a:lnTo>
                <a:lnTo>
                  <a:pt x="1177191" y="1027100"/>
                </a:lnTo>
                <a:lnTo>
                  <a:pt x="0" y="10271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2159062" y="4016912"/>
            <a:ext cx="12509778" cy="1209770"/>
          </a:xfrm>
          <a:prstGeom prst="rect">
            <a:avLst/>
          </a:prstGeom>
        </p:spPr>
        <p:txBody>
          <a:bodyPr lIns="0" tIns="0" rIns="0" bIns="0" rtlCol="0" anchor="t">
            <a:spAutoFit/>
          </a:bodyPr>
          <a:lstStyle/>
          <a:p>
            <a:pPr algn="ctr">
              <a:lnSpc>
                <a:spcPts val="9969"/>
              </a:lnSpc>
            </a:pPr>
            <a:r>
              <a:rPr lang="en-US" sz="7121">
                <a:solidFill>
                  <a:srgbClr val="222222"/>
                </a:solidFill>
                <a:latin typeface="Fredoka"/>
                <a:ea typeface="Fredoka"/>
                <a:cs typeface="Fredoka"/>
                <a:sym typeface="Fredoka"/>
              </a:rPr>
              <a:t>Advanced Professional Skills</a:t>
            </a:r>
          </a:p>
        </p:txBody>
      </p:sp>
      <p:sp>
        <p:nvSpPr>
          <p:cNvPr id="8" name="TextBox 8"/>
          <p:cNvSpPr txBox="1"/>
          <p:nvPr/>
        </p:nvSpPr>
        <p:spPr>
          <a:xfrm>
            <a:off x="6858001" y="8109422"/>
            <a:ext cx="3304818" cy="494302"/>
          </a:xfrm>
          <a:prstGeom prst="rect">
            <a:avLst/>
          </a:prstGeom>
        </p:spPr>
        <p:txBody>
          <a:bodyPr wrap="square" lIns="0" tIns="0" rIns="0" bIns="0" rtlCol="0" anchor="t">
            <a:spAutoFit/>
          </a:bodyPr>
          <a:lstStyle/>
          <a:p>
            <a:pPr algn="ctr">
              <a:lnSpc>
                <a:spcPts val="3987"/>
              </a:lnSpc>
            </a:pPr>
            <a:r>
              <a:rPr lang="en-US" sz="2848" dirty="0">
                <a:solidFill>
                  <a:srgbClr val="444444"/>
                </a:solidFill>
                <a:latin typeface="Nunito"/>
                <a:ea typeface="Nunito"/>
                <a:cs typeface="Nunito"/>
                <a:sym typeface="Nunito"/>
              </a:rPr>
              <a:t>By Dr Salma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8739744" y="5719655"/>
            <a:ext cx="3162347" cy="5308356"/>
          </a:xfrm>
          <a:custGeom>
            <a:avLst/>
            <a:gdLst/>
            <a:ahLst/>
            <a:cxnLst/>
            <a:rect l="l" t="t" r="r" b="b"/>
            <a:pathLst>
              <a:path w="3162347" h="5308356">
                <a:moveTo>
                  <a:pt x="0" y="0"/>
                </a:moveTo>
                <a:lnTo>
                  <a:pt x="3162346" y="0"/>
                </a:lnTo>
                <a:lnTo>
                  <a:pt x="3162346" y="5308356"/>
                </a:lnTo>
                <a:lnTo>
                  <a:pt x="0" y="530835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735056" flipH="1">
            <a:off x="13115761" y="5589072"/>
            <a:ext cx="3162347" cy="5308356"/>
          </a:xfrm>
          <a:custGeom>
            <a:avLst/>
            <a:gdLst/>
            <a:ahLst/>
            <a:cxnLst/>
            <a:rect l="l" t="t" r="r" b="b"/>
            <a:pathLst>
              <a:path w="3162347" h="5308356">
                <a:moveTo>
                  <a:pt x="3162347" y="0"/>
                </a:moveTo>
                <a:lnTo>
                  <a:pt x="0" y="0"/>
                </a:lnTo>
                <a:lnTo>
                  <a:pt x="0" y="5308355"/>
                </a:lnTo>
                <a:lnTo>
                  <a:pt x="3162347" y="5308355"/>
                </a:lnTo>
                <a:lnTo>
                  <a:pt x="3162347"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660077">
            <a:off x="2822694" y="1618711"/>
            <a:ext cx="10461142" cy="4476497"/>
          </a:xfrm>
          <a:custGeom>
            <a:avLst/>
            <a:gdLst/>
            <a:ahLst/>
            <a:cxnLst/>
            <a:rect l="l" t="t" r="r" b="b"/>
            <a:pathLst>
              <a:path w="10461142" h="4476497">
                <a:moveTo>
                  <a:pt x="0" y="0"/>
                </a:moveTo>
                <a:lnTo>
                  <a:pt x="10461142" y="0"/>
                </a:lnTo>
                <a:lnTo>
                  <a:pt x="10461142" y="4476497"/>
                </a:lnTo>
                <a:lnTo>
                  <a:pt x="0" y="44764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6515810">
            <a:off x="15206249" y="2708825"/>
            <a:ext cx="646586" cy="1580544"/>
          </a:xfrm>
          <a:custGeom>
            <a:avLst/>
            <a:gdLst/>
            <a:ahLst/>
            <a:cxnLst/>
            <a:rect l="l" t="t" r="r" b="b"/>
            <a:pathLst>
              <a:path w="646586" h="1580544">
                <a:moveTo>
                  <a:pt x="0" y="0"/>
                </a:moveTo>
                <a:lnTo>
                  <a:pt x="646586" y="0"/>
                </a:lnTo>
                <a:lnTo>
                  <a:pt x="646586" y="1580544"/>
                </a:lnTo>
                <a:lnTo>
                  <a:pt x="0" y="158054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rot="-884940">
            <a:off x="3148161" y="3083037"/>
            <a:ext cx="9394171" cy="1464945"/>
          </a:xfrm>
          <a:prstGeom prst="rect">
            <a:avLst/>
          </a:prstGeom>
        </p:spPr>
        <p:txBody>
          <a:bodyPr lIns="0" tIns="0" rIns="0" bIns="0" rtlCol="0" anchor="t">
            <a:spAutoFit/>
          </a:bodyPr>
          <a:lstStyle/>
          <a:p>
            <a:pPr algn="ctr">
              <a:lnSpc>
                <a:spcPts val="5880"/>
              </a:lnSpc>
            </a:pPr>
            <a:r>
              <a:rPr lang="en-US" sz="4200">
                <a:solidFill>
                  <a:srgbClr val="222222"/>
                </a:solidFill>
                <a:latin typeface="Fredoka"/>
                <a:ea typeface="Fredoka"/>
                <a:cs typeface="Fredoka"/>
                <a:sym typeface="Fredoka"/>
              </a:rPr>
              <a:t>Describe the worst presentation you've ever attended.</a:t>
            </a:r>
          </a:p>
        </p:txBody>
      </p:sp>
      <p:sp>
        <p:nvSpPr>
          <p:cNvPr id="7" name="Freeform 7"/>
          <p:cNvSpPr/>
          <p:nvPr/>
        </p:nvSpPr>
        <p:spPr>
          <a:xfrm rot="-10800000" flipH="1">
            <a:off x="1441578" y="1587009"/>
            <a:ext cx="646586" cy="1580544"/>
          </a:xfrm>
          <a:custGeom>
            <a:avLst/>
            <a:gdLst/>
            <a:ahLst/>
            <a:cxnLst/>
            <a:rect l="l" t="t" r="r" b="b"/>
            <a:pathLst>
              <a:path w="646586" h="1580544">
                <a:moveTo>
                  <a:pt x="646586" y="0"/>
                </a:moveTo>
                <a:lnTo>
                  <a:pt x="0" y="0"/>
                </a:lnTo>
                <a:lnTo>
                  <a:pt x="0" y="1580543"/>
                </a:lnTo>
                <a:lnTo>
                  <a:pt x="646586" y="1580543"/>
                </a:lnTo>
                <a:lnTo>
                  <a:pt x="646586"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42395" y="6719567"/>
            <a:ext cx="7910870" cy="2980690"/>
          </a:xfrm>
          <a:prstGeom prst="rect">
            <a:avLst/>
          </a:prstGeom>
        </p:spPr>
        <p:txBody>
          <a:bodyPr lIns="0" tIns="0" rIns="0" bIns="0" rtlCol="0" anchor="t">
            <a:spAutoFit/>
          </a:bodyPr>
          <a:lstStyle/>
          <a:p>
            <a:pPr algn="l">
              <a:lnSpc>
                <a:spcPts val="4759"/>
              </a:lnSpc>
            </a:pPr>
            <a:r>
              <a:rPr lang="en-US" sz="3399">
                <a:solidFill>
                  <a:srgbClr val="222222"/>
                </a:solidFill>
                <a:latin typeface="Canva Sans"/>
                <a:ea typeface="Canva Sans"/>
                <a:cs typeface="Canva Sans"/>
                <a:sym typeface="Canva Sans"/>
              </a:rPr>
              <a:t>Discuss:</a:t>
            </a:r>
          </a:p>
          <a:p>
            <a:pPr marL="734059" lvl="1" indent="-367030" algn="l">
              <a:lnSpc>
                <a:spcPts val="4759"/>
              </a:lnSpc>
              <a:buFont typeface="Arial"/>
              <a:buChar char="•"/>
            </a:pPr>
            <a:r>
              <a:rPr lang="en-US" sz="3399">
                <a:solidFill>
                  <a:srgbClr val="222222"/>
                </a:solidFill>
                <a:latin typeface="Canva Sans"/>
                <a:ea typeface="Canva Sans"/>
                <a:cs typeface="Canva Sans"/>
                <a:sym typeface="Canva Sans"/>
              </a:rPr>
              <a:t>What made it bad?</a:t>
            </a:r>
          </a:p>
          <a:p>
            <a:pPr marL="734059" lvl="1" indent="-367030" algn="l">
              <a:lnSpc>
                <a:spcPts val="4759"/>
              </a:lnSpc>
              <a:buFont typeface="Arial"/>
              <a:buChar char="•"/>
            </a:pPr>
            <a:r>
              <a:rPr lang="en-US" sz="3399">
                <a:solidFill>
                  <a:srgbClr val="222222"/>
                </a:solidFill>
                <a:latin typeface="Canva Sans"/>
                <a:ea typeface="Canva Sans"/>
                <a:cs typeface="Canva Sans"/>
                <a:sym typeface="Canva Sans"/>
              </a:rPr>
              <a:t>What mistakes were made?</a:t>
            </a:r>
          </a:p>
          <a:p>
            <a:pPr marL="734059" lvl="1" indent="-367030" algn="l">
              <a:lnSpc>
                <a:spcPts val="4759"/>
              </a:lnSpc>
              <a:buFont typeface="Arial"/>
              <a:buChar char="•"/>
            </a:pPr>
            <a:r>
              <a:rPr lang="en-US" sz="3399">
                <a:solidFill>
                  <a:srgbClr val="222222"/>
                </a:solidFill>
                <a:latin typeface="Canva Sans"/>
                <a:ea typeface="Canva Sans"/>
                <a:cs typeface="Canva Sans"/>
                <a:sym typeface="Canva Sans"/>
              </a:rPr>
              <a:t>How could it have been improved?</a:t>
            </a:r>
          </a:p>
          <a:p>
            <a:pPr algn="l">
              <a:lnSpc>
                <a:spcPts val="4759"/>
              </a:lnSpc>
            </a:pPr>
            <a:endParaRPr lang="en-US" sz="3399">
              <a:solidFill>
                <a:srgbClr val="222222"/>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486899">
            <a:off x="13487381" y="1925332"/>
            <a:ext cx="2681808" cy="2199082"/>
          </a:xfrm>
          <a:custGeom>
            <a:avLst/>
            <a:gdLst/>
            <a:ahLst/>
            <a:cxnLst/>
            <a:rect l="l" t="t" r="r" b="b"/>
            <a:pathLst>
              <a:path w="2681808" h="2199082">
                <a:moveTo>
                  <a:pt x="0" y="0"/>
                </a:moveTo>
                <a:lnTo>
                  <a:pt x="2681808" y="0"/>
                </a:lnTo>
                <a:lnTo>
                  <a:pt x="2681808" y="2199083"/>
                </a:lnTo>
                <a:lnTo>
                  <a:pt x="0" y="21990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791612">
            <a:off x="10029128" y="4631486"/>
            <a:ext cx="5143500" cy="4114800"/>
          </a:xfrm>
          <a:custGeom>
            <a:avLst/>
            <a:gdLst/>
            <a:ahLst/>
            <a:cxnLst/>
            <a:rect l="l" t="t" r="r" b="b"/>
            <a:pathLst>
              <a:path w="5143500" h="4114800">
                <a:moveTo>
                  <a:pt x="0" y="0"/>
                </a:moveTo>
                <a:lnTo>
                  <a:pt x="5143500" y="0"/>
                </a:lnTo>
                <a:lnTo>
                  <a:pt x="51435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rot="-564611">
            <a:off x="2978344" y="3585682"/>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6574962" y="1369282"/>
            <a:ext cx="6104930" cy="887095"/>
          </a:xfrm>
          <a:prstGeom prst="rect">
            <a:avLst/>
          </a:prstGeom>
        </p:spPr>
        <p:txBody>
          <a:bodyPr lIns="0" tIns="0" rIns="0" bIns="0" rtlCol="0" anchor="t">
            <a:spAutoFit/>
          </a:bodyPr>
          <a:lstStyle/>
          <a:p>
            <a:pPr algn="l">
              <a:lnSpc>
                <a:spcPts val="7279"/>
              </a:lnSpc>
            </a:pPr>
            <a:r>
              <a:rPr lang="en-US" sz="5199">
                <a:solidFill>
                  <a:srgbClr val="000000"/>
                </a:solidFill>
                <a:latin typeface="Fredoka"/>
                <a:ea typeface="Fredoka"/>
                <a:cs typeface="Fredoka"/>
                <a:sym typeface="Fredoka"/>
              </a:rPr>
              <a:t>One-Minute Expert</a:t>
            </a:r>
          </a:p>
        </p:txBody>
      </p:sp>
      <p:sp>
        <p:nvSpPr>
          <p:cNvPr id="6" name="TextBox 6"/>
          <p:cNvSpPr txBox="1"/>
          <p:nvPr/>
        </p:nvSpPr>
        <p:spPr>
          <a:xfrm>
            <a:off x="4514945" y="3490653"/>
            <a:ext cx="12393536" cy="6581140"/>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Each group chooses a random topic:</a:t>
            </a:r>
          </a:p>
          <a:p>
            <a:pPr algn="l">
              <a:lnSpc>
                <a:spcPts val="4759"/>
              </a:lnSpc>
            </a:pPr>
            <a:r>
              <a:rPr lang="en-US" sz="3399">
                <a:solidFill>
                  <a:srgbClr val="000000"/>
                </a:solidFill>
                <a:latin typeface="Nunito"/>
                <a:ea typeface="Nunito"/>
                <a:cs typeface="Nunito"/>
                <a:sym typeface="Nunito"/>
              </a:rPr>
              <a:t>Examples:</a:t>
            </a:r>
          </a:p>
          <a:p>
            <a:pPr marL="734059" lvl="1" indent="-367030" algn="l">
              <a:lnSpc>
                <a:spcPts val="4759"/>
              </a:lnSpc>
              <a:buFont typeface="Arial"/>
              <a:buChar char="•"/>
            </a:pPr>
            <a:r>
              <a:rPr lang="en-US" sz="3399">
                <a:solidFill>
                  <a:srgbClr val="000000"/>
                </a:solidFill>
                <a:latin typeface="Nunito"/>
                <a:ea typeface="Nunito"/>
                <a:cs typeface="Nunito"/>
                <a:sym typeface="Nunito"/>
              </a:rPr>
              <a:t>Coffee</a:t>
            </a:r>
          </a:p>
          <a:p>
            <a:pPr marL="734059" lvl="1" indent="-367030" algn="l">
              <a:lnSpc>
                <a:spcPts val="4759"/>
              </a:lnSpc>
              <a:buFont typeface="Arial"/>
              <a:buChar char="•"/>
            </a:pPr>
            <a:r>
              <a:rPr lang="en-US" sz="3399">
                <a:solidFill>
                  <a:srgbClr val="000000"/>
                </a:solidFill>
                <a:latin typeface="Nunito"/>
                <a:ea typeface="Nunito"/>
                <a:cs typeface="Nunito"/>
                <a:sym typeface="Nunito"/>
              </a:rPr>
              <a:t>Space travel</a:t>
            </a:r>
          </a:p>
          <a:p>
            <a:pPr marL="734059" lvl="1" indent="-367030" algn="l">
              <a:lnSpc>
                <a:spcPts val="4759"/>
              </a:lnSpc>
              <a:buFont typeface="Arial"/>
              <a:buChar char="•"/>
            </a:pPr>
            <a:r>
              <a:rPr lang="en-US" sz="3399">
                <a:solidFill>
                  <a:srgbClr val="000000"/>
                </a:solidFill>
                <a:latin typeface="Nunito"/>
                <a:ea typeface="Nunito"/>
                <a:cs typeface="Nunito"/>
                <a:sym typeface="Nunito"/>
              </a:rPr>
              <a:t>Cats</a:t>
            </a:r>
          </a:p>
          <a:p>
            <a:pPr marL="734059" lvl="1" indent="-367030" algn="l">
              <a:lnSpc>
                <a:spcPts val="4759"/>
              </a:lnSpc>
              <a:buFont typeface="Arial"/>
              <a:buChar char="•"/>
            </a:pPr>
            <a:r>
              <a:rPr lang="en-US" sz="3399">
                <a:solidFill>
                  <a:srgbClr val="000000"/>
                </a:solidFill>
                <a:latin typeface="Nunito"/>
                <a:ea typeface="Nunito"/>
                <a:cs typeface="Nunito"/>
                <a:sym typeface="Nunito"/>
              </a:rPr>
              <a:t>Social media</a:t>
            </a:r>
          </a:p>
          <a:p>
            <a:pPr marL="734059" lvl="1" indent="-367030" algn="l">
              <a:lnSpc>
                <a:spcPts val="4759"/>
              </a:lnSpc>
              <a:buFont typeface="Arial"/>
              <a:buChar char="•"/>
            </a:pPr>
            <a:r>
              <a:rPr lang="en-US" sz="3399">
                <a:solidFill>
                  <a:srgbClr val="000000"/>
                </a:solidFill>
                <a:latin typeface="Nunito"/>
                <a:ea typeface="Nunito"/>
                <a:cs typeface="Nunito"/>
                <a:sym typeface="Nunito"/>
              </a:rPr>
              <a:t>Chocolate</a:t>
            </a:r>
          </a:p>
          <a:p>
            <a:pPr algn="l">
              <a:lnSpc>
                <a:spcPts val="4759"/>
              </a:lnSpc>
            </a:pPr>
            <a:r>
              <a:rPr lang="en-US" sz="3399">
                <a:solidFill>
                  <a:srgbClr val="000000"/>
                </a:solidFill>
                <a:latin typeface="Nunito"/>
                <a:ea typeface="Nunito"/>
                <a:cs typeface="Nunito"/>
                <a:sym typeface="Nunito"/>
              </a:rPr>
              <a:t>Speak for 60 seconds.</a:t>
            </a:r>
          </a:p>
          <a:p>
            <a:pPr algn="l">
              <a:lnSpc>
                <a:spcPts val="4759"/>
              </a:lnSpc>
            </a:pPr>
            <a:r>
              <a:rPr lang="en-US" sz="3399">
                <a:solidFill>
                  <a:srgbClr val="000000"/>
                </a:solidFill>
                <a:latin typeface="Nunito"/>
                <a:ea typeface="Nunito"/>
                <a:cs typeface="Nunito"/>
                <a:sym typeface="Nunito"/>
              </a:rPr>
              <a:t>Rule:</a:t>
            </a:r>
          </a:p>
          <a:p>
            <a:pPr algn="l">
              <a:lnSpc>
                <a:spcPts val="4759"/>
              </a:lnSpc>
            </a:pPr>
            <a:r>
              <a:rPr lang="en-US" sz="3399">
                <a:solidFill>
                  <a:srgbClr val="000000"/>
                </a:solidFill>
                <a:latin typeface="Nunito"/>
                <a:ea typeface="Nunito"/>
                <a:cs typeface="Nunito"/>
                <a:sym typeface="Nunito"/>
              </a:rPr>
              <a:t>No preparation.</a:t>
            </a:r>
          </a:p>
          <a:p>
            <a:pPr algn="l">
              <a:lnSpc>
                <a:spcPts val="4759"/>
              </a:lnSpc>
            </a:pPr>
            <a:endParaRPr lang="en-US" sz="3399">
              <a:solidFill>
                <a:srgbClr val="000000"/>
              </a:solidFill>
              <a:latin typeface="Nunito"/>
              <a:ea typeface="Nunito"/>
              <a:cs typeface="Nunito"/>
              <a:sym typeface="Nunito"/>
            </a:endParaRPr>
          </a:p>
        </p:txBody>
      </p:sp>
      <p:sp>
        <p:nvSpPr>
          <p:cNvPr id="7" name="Freeform 7"/>
          <p:cNvSpPr/>
          <p:nvPr/>
        </p:nvSpPr>
        <p:spPr>
          <a:xfrm rot="-564611">
            <a:off x="2978344" y="4356711"/>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564611">
            <a:off x="2978344" y="7875185"/>
            <a:ext cx="928648" cy="457008"/>
          </a:xfrm>
          <a:custGeom>
            <a:avLst/>
            <a:gdLst/>
            <a:ahLst/>
            <a:cxnLst/>
            <a:rect l="l" t="t" r="r" b="b"/>
            <a:pathLst>
              <a:path w="928648" h="457008">
                <a:moveTo>
                  <a:pt x="0" y="0"/>
                </a:moveTo>
                <a:lnTo>
                  <a:pt x="928648" y="0"/>
                </a:lnTo>
                <a:lnTo>
                  <a:pt x="928648" y="457007"/>
                </a:lnTo>
                <a:lnTo>
                  <a:pt x="0" y="457007"/>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649756">
            <a:off x="1062671" y="884911"/>
            <a:ext cx="1592678" cy="1654090"/>
          </a:xfrm>
          <a:custGeom>
            <a:avLst/>
            <a:gdLst/>
            <a:ahLst/>
            <a:cxnLst/>
            <a:rect l="l" t="t" r="r" b="b"/>
            <a:pathLst>
              <a:path w="1592678" h="1654090">
                <a:moveTo>
                  <a:pt x="0" y="0"/>
                </a:moveTo>
                <a:lnTo>
                  <a:pt x="1592677" y="0"/>
                </a:lnTo>
                <a:lnTo>
                  <a:pt x="1592677" y="1654090"/>
                </a:lnTo>
                <a:lnTo>
                  <a:pt x="0" y="16540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860684" y="2786062"/>
            <a:ext cx="1398616" cy="1800542"/>
          </a:xfrm>
          <a:custGeom>
            <a:avLst/>
            <a:gdLst/>
            <a:ahLst/>
            <a:cxnLst/>
            <a:rect l="l" t="t" r="r" b="b"/>
            <a:pathLst>
              <a:path w="1398616" h="1800542">
                <a:moveTo>
                  <a:pt x="0" y="0"/>
                </a:moveTo>
                <a:lnTo>
                  <a:pt x="1398616" y="0"/>
                </a:lnTo>
                <a:lnTo>
                  <a:pt x="1398616" y="1800543"/>
                </a:lnTo>
                <a:lnTo>
                  <a:pt x="0" y="180054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151040">
            <a:off x="8171253" y="6599952"/>
            <a:ext cx="2276870" cy="2349491"/>
          </a:xfrm>
          <a:custGeom>
            <a:avLst/>
            <a:gdLst/>
            <a:ahLst/>
            <a:cxnLst/>
            <a:rect l="l" t="t" r="r" b="b"/>
            <a:pathLst>
              <a:path w="2276870" h="2349491">
                <a:moveTo>
                  <a:pt x="0" y="0"/>
                </a:moveTo>
                <a:lnTo>
                  <a:pt x="2276871" y="0"/>
                </a:lnTo>
                <a:lnTo>
                  <a:pt x="2276871" y="2349491"/>
                </a:lnTo>
                <a:lnTo>
                  <a:pt x="0" y="23494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2466441">
            <a:off x="1999147" y="7024445"/>
            <a:ext cx="518757" cy="1500505"/>
          </a:xfrm>
          <a:custGeom>
            <a:avLst/>
            <a:gdLst/>
            <a:ahLst/>
            <a:cxnLst/>
            <a:rect l="l" t="t" r="r" b="b"/>
            <a:pathLst>
              <a:path w="518757" h="1500505">
                <a:moveTo>
                  <a:pt x="0" y="0"/>
                </a:moveTo>
                <a:lnTo>
                  <a:pt x="518757" y="0"/>
                </a:lnTo>
                <a:lnTo>
                  <a:pt x="518757" y="1500505"/>
                </a:lnTo>
                <a:lnTo>
                  <a:pt x="0" y="15005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5340768" y="6297062"/>
            <a:ext cx="1461349" cy="1483603"/>
          </a:xfrm>
          <a:custGeom>
            <a:avLst/>
            <a:gdLst/>
            <a:ahLst/>
            <a:cxnLst/>
            <a:rect l="l" t="t" r="r" b="b"/>
            <a:pathLst>
              <a:path w="1461349" h="1483603">
                <a:moveTo>
                  <a:pt x="0" y="0"/>
                </a:moveTo>
                <a:lnTo>
                  <a:pt x="1461349" y="0"/>
                </a:lnTo>
                <a:lnTo>
                  <a:pt x="1461349" y="1483603"/>
                </a:lnTo>
                <a:lnTo>
                  <a:pt x="0" y="1483603"/>
                </a:lnTo>
                <a:lnTo>
                  <a:pt x="0" y="0"/>
                </a:lnTo>
                <a:close/>
              </a:path>
            </a:pathLst>
          </a:custGeom>
          <a:blipFill>
            <a:blip r:embed="rId6"/>
            <a:stretch>
              <a:fillRect/>
            </a:stretch>
          </a:blipFill>
        </p:spPr>
      </p:sp>
      <p:sp>
        <p:nvSpPr>
          <p:cNvPr id="7" name="TextBox 7"/>
          <p:cNvSpPr txBox="1"/>
          <p:nvPr/>
        </p:nvSpPr>
        <p:spPr>
          <a:xfrm>
            <a:off x="2683430" y="2121055"/>
            <a:ext cx="12921139" cy="887095"/>
          </a:xfrm>
          <a:prstGeom prst="rect">
            <a:avLst/>
          </a:prstGeom>
        </p:spPr>
        <p:txBody>
          <a:bodyPr lIns="0" tIns="0" rIns="0" bIns="0" rtlCol="0" anchor="t">
            <a:spAutoFit/>
          </a:bodyPr>
          <a:lstStyle/>
          <a:p>
            <a:pPr algn="ctr">
              <a:lnSpc>
                <a:spcPts val="7279"/>
              </a:lnSpc>
            </a:pPr>
            <a:r>
              <a:rPr lang="en-US" sz="5199">
                <a:solidFill>
                  <a:srgbClr val="000000"/>
                </a:solidFill>
                <a:latin typeface="Fredoka"/>
                <a:ea typeface="Fredoka"/>
                <a:cs typeface="Fredoka"/>
                <a:sym typeface="Fredoka"/>
              </a:rPr>
              <a:t>WHAT MAKES A GREAT PRESENTATION?</a:t>
            </a:r>
          </a:p>
        </p:txBody>
      </p:sp>
      <p:sp>
        <p:nvSpPr>
          <p:cNvPr id="8" name="TextBox 8"/>
          <p:cNvSpPr txBox="1"/>
          <p:nvPr/>
        </p:nvSpPr>
        <p:spPr>
          <a:xfrm>
            <a:off x="2947232" y="3877310"/>
            <a:ext cx="12393536" cy="5380990"/>
          </a:xfrm>
          <a:prstGeom prst="rect">
            <a:avLst/>
          </a:prstGeom>
        </p:spPr>
        <p:txBody>
          <a:bodyPr lIns="0" tIns="0" rIns="0" bIns="0" rtlCol="0" anchor="t">
            <a:spAutoFit/>
          </a:bodyPr>
          <a:lstStyle/>
          <a:p>
            <a:pPr algn="l">
              <a:lnSpc>
                <a:spcPts val="4759"/>
              </a:lnSpc>
            </a:pPr>
            <a:r>
              <a:rPr lang="en-US" sz="3399">
                <a:solidFill>
                  <a:srgbClr val="222222"/>
                </a:solidFill>
                <a:latin typeface="Nunito"/>
                <a:ea typeface="Nunito"/>
                <a:cs typeface="Nunito"/>
                <a:sym typeface="Nunito"/>
              </a:rPr>
              <a:t>Compare two presenters:</a:t>
            </a:r>
          </a:p>
          <a:p>
            <a:pPr algn="l">
              <a:lnSpc>
                <a:spcPts val="4759"/>
              </a:lnSpc>
            </a:pPr>
            <a:r>
              <a:rPr lang="en-US" sz="3399">
                <a:solidFill>
                  <a:srgbClr val="222222"/>
                </a:solidFill>
                <a:latin typeface="Nunito"/>
                <a:ea typeface="Nunito"/>
                <a:cs typeface="Nunito"/>
                <a:sym typeface="Nunito"/>
              </a:rPr>
              <a:t>Presenter A</a:t>
            </a:r>
          </a:p>
          <a:p>
            <a:pPr marL="734059" lvl="1" indent="-367030" algn="l">
              <a:lnSpc>
                <a:spcPts val="4759"/>
              </a:lnSpc>
              <a:buFont typeface="Arial"/>
              <a:buChar char="•"/>
            </a:pPr>
            <a:r>
              <a:rPr lang="en-US" sz="3399">
                <a:solidFill>
                  <a:srgbClr val="222222"/>
                </a:solidFill>
                <a:latin typeface="Nunito"/>
                <a:ea typeface="Nunito"/>
                <a:cs typeface="Nunito"/>
                <a:sym typeface="Nunito"/>
              </a:rPr>
              <a:t>Excellent slides</a:t>
            </a:r>
          </a:p>
          <a:p>
            <a:pPr marL="734059" lvl="1" indent="-367030" algn="l">
              <a:lnSpc>
                <a:spcPts val="4759"/>
              </a:lnSpc>
              <a:buFont typeface="Arial"/>
              <a:buChar char="•"/>
            </a:pPr>
            <a:r>
              <a:rPr lang="en-US" sz="3399">
                <a:solidFill>
                  <a:srgbClr val="222222"/>
                </a:solidFill>
                <a:latin typeface="Nunito"/>
                <a:ea typeface="Nunito"/>
                <a:cs typeface="Nunito"/>
                <a:sym typeface="Nunito"/>
              </a:rPr>
              <a:t>Poor speaking skills</a:t>
            </a:r>
          </a:p>
          <a:p>
            <a:pPr algn="l">
              <a:lnSpc>
                <a:spcPts val="4759"/>
              </a:lnSpc>
            </a:pPr>
            <a:r>
              <a:rPr lang="en-US" sz="3399">
                <a:solidFill>
                  <a:srgbClr val="222222"/>
                </a:solidFill>
                <a:latin typeface="Nunito"/>
                <a:ea typeface="Nunito"/>
                <a:cs typeface="Nunito"/>
                <a:sym typeface="Nunito"/>
              </a:rPr>
              <a:t>Presenter B</a:t>
            </a:r>
          </a:p>
          <a:p>
            <a:pPr marL="734059" lvl="1" indent="-367030" algn="l">
              <a:lnSpc>
                <a:spcPts val="4759"/>
              </a:lnSpc>
              <a:buFont typeface="Arial"/>
              <a:buChar char="•"/>
            </a:pPr>
            <a:r>
              <a:rPr lang="en-US" sz="3399">
                <a:solidFill>
                  <a:srgbClr val="222222"/>
                </a:solidFill>
                <a:latin typeface="Nunito"/>
                <a:ea typeface="Nunito"/>
                <a:cs typeface="Nunito"/>
                <a:sym typeface="Nunito"/>
              </a:rPr>
              <a:t>Excellent speaking</a:t>
            </a:r>
          </a:p>
          <a:p>
            <a:pPr marL="734059" lvl="1" indent="-367030" algn="l">
              <a:lnSpc>
                <a:spcPts val="4759"/>
              </a:lnSpc>
              <a:buFont typeface="Arial"/>
              <a:buChar char="•"/>
            </a:pPr>
            <a:r>
              <a:rPr lang="en-US" sz="3399">
                <a:solidFill>
                  <a:srgbClr val="222222"/>
                </a:solidFill>
                <a:latin typeface="Nunito"/>
                <a:ea typeface="Nunito"/>
                <a:cs typeface="Nunito"/>
                <a:sym typeface="Nunito"/>
              </a:rPr>
              <a:t>Average slides</a:t>
            </a:r>
          </a:p>
          <a:p>
            <a:pPr algn="l">
              <a:lnSpc>
                <a:spcPts val="4759"/>
              </a:lnSpc>
            </a:pPr>
            <a:r>
              <a:rPr lang="en-US" sz="3399">
                <a:solidFill>
                  <a:srgbClr val="222222"/>
                </a:solidFill>
                <a:latin typeface="Nunito"/>
                <a:ea typeface="Nunito"/>
                <a:cs typeface="Nunito"/>
                <a:sym typeface="Nunito"/>
              </a:rPr>
              <a:t>Who is more effective?</a:t>
            </a:r>
          </a:p>
          <a:p>
            <a:pPr algn="l">
              <a:lnSpc>
                <a:spcPts val="4759"/>
              </a:lnSpc>
            </a:pPr>
            <a:r>
              <a:rPr lang="en-US" sz="3399">
                <a:solidFill>
                  <a:srgbClr val="222222"/>
                </a:solidFill>
                <a:latin typeface="Nunito"/>
                <a:ea typeface="Nunito"/>
                <a:cs typeface="Nunito"/>
                <a:sym typeface="Nunito"/>
              </a:rPr>
              <a:t>Why?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2537445">
            <a:off x="14083220" y="6433588"/>
            <a:ext cx="1445718" cy="1381442"/>
          </a:xfrm>
          <a:custGeom>
            <a:avLst/>
            <a:gdLst/>
            <a:ahLst/>
            <a:cxnLst/>
            <a:rect l="l" t="t" r="r" b="b"/>
            <a:pathLst>
              <a:path w="1445718" h="1381442">
                <a:moveTo>
                  <a:pt x="0" y="0"/>
                </a:moveTo>
                <a:lnTo>
                  <a:pt x="1445717" y="0"/>
                </a:lnTo>
                <a:lnTo>
                  <a:pt x="1445717" y="1381442"/>
                </a:lnTo>
                <a:lnTo>
                  <a:pt x="0" y="138144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a:off x="1796736" y="5542377"/>
            <a:ext cx="1150496" cy="1581932"/>
          </a:xfrm>
          <a:custGeom>
            <a:avLst/>
            <a:gdLst/>
            <a:ahLst/>
            <a:cxnLst/>
            <a:rect l="l" t="t" r="r" b="b"/>
            <a:pathLst>
              <a:path w="1150496" h="1581932">
                <a:moveTo>
                  <a:pt x="0" y="0"/>
                </a:moveTo>
                <a:lnTo>
                  <a:pt x="1150496" y="0"/>
                </a:lnTo>
                <a:lnTo>
                  <a:pt x="1150496" y="1581932"/>
                </a:lnTo>
                <a:lnTo>
                  <a:pt x="0" y="1581932"/>
                </a:lnTo>
                <a:lnTo>
                  <a:pt x="0" y="0"/>
                </a:lnTo>
                <a:close/>
              </a:path>
            </a:pathLst>
          </a:custGeom>
          <a:blipFill>
            <a:blip r:embed="rId4"/>
            <a:stretch>
              <a:fillRect/>
            </a:stretch>
          </a:blipFill>
        </p:spPr>
      </p:sp>
      <p:sp>
        <p:nvSpPr>
          <p:cNvPr id="4" name="Freeform 4"/>
          <p:cNvSpPr/>
          <p:nvPr/>
        </p:nvSpPr>
        <p:spPr>
          <a:xfrm rot="1234101">
            <a:off x="12361329" y="1387043"/>
            <a:ext cx="533743" cy="1658523"/>
          </a:xfrm>
          <a:custGeom>
            <a:avLst/>
            <a:gdLst/>
            <a:ahLst/>
            <a:cxnLst/>
            <a:rect l="l" t="t" r="r" b="b"/>
            <a:pathLst>
              <a:path w="533743" h="1658523">
                <a:moveTo>
                  <a:pt x="0" y="0"/>
                </a:moveTo>
                <a:lnTo>
                  <a:pt x="533743" y="0"/>
                </a:lnTo>
                <a:lnTo>
                  <a:pt x="533743" y="1658523"/>
                </a:lnTo>
                <a:lnTo>
                  <a:pt x="0" y="165852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7848600" y="1913634"/>
            <a:ext cx="3144321" cy="88709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Fredoka"/>
                <a:ea typeface="Fredoka"/>
                <a:cs typeface="Fredoka"/>
                <a:sym typeface="Fredoka"/>
              </a:rPr>
              <a:t>Top 10</a:t>
            </a:r>
          </a:p>
        </p:txBody>
      </p:sp>
      <p:sp>
        <p:nvSpPr>
          <p:cNvPr id="6" name="TextBox 6"/>
          <p:cNvSpPr txBox="1"/>
          <p:nvPr/>
        </p:nvSpPr>
        <p:spPr>
          <a:xfrm>
            <a:off x="3412051" y="3886982"/>
            <a:ext cx="12393536" cy="580390"/>
          </a:xfrm>
          <a:prstGeom prst="rect">
            <a:avLst/>
          </a:prstGeom>
        </p:spPr>
        <p:txBody>
          <a:bodyPr lIns="0" tIns="0" rIns="0" bIns="0" rtlCol="0" anchor="t">
            <a:spAutoFit/>
          </a:bodyPr>
          <a:lstStyle/>
          <a:p>
            <a:pPr algn="ctr">
              <a:lnSpc>
                <a:spcPts val="4759"/>
              </a:lnSpc>
            </a:pPr>
            <a:r>
              <a:rPr lang="en-US" sz="3399">
                <a:solidFill>
                  <a:srgbClr val="000000"/>
                </a:solidFill>
                <a:latin typeface="Nunito"/>
                <a:ea typeface="Nunito"/>
                <a:cs typeface="Nunito"/>
                <a:sym typeface="Nunito"/>
              </a:rPr>
              <a:t>Create a list of top 10 Presentation Skills</a:t>
            </a:r>
          </a:p>
        </p:txBody>
      </p:sp>
      <p:sp>
        <p:nvSpPr>
          <p:cNvPr id="7" name="Freeform 7"/>
          <p:cNvSpPr/>
          <p:nvPr/>
        </p:nvSpPr>
        <p:spPr>
          <a:xfrm>
            <a:off x="4737048" y="3973990"/>
            <a:ext cx="511404" cy="473049"/>
          </a:xfrm>
          <a:custGeom>
            <a:avLst/>
            <a:gdLst/>
            <a:ahLst/>
            <a:cxnLst/>
            <a:rect l="l" t="t" r="r" b="b"/>
            <a:pathLst>
              <a:path w="511404" h="473049">
                <a:moveTo>
                  <a:pt x="0" y="0"/>
                </a:moveTo>
                <a:lnTo>
                  <a:pt x="511404" y="0"/>
                </a:lnTo>
                <a:lnTo>
                  <a:pt x="511404" y="473049"/>
                </a:lnTo>
                <a:lnTo>
                  <a:pt x="0" y="47304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3412051" y="4819967"/>
            <a:ext cx="12393536" cy="580390"/>
          </a:xfrm>
          <a:prstGeom prst="rect">
            <a:avLst/>
          </a:prstGeom>
        </p:spPr>
        <p:txBody>
          <a:bodyPr lIns="0" tIns="0" rIns="0" bIns="0" rtlCol="0" anchor="t">
            <a:spAutoFit/>
          </a:bodyPr>
          <a:lstStyle/>
          <a:p>
            <a:pPr algn="ctr">
              <a:lnSpc>
                <a:spcPts val="4759"/>
              </a:lnSpc>
            </a:pPr>
            <a:r>
              <a:rPr lang="en-US" sz="3399">
                <a:solidFill>
                  <a:srgbClr val="000000"/>
                </a:solidFill>
                <a:latin typeface="Nunito"/>
                <a:ea typeface="Nunito"/>
                <a:cs typeface="Nunito"/>
                <a:sym typeface="Nunito"/>
              </a:rPr>
              <a:t>Examples:</a:t>
            </a:r>
          </a:p>
        </p:txBody>
      </p:sp>
      <p:sp>
        <p:nvSpPr>
          <p:cNvPr id="9" name="TextBox 9"/>
          <p:cNvSpPr txBox="1"/>
          <p:nvPr/>
        </p:nvSpPr>
        <p:spPr>
          <a:xfrm>
            <a:off x="5595033" y="5752783"/>
            <a:ext cx="12393536" cy="1780540"/>
          </a:xfrm>
          <a:prstGeom prst="rect">
            <a:avLst/>
          </a:prstGeom>
        </p:spPr>
        <p:txBody>
          <a:bodyPr lIns="0" tIns="0" rIns="0" bIns="0" rtlCol="0" anchor="t">
            <a:spAutoFit/>
          </a:bodyPr>
          <a:lstStyle/>
          <a:p>
            <a:pPr marL="734059" lvl="1" indent="-367030" algn="l">
              <a:lnSpc>
                <a:spcPts val="4759"/>
              </a:lnSpc>
              <a:buAutoNum type="arabicPeriod"/>
            </a:pPr>
            <a:r>
              <a:rPr lang="en-US" sz="3399">
                <a:solidFill>
                  <a:srgbClr val="000000"/>
                </a:solidFill>
                <a:latin typeface="Nunito"/>
                <a:ea typeface="Nunito"/>
                <a:cs typeface="Nunito"/>
                <a:sym typeface="Nunito"/>
              </a:rPr>
              <a:t>Confidence</a:t>
            </a:r>
          </a:p>
          <a:p>
            <a:pPr marL="734059" lvl="1" indent="-367030" algn="l">
              <a:lnSpc>
                <a:spcPts val="4759"/>
              </a:lnSpc>
              <a:buAutoNum type="arabicPeriod"/>
            </a:pPr>
            <a:r>
              <a:rPr lang="en-US" sz="3399">
                <a:solidFill>
                  <a:srgbClr val="000000"/>
                </a:solidFill>
                <a:latin typeface="Nunito"/>
                <a:ea typeface="Nunito"/>
                <a:cs typeface="Nunito"/>
                <a:sym typeface="Nunito"/>
              </a:rPr>
              <a:t>Energy</a:t>
            </a:r>
          </a:p>
          <a:p>
            <a:pPr marL="734059" lvl="1" indent="-367030" algn="l">
              <a:lnSpc>
                <a:spcPts val="4759"/>
              </a:lnSpc>
              <a:buAutoNum type="arabicPeriod"/>
            </a:pPr>
            <a:r>
              <a:rPr lang="en-US" sz="3399">
                <a:solidFill>
                  <a:srgbClr val="000000"/>
                </a:solidFill>
                <a:latin typeface="Nunito"/>
                <a:ea typeface="Nunito"/>
                <a:cs typeface="Nunito"/>
                <a:sym typeface="Nunito"/>
              </a:rPr>
              <a:t> .........</a:t>
            </a:r>
          </a:p>
        </p:txBody>
      </p:sp>
      <p:sp>
        <p:nvSpPr>
          <p:cNvPr id="10" name="Freeform 10"/>
          <p:cNvSpPr/>
          <p:nvPr/>
        </p:nvSpPr>
        <p:spPr>
          <a:xfrm>
            <a:off x="4737048" y="4906976"/>
            <a:ext cx="511404" cy="473049"/>
          </a:xfrm>
          <a:custGeom>
            <a:avLst/>
            <a:gdLst/>
            <a:ahLst/>
            <a:cxnLst/>
            <a:rect l="l" t="t" r="r" b="b"/>
            <a:pathLst>
              <a:path w="511404" h="473049">
                <a:moveTo>
                  <a:pt x="0" y="0"/>
                </a:moveTo>
                <a:lnTo>
                  <a:pt x="511404" y="0"/>
                </a:lnTo>
                <a:lnTo>
                  <a:pt x="511404" y="473048"/>
                </a:lnTo>
                <a:lnTo>
                  <a:pt x="0" y="47304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a:off x="4737048" y="5839961"/>
            <a:ext cx="511404" cy="473049"/>
          </a:xfrm>
          <a:custGeom>
            <a:avLst/>
            <a:gdLst/>
            <a:ahLst/>
            <a:cxnLst/>
            <a:rect l="l" t="t" r="r" b="b"/>
            <a:pathLst>
              <a:path w="511404" h="473049">
                <a:moveTo>
                  <a:pt x="0" y="0"/>
                </a:moveTo>
                <a:lnTo>
                  <a:pt x="511404" y="0"/>
                </a:lnTo>
                <a:lnTo>
                  <a:pt x="511404" y="473049"/>
                </a:lnTo>
                <a:lnTo>
                  <a:pt x="0" y="473049"/>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354402">
            <a:off x="117093" y="6022711"/>
            <a:ext cx="2979171" cy="2990385"/>
          </a:xfrm>
          <a:custGeom>
            <a:avLst/>
            <a:gdLst/>
            <a:ahLst/>
            <a:cxnLst/>
            <a:rect l="l" t="t" r="r" b="b"/>
            <a:pathLst>
              <a:path w="2979171" h="2990385">
                <a:moveTo>
                  <a:pt x="0" y="0"/>
                </a:moveTo>
                <a:lnTo>
                  <a:pt x="2979171" y="0"/>
                </a:lnTo>
                <a:lnTo>
                  <a:pt x="2979171" y="2990385"/>
                </a:lnTo>
                <a:lnTo>
                  <a:pt x="0" y="299038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rot="1620969">
            <a:off x="15489841" y="7763107"/>
            <a:ext cx="3538918" cy="2990385"/>
          </a:xfrm>
          <a:custGeom>
            <a:avLst/>
            <a:gdLst/>
            <a:ahLst/>
            <a:cxnLst/>
            <a:rect l="l" t="t" r="r" b="b"/>
            <a:pathLst>
              <a:path w="3538918" h="2990385">
                <a:moveTo>
                  <a:pt x="0" y="0"/>
                </a:moveTo>
                <a:lnTo>
                  <a:pt x="3538918" y="0"/>
                </a:lnTo>
                <a:lnTo>
                  <a:pt x="3538918" y="2990386"/>
                </a:lnTo>
                <a:lnTo>
                  <a:pt x="0" y="299038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857964" y="537527"/>
            <a:ext cx="14372635" cy="88709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Fredoka"/>
                <a:ea typeface="Fredoka"/>
                <a:cs typeface="Fredoka"/>
                <a:sym typeface="Fredoka"/>
              </a:rPr>
              <a:t>THE LIGHTHOUSE TECHNIQUE</a:t>
            </a:r>
          </a:p>
        </p:txBody>
      </p:sp>
      <p:sp>
        <p:nvSpPr>
          <p:cNvPr id="5" name="TextBox 5"/>
          <p:cNvSpPr txBox="1"/>
          <p:nvPr/>
        </p:nvSpPr>
        <p:spPr>
          <a:xfrm>
            <a:off x="809995" y="1729433"/>
            <a:ext cx="12393536" cy="29806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Definition</a:t>
            </a:r>
          </a:p>
          <a:p>
            <a:pPr algn="l">
              <a:lnSpc>
                <a:spcPts val="4759"/>
              </a:lnSpc>
            </a:pPr>
            <a:r>
              <a:rPr lang="en-US" sz="3399" dirty="0">
                <a:solidFill>
                  <a:srgbClr val="000000"/>
                </a:solidFill>
                <a:latin typeface="Nunito"/>
                <a:ea typeface="Nunito"/>
                <a:cs typeface="Nunito"/>
                <a:sym typeface="Nunito"/>
              </a:rPr>
              <a:t>The Lighthouse Technique helps audiences stay oriented.</a:t>
            </a:r>
          </a:p>
          <a:p>
            <a:pPr algn="l">
              <a:lnSpc>
                <a:spcPts val="4759"/>
              </a:lnSpc>
            </a:pPr>
            <a:r>
              <a:rPr lang="en-US" sz="3399" dirty="0">
                <a:solidFill>
                  <a:srgbClr val="000000"/>
                </a:solidFill>
                <a:latin typeface="Nunito"/>
                <a:ea typeface="Nunito"/>
                <a:cs typeface="Nunito"/>
                <a:sym typeface="Nunito"/>
              </a:rPr>
              <a:t>Like a lighthouse guiding ships, presenters continuously remind the audience where they are and where they are going.</a:t>
            </a:r>
          </a:p>
          <a:p>
            <a:pPr algn="l">
              <a:lnSpc>
                <a:spcPts val="4759"/>
              </a:lnSpc>
            </a:pPr>
            <a:endParaRPr lang="en-US" sz="3399" dirty="0">
              <a:solidFill>
                <a:srgbClr val="000000"/>
              </a:solidFill>
              <a:latin typeface="Nunito"/>
              <a:ea typeface="Nunito"/>
              <a:cs typeface="Nunito"/>
              <a:sym typeface="Nunito"/>
            </a:endParaRPr>
          </a:p>
        </p:txBody>
      </p:sp>
      <p:sp>
        <p:nvSpPr>
          <p:cNvPr id="6" name="Freeform 6"/>
          <p:cNvSpPr/>
          <p:nvPr/>
        </p:nvSpPr>
        <p:spPr>
          <a:xfrm>
            <a:off x="212544" y="1796108"/>
            <a:ext cx="473626" cy="421958"/>
          </a:xfrm>
          <a:custGeom>
            <a:avLst/>
            <a:gdLst/>
            <a:ahLst/>
            <a:cxnLst/>
            <a:rect l="l" t="t" r="r" b="b"/>
            <a:pathLst>
              <a:path w="473626" h="421958">
                <a:moveTo>
                  <a:pt x="0" y="0"/>
                </a:moveTo>
                <a:lnTo>
                  <a:pt x="473626" y="0"/>
                </a:lnTo>
                <a:lnTo>
                  <a:pt x="473626" y="421958"/>
                </a:lnTo>
                <a:lnTo>
                  <a:pt x="0" y="42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4247877"/>
            <a:ext cx="12393536"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Nunito"/>
                <a:ea typeface="Nunito"/>
                <a:cs typeface="Nunito"/>
                <a:sym typeface="Nunito"/>
              </a:rPr>
              <a:t>It is not mainly about eye contact.</a:t>
            </a:r>
          </a:p>
        </p:txBody>
      </p:sp>
      <p:sp>
        <p:nvSpPr>
          <p:cNvPr id="8" name="Freeform 8"/>
          <p:cNvSpPr/>
          <p:nvPr/>
        </p:nvSpPr>
        <p:spPr>
          <a:xfrm>
            <a:off x="3082473" y="4314552"/>
            <a:ext cx="473626" cy="421958"/>
          </a:xfrm>
          <a:custGeom>
            <a:avLst/>
            <a:gdLst/>
            <a:ahLst/>
            <a:cxnLst/>
            <a:rect l="l" t="t" r="r" b="b"/>
            <a:pathLst>
              <a:path w="473626" h="421958">
                <a:moveTo>
                  <a:pt x="0" y="0"/>
                </a:moveTo>
                <a:lnTo>
                  <a:pt x="473626" y="0"/>
                </a:lnTo>
                <a:lnTo>
                  <a:pt x="473626" y="421958"/>
                </a:lnTo>
                <a:lnTo>
                  <a:pt x="0" y="42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3082473" y="5143500"/>
            <a:ext cx="473626" cy="421958"/>
          </a:xfrm>
          <a:custGeom>
            <a:avLst/>
            <a:gdLst/>
            <a:ahLst/>
            <a:cxnLst/>
            <a:rect l="l" t="t" r="r" b="b"/>
            <a:pathLst>
              <a:path w="473626" h="421958">
                <a:moveTo>
                  <a:pt x="0" y="0"/>
                </a:moveTo>
                <a:lnTo>
                  <a:pt x="473626" y="0"/>
                </a:lnTo>
                <a:lnTo>
                  <a:pt x="473626" y="421958"/>
                </a:lnTo>
                <a:lnTo>
                  <a:pt x="0" y="42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3997488" y="5076825"/>
            <a:ext cx="12393536" cy="53809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Structure</a:t>
            </a:r>
          </a:p>
          <a:p>
            <a:pPr algn="l">
              <a:lnSpc>
                <a:spcPts val="4759"/>
              </a:lnSpc>
            </a:pPr>
            <a:r>
              <a:rPr lang="en-US" sz="3399" dirty="0">
                <a:solidFill>
                  <a:srgbClr val="000000"/>
                </a:solidFill>
                <a:latin typeface="Nunito"/>
                <a:ea typeface="Nunito"/>
                <a:cs typeface="Nunito"/>
                <a:sym typeface="Nunito"/>
              </a:rPr>
              <a:t>1. Tell them where you're going</a:t>
            </a:r>
          </a:p>
          <a:p>
            <a:pPr algn="l">
              <a:lnSpc>
                <a:spcPts val="4759"/>
              </a:lnSpc>
            </a:pPr>
            <a:r>
              <a:rPr lang="en-US" sz="3399" dirty="0">
                <a:solidFill>
                  <a:srgbClr val="000000"/>
                </a:solidFill>
                <a:latin typeface="Nunito"/>
                <a:ea typeface="Nunito"/>
                <a:cs typeface="Nunito"/>
                <a:sym typeface="Nunito"/>
              </a:rPr>
              <a:t>"Today we'll explore three key strategies."</a:t>
            </a:r>
          </a:p>
          <a:p>
            <a:pPr algn="l">
              <a:lnSpc>
                <a:spcPts val="4759"/>
              </a:lnSpc>
            </a:pPr>
            <a:r>
              <a:rPr lang="en-US" sz="3399" dirty="0">
                <a:solidFill>
                  <a:srgbClr val="000000"/>
                </a:solidFill>
                <a:latin typeface="Nunito"/>
                <a:ea typeface="Nunito"/>
                <a:cs typeface="Nunito"/>
                <a:sym typeface="Nunito"/>
              </a:rPr>
              <a:t>2. Remind them where they are</a:t>
            </a:r>
          </a:p>
          <a:p>
            <a:pPr algn="l">
              <a:lnSpc>
                <a:spcPts val="4759"/>
              </a:lnSpc>
            </a:pPr>
            <a:r>
              <a:rPr lang="en-US" sz="3399" dirty="0">
                <a:solidFill>
                  <a:srgbClr val="000000"/>
                </a:solidFill>
                <a:latin typeface="Nunito"/>
                <a:ea typeface="Nunito"/>
                <a:cs typeface="Nunito"/>
                <a:sym typeface="Nunito"/>
              </a:rPr>
              <a:t>"We've covered the first strategy. Now let's move to the second."</a:t>
            </a:r>
          </a:p>
          <a:p>
            <a:pPr algn="l">
              <a:lnSpc>
                <a:spcPts val="4759"/>
              </a:lnSpc>
            </a:pPr>
            <a:r>
              <a:rPr lang="en-US" sz="3399" dirty="0">
                <a:solidFill>
                  <a:srgbClr val="000000"/>
                </a:solidFill>
                <a:latin typeface="Nunito"/>
                <a:ea typeface="Nunito"/>
                <a:cs typeface="Nunito"/>
                <a:sym typeface="Nunito"/>
              </a:rPr>
              <a:t>3. Tell them where you've been</a:t>
            </a:r>
          </a:p>
          <a:p>
            <a:pPr algn="l">
              <a:lnSpc>
                <a:spcPts val="4759"/>
              </a:lnSpc>
            </a:pPr>
            <a:r>
              <a:rPr lang="en-US" sz="3399" dirty="0">
                <a:solidFill>
                  <a:srgbClr val="000000"/>
                </a:solidFill>
                <a:latin typeface="Nunito"/>
                <a:ea typeface="Nunito"/>
                <a:cs typeface="Nunito"/>
                <a:sym typeface="Nunito"/>
              </a:rPr>
              <a:t>"We've discussed planning, engagement, and delivery."</a:t>
            </a:r>
          </a:p>
          <a:p>
            <a:pPr algn="l">
              <a:lnSpc>
                <a:spcPts val="4759"/>
              </a:lnSpc>
            </a:pPr>
            <a:endParaRPr lang="en-US" sz="3399" dirty="0">
              <a:solidFill>
                <a:srgbClr val="000000"/>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heel(1)">
                                      <p:cBhvr>
                                        <p:cTn id="7" dur="2000"/>
                                        <p:tgtEl>
                                          <p:spTgt spid="5">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heel(1)">
                                      <p:cBhvr>
                                        <p:cTn id="10" dur="2000"/>
                                        <p:tgtEl>
                                          <p:spTgt spid="5">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wheel(1)">
                                      <p:cBhvr>
                                        <p:cTn id="13" dur="20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8" dur="5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23" dur="500"/>
                                        <p:tgtEl>
                                          <p:spTgt spid="10">
                                            <p:txEl>
                                              <p:pRg st="0" end="0"/>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26" dur="500"/>
                                        <p:tgtEl>
                                          <p:spTgt spid="10">
                                            <p:txEl>
                                              <p:pRg st="1" end="1"/>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29" dur="500"/>
                                        <p:tgtEl>
                                          <p:spTgt spid="10">
                                            <p:txEl>
                                              <p:pRg st="2" end="2"/>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32" dur="500"/>
                                        <p:tgtEl>
                                          <p:spTgt spid="10">
                                            <p:txEl>
                                              <p:pRg st="3" end="3"/>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animEffect transition="in" filter="randombar(horizontal)">
                                      <p:cBhvr>
                                        <p:cTn id="35" dur="500"/>
                                        <p:tgtEl>
                                          <p:spTgt spid="10">
                                            <p:txEl>
                                              <p:pRg st="4" end="4"/>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10">
                                            <p:txEl>
                                              <p:pRg st="5" end="5"/>
                                            </p:txEl>
                                          </p:spTgt>
                                        </p:tgtEl>
                                        <p:attrNameLst>
                                          <p:attrName>style.visibility</p:attrName>
                                        </p:attrNameLst>
                                      </p:cBhvr>
                                      <p:to>
                                        <p:strVal val="visible"/>
                                      </p:to>
                                    </p:set>
                                    <p:animEffect transition="in" filter="randombar(horizontal)">
                                      <p:cBhvr>
                                        <p:cTn id="38" dur="500"/>
                                        <p:tgtEl>
                                          <p:spTgt spid="10">
                                            <p:txEl>
                                              <p:pRg st="5" end="5"/>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10">
                                            <p:txEl>
                                              <p:pRg st="6" end="6"/>
                                            </p:txEl>
                                          </p:spTgt>
                                        </p:tgtEl>
                                        <p:attrNameLst>
                                          <p:attrName>style.visibility</p:attrName>
                                        </p:attrNameLst>
                                      </p:cBhvr>
                                      <p:to>
                                        <p:strVal val="visible"/>
                                      </p:to>
                                    </p:set>
                                    <p:animEffect transition="in" filter="randombar(horizontal)">
                                      <p:cBhvr>
                                        <p:cTn id="41"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3133382" y="1820382"/>
            <a:ext cx="3592129" cy="4327866"/>
          </a:xfrm>
          <a:custGeom>
            <a:avLst/>
            <a:gdLst/>
            <a:ahLst/>
            <a:cxnLst/>
            <a:rect l="l" t="t" r="r" b="b"/>
            <a:pathLst>
              <a:path w="3592129" h="4327866">
                <a:moveTo>
                  <a:pt x="0" y="0"/>
                </a:moveTo>
                <a:lnTo>
                  <a:pt x="3592128" y="0"/>
                </a:lnTo>
                <a:lnTo>
                  <a:pt x="3592128" y="4327866"/>
                </a:lnTo>
                <a:lnTo>
                  <a:pt x="0" y="43278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3502141" y="6557180"/>
            <a:ext cx="1877378" cy="2057400"/>
          </a:xfrm>
          <a:custGeom>
            <a:avLst/>
            <a:gdLst/>
            <a:ahLst/>
            <a:cxnLst/>
            <a:rect l="l" t="t" r="r" b="b"/>
            <a:pathLst>
              <a:path w="1877378" h="2057400">
                <a:moveTo>
                  <a:pt x="0" y="0"/>
                </a:moveTo>
                <a:lnTo>
                  <a:pt x="1877377" y="0"/>
                </a:lnTo>
                <a:lnTo>
                  <a:pt x="1877377"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752104">
            <a:off x="1555784" y="3686407"/>
            <a:ext cx="456234" cy="1200615"/>
          </a:xfrm>
          <a:custGeom>
            <a:avLst/>
            <a:gdLst/>
            <a:ahLst/>
            <a:cxnLst/>
            <a:rect l="l" t="t" r="r" b="b"/>
            <a:pathLst>
              <a:path w="456234" h="1200615">
                <a:moveTo>
                  <a:pt x="0" y="0"/>
                </a:moveTo>
                <a:lnTo>
                  <a:pt x="456233" y="0"/>
                </a:lnTo>
                <a:lnTo>
                  <a:pt x="456233"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486170" y="3663145"/>
            <a:ext cx="11015971" cy="4180840"/>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Students receive topics:</a:t>
            </a:r>
          </a:p>
          <a:p>
            <a:pPr marL="734059" lvl="1" indent="-367030" algn="l">
              <a:lnSpc>
                <a:spcPts val="4759"/>
              </a:lnSpc>
              <a:buFont typeface="Arial"/>
              <a:buChar char="•"/>
            </a:pPr>
            <a:r>
              <a:rPr lang="en-US" sz="3399">
                <a:solidFill>
                  <a:srgbClr val="000000"/>
                </a:solidFill>
                <a:latin typeface="Nunito"/>
                <a:ea typeface="Nunito"/>
                <a:cs typeface="Nunito"/>
                <a:sym typeface="Nunito"/>
              </a:rPr>
              <a:t>Climate Change</a:t>
            </a:r>
          </a:p>
          <a:p>
            <a:pPr marL="734059" lvl="1" indent="-367030" algn="l">
              <a:lnSpc>
                <a:spcPts val="4759"/>
              </a:lnSpc>
              <a:buFont typeface="Arial"/>
              <a:buChar char="•"/>
            </a:pPr>
            <a:r>
              <a:rPr lang="en-US" sz="3399">
                <a:solidFill>
                  <a:srgbClr val="000000"/>
                </a:solidFill>
                <a:latin typeface="Nunito"/>
                <a:ea typeface="Nunito"/>
                <a:cs typeface="Nunito"/>
                <a:sym typeface="Nunito"/>
              </a:rPr>
              <a:t>AI</a:t>
            </a:r>
          </a:p>
          <a:p>
            <a:pPr marL="734059" lvl="1" indent="-367030" algn="l">
              <a:lnSpc>
                <a:spcPts val="4759"/>
              </a:lnSpc>
              <a:buFont typeface="Arial"/>
              <a:buChar char="•"/>
            </a:pPr>
            <a:r>
              <a:rPr lang="en-US" sz="3399">
                <a:solidFill>
                  <a:srgbClr val="000000"/>
                </a:solidFill>
                <a:latin typeface="Nunito"/>
                <a:ea typeface="Nunito"/>
                <a:cs typeface="Nunito"/>
                <a:sym typeface="Nunito"/>
              </a:rPr>
              <a:t>Space Exploration</a:t>
            </a:r>
          </a:p>
          <a:p>
            <a:pPr marL="734059" lvl="1" indent="-367030" algn="l">
              <a:lnSpc>
                <a:spcPts val="4759"/>
              </a:lnSpc>
              <a:buFont typeface="Arial"/>
              <a:buChar char="•"/>
            </a:pPr>
            <a:r>
              <a:rPr lang="en-US" sz="3399">
                <a:solidFill>
                  <a:srgbClr val="000000"/>
                </a:solidFill>
                <a:latin typeface="Nunito"/>
                <a:ea typeface="Nunito"/>
                <a:cs typeface="Nunito"/>
                <a:sym typeface="Nunito"/>
              </a:rPr>
              <a:t>Brain Rot</a:t>
            </a:r>
          </a:p>
          <a:p>
            <a:pPr algn="l">
              <a:lnSpc>
                <a:spcPts val="4759"/>
              </a:lnSpc>
            </a:pPr>
            <a:r>
              <a:rPr lang="en-US" sz="3399">
                <a:solidFill>
                  <a:srgbClr val="000000"/>
                </a:solidFill>
                <a:latin typeface="Nunito"/>
                <a:ea typeface="Nunito"/>
                <a:cs typeface="Nunito"/>
                <a:sym typeface="Nunito"/>
              </a:rPr>
              <a:t>Create a Lighthouse-style introduction and transitions.</a:t>
            </a:r>
          </a:p>
          <a:p>
            <a:pPr algn="l">
              <a:lnSpc>
                <a:spcPts val="4759"/>
              </a:lnSpc>
            </a:pPr>
            <a:endParaRPr lang="en-US" sz="3399">
              <a:solidFill>
                <a:srgbClr val="000000"/>
              </a:solidFill>
              <a:latin typeface="Nunito"/>
              <a:ea typeface="Nunito"/>
              <a:cs typeface="Nunito"/>
              <a:sym typeface="Nunito"/>
            </a:endParaRPr>
          </a:p>
        </p:txBody>
      </p:sp>
      <p:sp>
        <p:nvSpPr>
          <p:cNvPr id="6" name="TextBox 6"/>
          <p:cNvSpPr txBox="1"/>
          <p:nvPr/>
        </p:nvSpPr>
        <p:spPr>
          <a:xfrm>
            <a:off x="1028700" y="1725132"/>
            <a:ext cx="4381500"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Practice</a:t>
            </a:r>
          </a:p>
        </p:txBody>
      </p:sp>
      <p:sp>
        <p:nvSpPr>
          <p:cNvPr id="7" name="Freeform 7"/>
          <p:cNvSpPr/>
          <p:nvPr/>
        </p:nvSpPr>
        <p:spPr>
          <a:xfrm rot="1752104">
            <a:off x="1555784" y="6592181"/>
            <a:ext cx="456234" cy="1200615"/>
          </a:xfrm>
          <a:custGeom>
            <a:avLst/>
            <a:gdLst/>
            <a:ahLst/>
            <a:cxnLst/>
            <a:rect l="l" t="t" r="r" b="b"/>
            <a:pathLst>
              <a:path w="456234" h="1200615">
                <a:moveTo>
                  <a:pt x="0" y="0"/>
                </a:moveTo>
                <a:lnTo>
                  <a:pt x="456233" y="0"/>
                </a:lnTo>
                <a:lnTo>
                  <a:pt x="456233" y="1200614"/>
                </a:lnTo>
                <a:lnTo>
                  <a:pt x="0" y="1200614"/>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359644">
            <a:off x="14226601" y="3053386"/>
            <a:ext cx="2228334" cy="2314258"/>
          </a:xfrm>
          <a:custGeom>
            <a:avLst/>
            <a:gdLst/>
            <a:ahLst/>
            <a:cxnLst/>
            <a:rect l="l" t="t" r="r" b="b"/>
            <a:pathLst>
              <a:path w="2228334" h="2314258">
                <a:moveTo>
                  <a:pt x="0" y="0"/>
                </a:moveTo>
                <a:lnTo>
                  <a:pt x="2228334" y="0"/>
                </a:lnTo>
                <a:lnTo>
                  <a:pt x="2228334" y="2314257"/>
                </a:lnTo>
                <a:lnTo>
                  <a:pt x="0" y="23142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938392">
            <a:off x="15779006" y="470902"/>
            <a:ext cx="2071460" cy="2266253"/>
          </a:xfrm>
          <a:custGeom>
            <a:avLst/>
            <a:gdLst/>
            <a:ahLst/>
            <a:cxnLst/>
            <a:rect l="l" t="t" r="r" b="b"/>
            <a:pathLst>
              <a:path w="2071460" h="2266253">
                <a:moveTo>
                  <a:pt x="0" y="0"/>
                </a:moveTo>
                <a:lnTo>
                  <a:pt x="2071460" y="0"/>
                </a:lnTo>
                <a:lnTo>
                  <a:pt x="2071460" y="2266253"/>
                </a:lnTo>
                <a:lnTo>
                  <a:pt x="0" y="22662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579568" y="933450"/>
            <a:ext cx="9287233" cy="887095"/>
          </a:xfrm>
          <a:prstGeom prst="rect">
            <a:avLst/>
          </a:prstGeom>
        </p:spPr>
        <p:txBody>
          <a:bodyPr lIns="0" tIns="0" rIns="0" bIns="0" rtlCol="0" anchor="t">
            <a:spAutoFit/>
          </a:bodyPr>
          <a:lstStyle/>
          <a:p>
            <a:pPr algn="ctr">
              <a:lnSpc>
                <a:spcPts val="7279"/>
              </a:lnSpc>
            </a:pPr>
            <a:r>
              <a:rPr lang="en-US" sz="5199">
                <a:solidFill>
                  <a:srgbClr val="000000"/>
                </a:solidFill>
                <a:latin typeface="Fredoka"/>
                <a:ea typeface="Fredoka"/>
                <a:cs typeface="Fredoka"/>
                <a:sym typeface="Fredoka"/>
              </a:rPr>
              <a:t>VISUAL AIDS &amp; SLIDE DESIGN</a:t>
            </a:r>
          </a:p>
        </p:txBody>
      </p:sp>
      <p:sp>
        <p:nvSpPr>
          <p:cNvPr id="5" name="TextBox 5"/>
          <p:cNvSpPr txBox="1"/>
          <p:nvPr/>
        </p:nvSpPr>
        <p:spPr>
          <a:xfrm>
            <a:off x="3294349" y="3886982"/>
            <a:ext cx="12393536" cy="580390"/>
          </a:xfrm>
          <a:prstGeom prst="rect">
            <a:avLst/>
          </a:prstGeom>
        </p:spPr>
        <p:txBody>
          <a:bodyPr lIns="0" tIns="0" rIns="0" bIns="0" rtlCol="0" anchor="t">
            <a:spAutoFit/>
          </a:bodyPr>
          <a:lstStyle/>
          <a:p>
            <a:pPr algn="ctr">
              <a:lnSpc>
                <a:spcPts val="4759"/>
              </a:lnSpc>
            </a:pPr>
            <a:r>
              <a:rPr lang="en-US" sz="3399">
                <a:solidFill>
                  <a:srgbClr val="000000"/>
                </a:solidFill>
                <a:latin typeface="Nunito"/>
                <a:ea typeface="Nunito"/>
                <a:cs typeface="Nunito"/>
                <a:sym typeface="Nunito"/>
              </a:rPr>
              <a:t>What is good &amp; what is bad?</a:t>
            </a:r>
          </a:p>
        </p:txBody>
      </p:sp>
      <p:sp>
        <p:nvSpPr>
          <p:cNvPr id="6" name="Freeform 6"/>
          <p:cNvSpPr/>
          <p:nvPr/>
        </p:nvSpPr>
        <p:spPr>
          <a:xfrm>
            <a:off x="4378063" y="3905250"/>
            <a:ext cx="608240" cy="610529"/>
          </a:xfrm>
          <a:custGeom>
            <a:avLst/>
            <a:gdLst/>
            <a:ahLst/>
            <a:cxnLst/>
            <a:rect l="l" t="t" r="r" b="b"/>
            <a:pathLst>
              <a:path w="608240" h="610529">
                <a:moveTo>
                  <a:pt x="0" y="0"/>
                </a:moveTo>
                <a:lnTo>
                  <a:pt x="608240" y="0"/>
                </a:lnTo>
                <a:lnTo>
                  <a:pt x="608240" y="610529"/>
                </a:lnTo>
                <a:lnTo>
                  <a:pt x="0" y="610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650452" y="5640900"/>
            <a:ext cx="12393536" cy="3580765"/>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Bad</a:t>
            </a:r>
          </a:p>
          <a:p>
            <a:pPr algn="l">
              <a:lnSpc>
                <a:spcPts val="4759"/>
              </a:lnSpc>
            </a:pPr>
            <a:r>
              <a:rPr lang="en-US" sz="3399" dirty="0">
                <a:solidFill>
                  <a:srgbClr val="000000"/>
                </a:solidFill>
                <a:latin typeface="Nunito"/>
                <a:ea typeface="Nunito"/>
                <a:cs typeface="Nunito"/>
                <a:sym typeface="Nunito"/>
              </a:rPr>
              <a:t>❌ Full paragraphs</a:t>
            </a:r>
          </a:p>
          <a:p>
            <a:pPr algn="l">
              <a:lnSpc>
                <a:spcPts val="4759"/>
              </a:lnSpc>
            </a:pPr>
            <a:r>
              <a:rPr lang="en-US" sz="3399" dirty="0">
                <a:solidFill>
                  <a:srgbClr val="000000"/>
                </a:solidFill>
                <a:latin typeface="Nunito"/>
                <a:ea typeface="Nunito"/>
                <a:cs typeface="Nunito"/>
                <a:sym typeface="Nunito"/>
              </a:rPr>
              <a:t>❌ Tiny text</a:t>
            </a:r>
          </a:p>
          <a:p>
            <a:pPr algn="l">
              <a:lnSpc>
                <a:spcPts val="4759"/>
              </a:lnSpc>
            </a:pPr>
            <a:r>
              <a:rPr lang="en-US" sz="3399" dirty="0">
                <a:solidFill>
                  <a:srgbClr val="000000"/>
                </a:solidFill>
                <a:latin typeface="Nunito"/>
                <a:ea typeface="Nunito"/>
                <a:cs typeface="Nunito"/>
                <a:sym typeface="Nunito"/>
              </a:rPr>
              <a:t>❌ Too many colors</a:t>
            </a:r>
          </a:p>
          <a:p>
            <a:pPr algn="l">
              <a:lnSpc>
                <a:spcPts val="4759"/>
              </a:lnSpc>
            </a:pPr>
            <a:r>
              <a:rPr lang="en-US" sz="3399" dirty="0">
                <a:solidFill>
                  <a:srgbClr val="000000"/>
                </a:solidFill>
                <a:latin typeface="Nunito"/>
                <a:ea typeface="Nunito"/>
                <a:cs typeface="Nunito"/>
                <a:sym typeface="Nunito"/>
              </a:rPr>
              <a:t>❌ Excessive animations</a:t>
            </a:r>
          </a:p>
          <a:p>
            <a:pPr algn="l">
              <a:lnSpc>
                <a:spcPts val="4759"/>
              </a:lnSpc>
            </a:pPr>
            <a:endParaRPr lang="en-US" sz="3399" dirty="0">
              <a:solidFill>
                <a:srgbClr val="000000"/>
              </a:solidFill>
              <a:latin typeface="Nunito"/>
              <a:ea typeface="Nunito"/>
              <a:cs typeface="Nunito"/>
              <a:sym typeface="Nunito"/>
            </a:endParaRPr>
          </a:p>
        </p:txBody>
      </p:sp>
      <p:sp>
        <p:nvSpPr>
          <p:cNvPr id="8" name="TextBox 8"/>
          <p:cNvSpPr txBox="1"/>
          <p:nvPr/>
        </p:nvSpPr>
        <p:spPr>
          <a:xfrm>
            <a:off x="11062532" y="5640900"/>
            <a:ext cx="12393536" cy="3580765"/>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Good</a:t>
            </a:r>
          </a:p>
          <a:p>
            <a:pPr algn="l">
              <a:lnSpc>
                <a:spcPts val="4759"/>
              </a:lnSpc>
            </a:pPr>
            <a:r>
              <a:rPr lang="en-US" sz="3399" dirty="0">
                <a:solidFill>
                  <a:srgbClr val="000000"/>
                </a:solidFill>
                <a:latin typeface="Nunito"/>
                <a:ea typeface="Nunito"/>
                <a:cs typeface="Nunito"/>
                <a:sym typeface="Nunito"/>
              </a:rPr>
              <a:t>✅ Keywords</a:t>
            </a:r>
          </a:p>
          <a:p>
            <a:pPr algn="l">
              <a:lnSpc>
                <a:spcPts val="4759"/>
              </a:lnSpc>
            </a:pPr>
            <a:r>
              <a:rPr lang="en-US" sz="3399" dirty="0">
                <a:solidFill>
                  <a:srgbClr val="000000"/>
                </a:solidFill>
                <a:latin typeface="Nunito"/>
                <a:ea typeface="Nunito"/>
                <a:cs typeface="Nunito"/>
                <a:sym typeface="Nunito"/>
              </a:rPr>
              <a:t>✅ Images</a:t>
            </a:r>
          </a:p>
          <a:p>
            <a:pPr algn="l">
              <a:lnSpc>
                <a:spcPts val="4759"/>
              </a:lnSpc>
            </a:pPr>
            <a:r>
              <a:rPr lang="en-US" sz="3399" dirty="0">
                <a:solidFill>
                  <a:srgbClr val="000000"/>
                </a:solidFill>
                <a:latin typeface="Nunito"/>
                <a:ea typeface="Nunito"/>
                <a:cs typeface="Nunito"/>
                <a:sym typeface="Nunito"/>
              </a:rPr>
              <a:t>✅ Graphs</a:t>
            </a:r>
          </a:p>
          <a:p>
            <a:pPr algn="l">
              <a:lnSpc>
                <a:spcPts val="4759"/>
              </a:lnSpc>
            </a:pPr>
            <a:r>
              <a:rPr lang="en-US" sz="3399" dirty="0">
                <a:solidFill>
                  <a:srgbClr val="000000"/>
                </a:solidFill>
                <a:latin typeface="Nunito"/>
                <a:ea typeface="Nunito"/>
                <a:cs typeface="Nunito"/>
                <a:sym typeface="Nunito"/>
              </a:rPr>
              <a:t>✅ White space</a:t>
            </a:r>
          </a:p>
          <a:p>
            <a:pPr algn="l">
              <a:lnSpc>
                <a:spcPts val="4759"/>
              </a:lnSpc>
            </a:pPr>
            <a:r>
              <a:rPr lang="en-US" sz="3399" dirty="0">
                <a:solidFill>
                  <a:srgbClr val="000000"/>
                </a:solidFill>
                <a:latin typeface="Nunito"/>
                <a:ea typeface="Nunito"/>
                <a:cs typeface="Nunito"/>
                <a:sym typeface="Nunito"/>
              </a:rPr>
              <a:t>✅ Clear hierarchy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 calcmode="lin" valueType="num">
                                      <p:cBhvr additive="base">
                                        <p:cTn id="28"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xEl>
                                              <p:pRg st="1" end="1"/>
                                            </p:txEl>
                                          </p:spTgt>
                                        </p:tgtEl>
                                        <p:attrNameLst>
                                          <p:attrName>style.visibility</p:attrName>
                                        </p:attrNameLst>
                                      </p:cBhvr>
                                      <p:to>
                                        <p:strVal val="visible"/>
                                      </p:to>
                                    </p:set>
                                    <p:animEffect transition="in" filter="wipe(down)">
                                      <p:cBhvr>
                                        <p:cTn id="34" dur="500"/>
                                        <p:tgtEl>
                                          <p:spTgt spid="8">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animEffect transition="in" filter="wipe(down)">
                                      <p:cBhvr>
                                        <p:cTn id="39" dur="500"/>
                                        <p:tgtEl>
                                          <p:spTgt spid="8">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8">
                                            <p:txEl>
                                              <p:pRg st="3" end="3"/>
                                            </p:txEl>
                                          </p:spTgt>
                                        </p:tgtEl>
                                        <p:attrNameLst>
                                          <p:attrName>style.visibility</p:attrName>
                                        </p:attrNameLst>
                                      </p:cBhvr>
                                      <p:to>
                                        <p:strVal val="visible"/>
                                      </p:to>
                                    </p:set>
                                    <p:animEffect transition="in" filter="wipe(down)">
                                      <p:cBhvr>
                                        <p:cTn id="44" dur="500"/>
                                        <p:tgtEl>
                                          <p:spTgt spid="8">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8">
                                            <p:txEl>
                                              <p:pRg st="4" end="4"/>
                                            </p:txEl>
                                          </p:spTgt>
                                        </p:tgtEl>
                                        <p:attrNameLst>
                                          <p:attrName>style.visibility</p:attrName>
                                        </p:attrNameLst>
                                      </p:cBhvr>
                                      <p:to>
                                        <p:strVal val="visible"/>
                                      </p:to>
                                    </p:set>
                                    <p:animEffect transition="in" filter="wipe(down)">
                                      <p:cBhvr>
                                        <p:cTn id="49" dur="500"/>
                                        <p:tgtEl>
                                          <p:spTgt spid="8">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8">
                                            <p:txEl>
                                              <p:pRg st="5" end="5"/>
                                            </p:txEl>
                                          </p:spTgt>
                                        </p:tgtEl>
                                        <p:attrNameLst>
                                          <p:attrName>style.visibility</p:attrName>
                                        </p:attrNameLst>
                                      </p:cBhvr>
                                      <p:to>
                                        <p:strVal val="visible"/>
                                      </p:to>
                                    </p:set>
                                    <p:animEffect transition="in" filter="wipe(down)">
                                      <p:cBhvr>
                                        <p:cTn id="54"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6781800" y="6895168"/>
            <a:ext cx="4475349" cy="2495007"/>
          </a:xfrm>
          <a:custGeom>
            <a:avLst/>
            <a:gdLst/>
            <a:ahLst/>
            <a:cxnLst/>
            <a:rect l="l" t="t" r="r" b="b"/>
            <a:pathLst>
              <a:path w="4475349" h="2495007">
                <a:moveTo>
                  <a:pt x="0" y="0"/>
                </a:moveTo>
                <a:lnTo>
                  <a:pt x="4475349" y="0"/>
                </a:lnTo>
                <a:lnTo>
                  <a:pt x="4475349" y="2495007"/>
                </a:lnTo>
                <a:lnTo>
                  <a:pt x="0" y="249500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68577">
            <a:off x="15193273" y="5711899"/>
            <a:ext cx="3538918" cy="2990385"/>
          </a:xfrm>
          <a:custGeom>
            <a:avLst/>
            <a:gdLst/>
            <a:ahLst/>
            <a:cxnLst/>
            <a:rect l="l" t="t" r="r" b="b"/>
            <a:pathLst>
              <a:path w="3538918" h="2990385">
                <a:moveTo>
                  <a:pt x="0" y="0"/>
                </a:moveTo>
                <a:lnTo>
                  <a:pt x="3538918" y="0"/>
                </a:lnTo>
                <a:lnTo>
                  <a:pt x="3538918" y="2990385"/>
                </a:lnTo>
                <a:lnTo>
                  <a:pt x="0" y="29903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TextBox 4"/>
          <p:cNvSpPr txBox="1"/>
          <p:nvPr/>
        </p:nvSpPr>
        <p:spPr>
          <a:xfrm>
            <a:off x="1447800" y="3771900"/>
            <a:ext cx="15810173" cy="29806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Instructions for Students</a:t>
            </a:r>
          </a:p>
          <a:p>
            <a:pPr algn="l">
              <a:lnSpc>
                <a:spcPts val="4759"/>
              </a:lnSpc>
            </a:pPr>
            <a:r>
              <a:rPr lang="en-US" sz="3399" dirty="0">
                <a:solidFill>
                  <a:srgbClr val="000000"/>
                </a:solidFill>
                <a:latin typeface="Nunito"/>
                <a:ea typeface="Nunito"/>
                <a:cs typeface="Nunito"/>
                <a:sym typeface="Nunito"/>
              </a:rPr>
              <a:t>You have been hired as presentation consultants. Your task is to redesign the following slide and make it engaging, visually appealing, and audience-friendly.</a:t>
            </a:r>
          </a:p>
          <a:p>
            <a:pPr algn="l">
              <a:lnSpc>
                <a:spcPts val="4759"/>
              </a:lnSpc>
            </a:pPr>
            <a:endParaRPr lang="en-US" sz="3399" dirty="0">
              <a:solidFill>
                <a:srgbClr val="000000"/>
              </a:solidFill>
              <a:latin typeface="Nunito"/>
              <a:ea typeface="Nunito"/>
              <a:cs typeface="Nunito"/>
              <a:sym typeface="Nunito"/>
            </a:endParaRPr>
          </a:p>
          <a:p>
            <a:pPr algn="l">
              <a:lnSpc>
                <a:spcPts val="4759"/>
              </a:lnSpc>
            </a:pPr>
            <a:endParaRPr lang="en-US" sz="3399" dirty="0">
              <a:solidFill>
                <a:srgbClr val="000000"/>
              </a:solidFill>
              <a:latin typeface="Nunito"/>
              <a:ea typeface="Nunito"/>
              <a:cs typeface="Nunito"/>
              <a:sym typeface="Nunito"/>
            </a:endParaRPr>
          </a:p>
        </p:txBody>
      </p:sp>
      <p:sp>
        <p:nvSpPr>
          <p:cNvPr id="5" name="Freeform 5"/>
          <p:cNvSpPr/>
          <p:nvPr/>
        </p:nvSpPr>
        <p:spPr>
          <a:xfrm rot="1156708">
            <a:off x="331732" y="3575599"/>
            <a:ext cx="672844" cy="1200615"/>
          </a:xfrm>
          <a:custGeom>
            <a:avLst/>
            <a:gdLst/>
            <a:ahLst/>
            <a:cxnLst/>
            <a:rect l="l" t="t" r="r" b="b"/>
            <a:pathLst>
              <a:path w="672844" h="1200615">
                <a:moveTo>
                  <a:pt x="0" y="0"/>
                </a:moveTo>
                <a:lnTo>
                  <a:pt x="672844" y="0"/>
                </a:lnTo>
                <a:lnTo>
                  <a:pt x="672844"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028700" y="537527"/>
            <a:ext cx="8115300"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Fix this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TextBox 2"/>
          <p:cNvSpPr txBox="1"/>
          <p:nvPr/>
        </p:nvSpPr>
        <p:spPr>
          <a:xfrm>
            <a:off x="0" y="523875"/>
            <a:ext cx="18288000" cy="10821671"/>
          </a:xfrm>
          <a:prstGeom prst="rect">
            <a:avLst/>
          </a:prstGeom>
        </p:spPr>
        <p:txBody>
          <a:bodyPr lIns="0" tIns="0" rIns="0" bIns="0" rtlCol="0" anchor="t">
            <a:spAutoFit/>
          </a:bodyPr>
          <a:lstStyle/>
          <a:p>
            <a:pPr algn="ctr">
              <a:lnSpc>
                <a:spcPts val="3639"/>
              </a:lnSpc>
            </a:pPr>
            <a:r>
              <a:rPr lang="en-US" sz="2599" dirty="0">
                <a:solidFill>
                  <a:srgbClr val="000000"/>
                </a:solidFill>
                <a:latin typeface="Fredoka"/>
                <a:ea typeface="Fredoka"/>
                <a:cs typeface="Fredoka"/>
                <a:sym typeface="Fredoka"/>
              </a:rPr>
              <a:t>THE IMPORTANCE OF COMMUNICATION IN THE MODERN WORKPLACE</a:t>
            </a:r>
          </a:p>
          <a:p>
            <a:pPr algn="l">
              <a:lnSpc>
                <a:spcPts val="2519"/>
              </a:lnSpc>
            </a:pPr>
            <a:r>
              <a:rPr lang="en-US" sz="1799" dirty="0">
                <a:solidFill>
                  <a:srgbClr val="000000"/>
                </a:solidFill>
                <a:latin typeface="Fredoka"/>
                <a:ea typeface="Fredoka"/>
                <a:cs typeface="Fredoka"/>
                <a:sym typeface="Fredoka"/>
              </a:rPr>
              <a:t>Communication is one of the most important skills in today's business environment because it helps employees share information, collaborate with colleagues, improve productivity, avoid misunderstandings, develop strong relationships with customers and stakeholders, increase efficiency, support teamwork, encourage innovation, facilitate problem-solving, improve employee morale, strengthen organizational culture, reduce conflicts, enhance leadership effectiveness, and contribute to overall business success. Companies that fail to communicate effectively often experience lower employee engagement, higher turnover rates, decreased productivity, poor customer satisfaction, and financial losses. Therefore, communication should always be considered a priority for every organization regardless of its size, industry, or location.</a:t>
            </a:r>
          </a:p>
          <a:p>
            <a:pPr algn="l">
              <a:lnSpc>
                <a:spcPts val="2519"/>
              </a:lnSpc>
            </a:pPr>
            <a:r>
              <a:rPr lang="en-US" sz="1799" dirty="0">
                <a:solidFill>
                  <a:srgbClr val="000000"/>
                </a:solidFill>
                <a:latin typeface="Fredoka"/>
                <a:ea typeface="Fredoka"/>
                <a:cs typeface="Fredoka"/>
                <a:sym typeface="Fredoka"/>
              </a:rPr>
              <a:t>Types of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Verbal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Non-Verbal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Written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Visual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Digital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Formal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Informal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Internal Communication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External Communication</a:t>
            </a:r>
          </a:p>
          <a:p>
            <a:pPr algn="l">
              <a:lnSpc>
                <a:spcPts val="2519"/>
              </a:lnSpc>
            </a:pPr>
            <a:r>
              <a:rPr lang="en-US" sz="1799" dirty="0">
                <a:solidFill>
                  <a:srgbClr val="000000"/>
                </a:solidFill>
                <a:latin typeface="Fredoka"/>
                <a:ea typeface="Fredoka"/>
                <a:cs typeface="Fredoka"/>
                <a:sym typeface="Fredoka"/>
              </a:rPr>
              <a:t>Benefits: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teamwork</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productivity</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relationships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customer service</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leadership</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decision-making</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Better workplace culture</a:t>
            </a:r>
          </a:p>
          <a:p>
            <a:pPr algn="l">
              <a:lnSpc>
                <a:spcPts val="2519"/>
              </a:lnSpc>
            </a:pPr>
            <a:r>
              <a:rPr lang="en-US" sz="1799" dirty="0">
                <a:solidFill>
                  <a:srgbClr val="000000"/>
                </a:solidFill>
                <a:latin typeface="Fredoka"/>
                <a:ea typeface="Fredoka"/>
                <a:cs typeface="Fredoka"/>
                <a:sym typeface="Fredoka"/>
              </a:rPr>
              <a:t>Challenges: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Language barriers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Cultural differences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Poor listening</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Lack of feedback</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Technology issues</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Misinterpretation</a:t>
            </a:r>
          </a:p>
          <a:p>
            <a:pPr marL="388617" lvl="1" indent="-194308" algn="l">
              <a:lnSpc>
                <a:spcPts val="2519"/>
              </a:lnSpc>
              <a:buFont typeface="Arial"/>
              <a:buChar char="•"/>
            </a:pPr>
            <a:r>
              <a:rPr lang="en-US" sz="1799" dirty="0">
                <a:solidFill>
                  <a:srgbClr val="000000"/>
                </a:solidFill>
                <a:latin typeface="Fredoka"/>
                <a:ea typeface="Fredoka"/>
                <a:cs typeface="Fredoka"/>
                <a:sym typeface="Fredoka"/>
              </a:rPr>
              <a:t>Information overload</a:t>
            </a:r>
          </a:p>
          <a:p>
            <a:pPr algn="l">
              <a:lnSpc>
                <a:spcPts val="2519"/>
              </a:lnSpc>
            </a:pPr>
            <a:endParaRPr lang="en-US" sz="1799" dirty="0">
              <a:solidFill>
                <a:srgbClr val="000000"/>
              </a:solidFill>
              <a:latin typeface="Fredoka"/>
              <a:ea typeface="Fredoka"/>
              <a:cs typeface="Fredoka"/>
              <a:sym typeface="Fredoka"/>
            </a:endParaRPr>
          </a:p>
        </p:txBody>
      </p:sp>
      <p:sp>
        <p:nvSpPr>
          <p:cNvPr id="3" name="Freeform 3"/>
          <p:cNvSpPr/>
          <p:nvPr/>
        </p:nvSpPr>
        <p:spPr>
          <a:xfrm>
            <a:off x="10142154" y="4172201"/>
            <a:ext cx="4291838" cy="4114800"/>
          </a:xfrm>
          <a:custGeom>
            <a:avLst/>
            <a:gdLst/>
            <a:ahLst/>
            <a:cxnLst/>
            <a:rect l="l" t="t" r="r" b="b"/>
            <a:pathLst>
              <a:path w="4291838" h="4114800">
                <a:moveTo>
                  <a:pt x="0" y="0"/>
                </a:moveTo>
                <a:lnTo>
                  <a:pt x="4291838" y="0"/>
                </a:lnTo>
                <a:lnTo>
                  <a:pt x="429183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649756">
            <a:off x="45738" y="683899"/>
            <a:ext cx="1592678" cy="1654090"/>
          </a:xfrm>
          <a:custGeom>
            <a:avLst/>
            <a:gdLst/>
            <a:ahLst/>
            <a:cxnLst/>
            <a:rect l="l" t="t" r="r" b="b"/>
            <a:pathLst>
              <a:path w="1592678" h="1654090">
                <a:moveTo>
                  <a:pt x="0" y="0"/>
                </a:moveTo>
                <a:lnTo>
                  <a:pt x="1592677" y="0"/>
                </a:lnTo>
                <a:lnTo>
                  <a:pt x="1592677" y="1654090"/>
                </a:lnTo>
                <a:lnTo>
                  <a:pt x="0" y="16540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158710" y="236855"/>
            <a:ext cx="1398616" cy="1800542"/>
          </a:xfrm>
          <a:custGeom>
            <a:avLst/>
            <a:gdLst/>
            <a:ahLst/>
            <a:cxnLst/>
            <a:rect l="l" t="t" r="r" b="b"/>
            <a:pathLst>
              <a:path w="1398616" h="1800542">
                <a:moveTo>
                  <a:pt x="0" y="0"/>
                </a:moveTo>
                <a:lnTo>
                  <a:pt x="1398616" y="0"/>
                </a:lnTo>
                <a:lnTo>
                  <a:pt x="1398616" y="1800542"/>
                </a:lnTo>
                <a:lnTo>
                  <a:pt x="0" y="180054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2466441">
            <a:off x="582698" y="2835857"/>
            <a:ext cx="518757" cy="1500505"/>
          </a:xfrm>
          <a:custGeom>
            <a:avLst/>
            <a:gdLst/>
            <a:ahLst/>
            <a:cxnLst/>
            <a:rect l="l" t="t" r="r" b="b"/>
            <a:pathLst>
              <a:path w="518757" h="1500505">
                <a:moveTo>
                  <a:pt x="0" y="0"/>
                </a:moveTo>
                <a:lnTo>
                  <a:pt x="518757" y="0"/>
                </a:lnTo>
                <a:lnTo>
                  <a:pt x="518757" y="1500505"/>
                </a:lnTo>
                <a:lnTo>
                  <a:pt x="0" y="15005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826651" y="8345854"/>
            <a:ext cx="1461349" cy="1483603"/>
          </a:xfrm>
          <a:custGeom>
            <a:avLst/>
            <a:gdLst/>
            <a:ahLst/>
            <a:cxnLst/>
            <a:rect l="l" t="t" r="r" b="b"/>
            <a:pathLst>
              <a:path w="1461349" h="1483603">
                <a:moveTo>
                  <a:pt x="0" y="0"/>
                </a:moveTo>
                <a:lnTo>
                  <a:pt x="1461349" y="0"/>
                </a:lnTo>
                <a:lnTo>
                  <a:pt x="1461349" y="1483603"/>
                </a:lnTo>
                <a:lnTo>
                  <a:pt x="0" y="1483603"/>
                </a:lnTo>
                <a:lnTo>
                  <a:pt x="0" y="0"/>
                </a:lnTo>
                <a:close/>
              </a:path>
            </a:pathLst>
          </a:custGeom>
          <a:blipFill>
            <a:blip r:embed="rId5"/>
            <a:stretch>
              <a:fillRect/>
            </a:stretch>
          </a:blipFill>
        </p:spPr>
      </p:sp>
      <p:sp>
        <p:nvSpPr>
          <p:cNvPr id="6" name="TextBox 6"/>
          <p:cNvSpPr txBox="1"/>
          <p:nvPr/>
        </p:nvSpPr>
        <p:spPr>
          <a:xfrm>
            <a:off x="5946874" y="250031"/>
            <a:ext cx="7464326" cy="88709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Fredoka"/>
                <a:ea typeface="Fredoka"/>
                <a:cs typeface="Fredoka"/>
                <a:sym typeface="Fredoka"/>
              </a:rPr>
              <a:t>Engagement Toolkit</a:t>
            </a:r>
          </a:p>
        </p:txBody>
      </p:sp>
      <p:sp>
        <p:nvSpPr>
          <p:cNvPr id="7" name="TextBox 7"/>
          <p:cNvSpPr txBox="1"/>
          <p:nvPr/>
        </p:nvSpPr>
        <p:spPr>
          <a:xfrm>
            <a:off x="2586016" y="1243257"/>
            <a:ext cx="12393536" cy="9825767"/>
          </a:xfrm>
          <a:prstGeom prst="rect">
            <a:avLst/>
          </a:prstGeom>
        </p:spPr>
        <p:txBody>
          <a:bodyPr lIns="0" tIns="0" rIns="0" bIns="0" rtlCol="0" anchor="t">
            <a:spAutoFit/>
          </a:bodyPr>
          <a:lstStyle/>
          <a:p>
            <a:pPr marL="734059" lvl="1" indent="-367030" algn="l">
              <a:lnSpc>
                <a:spcPts val="4759"/>
              </a:lnSpc>
              <a:buAutoNum type="arabicPeriod"/>
            </a:pPr>
            <a:r>
              <a:rPr lang="en-US" sz="3200" dirty="0">
                <a:solidFill>
                  <a:srgbClr val="222222"/>
                </a:solidFill>
                <a:latin typeface="Nunito"/>
                <a:ea typeface="Nunito"/>
                <a:cs typeface="Nunito"/>
                <a:sym typeface="Nunito"/>
              </a:rPr>
              <a:t>Questions</a:t>
            </a:r>
          </a:p>
          <a:p>
            <a:pPr algn="l">
              <a:lnSpc>
                <a:spcPts val="4759"/>
              </a:lnSpc>
            </a:pPr>
            <a:r>
              <a:rPr lang="en-US" sz="3200" dirty="0">
                <a:solidFill>
                  <a:srgbClr val="222222"/>
                </a:solidFill>
                <a:latin typeface="Nunito"/>
                <a:ea typeface="Nunito"/>
                <a:cs typeface="Nunito"/>
                <a:sym typeface="Nunito"/>
              </a:rPr>
              <a:t>Example:</a:t>
            </a:r>
          </a:p>
          <a:p>
            <a:pPr algn="l">
              <a:lnSpc>
                <a:spcPts val="4759"/>
              </a:lnSpc>
            </a:pPr>
            <a:r>
              <a:rPr lang="en-US" sz="3200" dirty="0">
                <a:solidFill>
                  <a:srgbClr val="222222"/>
                </a:solidFill>
                <a:latin typeface="Nunito"/>
                <a:ea typeface="Nunito"/>
                <a:cs typeface="Nunito"/>
                <a:sym typeface="Nunito"/>
              </a:rPr>
              <a:t>What would you do in this situation?</a:t>
            </a:r>
          </a:p>
          <a:p>
            <a:pPr marL="367029" lvl="1" algn="l">
              <a:lnSpc>
                <a:spcPts val="4759"/>
              </a:lnSpc>
            </a:pPr>
            <a:r>
              <a:rPr lang="en-US" sz="3200" dirty="0">
                <a:solidFill>
                  <a:srgbClr val="222222"/>
                </a:solidFill>
                <a:latin typeface="Nunito"/>
                <a:ea typeface="Nunito"/>
                <a:cs typeface="Nunito"/>
                <a:sym typeface="Nunito"/>
              </a:rPr>
              <a:t>2. Polls</a:t>
            </a:r>
          </a:p>
          <a:p>
            <a:pPr algn="l">
              <a:lnSpc>
                <a:spcPts val="4759"/>
              </a:lnSpc>
            </a:pPr>
            <a:r>
              <a:rPr lang="en-US" sz="3200" dirty="0">
                <a:solidFill>
                  <a:srgbClr val="222222"/>
                </a:solidFill>
                <a:latin typeface="Nunito"/>
                <a:ea typeface="Nunito"/>
                <a:cs typeface="Nunito"/>
                <a:sym typeface="Nunito"/>
              </a:rPr>
              <a:t>Raise hands.</a:t>
            </a:r>
          </a:p>
          <a:p>
            <a:pPr algn="l">
              <a:lnSpc>
                <a:spcPts val="4759"/>
              </a:lnSpc>
            </a:pPr>
            <a:r>
              <a:rPr lang="en-US" sz="3200" dirty="0">
                <a:solidFill>
                  <a:srgbClr val="222222"/>
                </a:solidFill>
                <a:latin typeface="Nunito"/>
                <a:ea typeface="Nunito"/>
                <a:cs typeface="Nunito"/>
                <a:sym typeface="Nunito"/>
              </a:rPr>
              <a:t>Vote.</a:t>
            </a:r>
          </a:p>
          <a:p>
            <a:pPr algn="l">
              <a:lnSpc>
                <a:spcPts val="4759"/>
              </a:lnSpc>
            </a:pPr>
            <a:r>
              <a:rPr lang="en-US" sz="3200" dirty="0">
                <a:solidFill>
                  <a:srgbClr val="222222"/>
                </a:solidFill>
                <a:latin typeface="Nunito"/>
                <a:ea typeface="Nunito"/>
                <a:cs typeface="Nunito"/>
                <a:sym typeface="Nunito"/>
              </a:rPr>
              <a:t>Bar codes.</a:t>
            </a:r>
          </a:p>
          <a:p>
            <a:pPr marL="367029" lvl="1" algn="l">
              <a:lnSpc>
                <a:spcPts val="4759"/>
              </a:lnSpc>
            </a:pPr>
            <a:r>
              <a:rPr lang="en-US" sz="3200" dirty="0">
                <a:solidFill>
                  <a:srgbClr val="222222"/>
                </a:solidFill>
                <a:latin typeface="Nunito"/>
                <a:ea typeface="Nunito"/>
                <a:cs typeface="Nunito"/>
                <a:sym typeface="Nunito"/>
              </a:rPr>
              <a:t>3. Think-Pair-Share</a:t>
            </a:r>
          </a:p>
          <a:p>
            <a:pPr algn="l">
              <a:lnSpc>
                <a:spcPts val="4759"/>
              </a:lnSpc>
            </a:pPr>
            <a:r>
              <a:rPr lang="en-US" sz="3200" dirty="0">
                <a:solidFill>
                  <a:srgbClr val="222222"/>
                </a:solidFill>
                <a:latin typeface="Nunito"/>
                <a:ea typeface="Nunito"/>
                <a:cs typeface="Nunito"/>
                <a:sym typeface="Nunito"/>
              </a:rPr>
              <a:t>          a. Think</a:t>
            </a:r>
          </a:p>
          <a:p>
            <a:pPr algn="l">
              <a:lnSpc>
                <a:spcPts val="4759"/>
              </a:lnSpc>
            </a:pPr>
            <a:r>
              <a:rPr lang="en-US" sz="3200" dirty="0">
                <a:solidFill>
                  <a:srgbClr val="222222"/>
                </a:solidFill>
                <a:latin typeface="Nunito"/>
                <a:ea typeface="Nunito"/>
                <a:cs typeface="Nunito"/>
                <a:sym typeface="Nunito"/>
              </a:rPr>
              <a:t>          b. Discuss</a:t>
            </a:r>
          </a:p>
          <a:p>
            <a:pPr algn="l">
              <a:lnSpc>
                <a:spcPts val="4759"/>
              </a:lnSpc>
            </a:pPr>
            <a:r>
              <a:rPr lang="en-US" sz="3200" dirty="0">
                <a:solidFill>
                  <a:srgbClr val="222222"/>
                </a:solidFill>
                <a:latin typeface="Nunito"/>
                <a:ea typeface="Nunito"/>
                <a:cs typeface="Nunito"/>
                <a:sym typeface="Nunito"/>
              </a:rPr>
              <a:t>          c. Share</a:t>
            </a:r>
          </a:p>
          <a:p>
            <a:pPr marL="367029" lvl="1" algn="l">
              <a:lnSpc>
                <a:spcPts val="4759"/>
              </a:lnSpc>
            </a:pPr>
            <a:r>
              <a:rPr lang="en-US" sz="3200" dirty="0">
                <a:solidFill>
                  <a:srgbClr val="222222"/>
                </a:solidFill>
                <a:latin typeface="Nunito"/>
                <a:ea typeface="Nunito"/>
                <a:cs typeface="Nunito"/>
                <a:sym typeface="Nunito"/>
              </a:rPr>
              <a:t>4. Storytelling</a:t>
            </a:r>
          </a:p>
          <a:p>
            <a:pPr algn="l">
              <a:lnSpc>
                <a:spcPts val="4759"/>
              </a:lnSpc>
            </a:pPr>
            <a:r>
              <a:rPr lang="en-US" sz="3200" dirty="0">
                <a:solidFill>
                  <a:srgbClr val="222222"/>
                </a:solidFill>
                <a:latin typeface="Nunito"/>
                <a:ea typeface="Nunito"/>
                <a:cs typeface="Nunito"/>
                <a:sym typeface="Nunito"/>
              </a:rPr>
              <a:t>Humans remember stories better than facts.</a:t>
            </a:r>
          </a:p>
          <a:p>
            <a:pPr marL="367029" lvl="1" algn="l">
              <a:lnSpc>
                <a:spcPts val="4759"/>
              </a:lnSpc>
            </a:pPr>
            <a:r>
              <a:rPr lang="en-US" sz="3200" dirty="0">
                <a:solidFill>
                  <a:srgbClr val="222222"/>
                </a:solidFill>
                <a:latin typeface="Nunito"/>
                <a:ea typeface="Nunito"/>
                <a:cs typeface="Nunito"/>
                <a:sym typeface="Nunito"/>
              </a:rPr>
              <a:t>5. Demonstrations</a:t>
            </a:r>
          </a:p>
          <a:p>
            <a:pPr algn="l">
              <a:lnSpc>
                <a:spcPts val="4759"/>
              </a:lnSpc>
            </a:pPr>
            <a:r>
              <a:rPr lang="en-US" sz="3200" dirty="0">
                <a:solidFill>
                  <a:srgbClr val="222222"/>
                </a:solidFill>
                <a:latin typeface="Nunito"/>
                <a:ea typeface="Nunito"/>
                <a:cs typeface="Nunito"/>
                <a:sym typeface="Nunito"/>
              </a:rPr>
              <a:t>Show rather than tell.</a:t>
            </a:r>
          </a:p>
          <a:p>
            <a:pPr algn="l">
              <a:lnSpc>
                <a:spcPts val="4759"/>
              </a:lnSpc>
            </a:pPr>
            <a:endParaRPr lang="en-US" sz="3399" dirty="0">
              <a:solidFill>
                <a:srgbClr val="222222"/>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heel(1)">
                                      <p:cBhvr>
                                        <p:cTn id="10" dur="2000"/>
                                        <p:tgtEl>
                                          <p:spTgt spid="7">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wheel(1)">
                                      <p:cBhvr>
                                        <p:cTn id="13" dur="20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heel(1)">
                                      <p:cBhvr>
                                        <p:cTn id="18" dur="2000"/>
                                        <p:tgtEl>
                                          <p:spTgt spid="7">
                                            <p:txEl>
                                              <p:pRg st="3" end="3"/>
                                            </p:txEl>
                                          </p:spTgt>
                                        </p:tgtEl>
                                      </p:cBhvr>
                                    </p:animEffect>
                                  </p:childTnLst>
                                </p:cTn>
                              </p:par>
                              <p:par>
                                <p:cTn id="19" presetID="21" presetClass="entr" presetSubtype="1"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wheel(1)">
                                      <p:cBhvr>
                                        <p:cTn id="21" dur="2000"/>
                                        <p:tgtEl>
                                          <p:spTgt spid="7">
                                            <p:txEl>
                                              <p:pRg st="4" end="4"/>
                                            </p:txEl>
                                          </p:spTgt>
                                        </p:tgtEl>
                                      </p:cBhvr>
                                    </p:animEffect>
                                  </p:childTnLst>
                                </p:cTn>
                              </p:par>
                              <p:par>
                                <p:cTn id="22" presetID="21" presetClass="entr" presetSubtype="1"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wheel(1)">
                                      <p:cBhvr>
                                        <p:cTn id="24" dur="2000"/>
                                        <p:tgtEl>
                                          <p:spTgt spid="7">
                                            <p:txEl>
                                              <p:pRg st="5" end="5"/>
                                            </p:txEl>
                                          </p:spTgt>
                                        </p:tgtEl>
                                      </p:cBhvr>
                                    </p:animEffect>
                                  </p:childTnLst>
                                </p:cTn>
                              </p:par>
                              <p:par>
                                <p:cTn id="25" presetID="21" presetClass="entr" presetSubtype="1"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wheel(1)">
                                      <p:cBhvr>
                                        <p:cTn id="27" dur="20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wheel(1)">
                                      <p:cBhvr>
                                        <p:cTn id="32" dur="2000"/>
                                        <p:tgtEl>
                                          <p:spTgt spid="7">
                                            <p:txEl>
                                              <p:pRg st="7" end="7"/>
                                            </p:txEl>
                                          </p:spTgt>
                                        </p:tgtEl>
                                      </p:cBhvr>
                                    </p:animEffect>
                                  </p:childTnLst>
                                </p:cTn>
                              </p:par>
                              <p:par>
                                <p:cTn id="33" presetID="21" presetClass="entr" presetSubtype="1" fill="hold"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wheel(1)">
                                      <p:cBhvr>
                                        <p:cTn id="35" dur="2000"/>
                                        <p:tgtEl>
                                          <p:spTgt spid="7">
                                            <p:txEl>
                                              <p:pRg st="8" end="8"/>
                                            </p:txEl>
                                          </p:spTgt>
                                        </p:tgtEl>
                                      </p:cBhvr>
                                    </p:animEffect>
                                  </p:childTnLst>
                                </p:cTn>
                              </p:par>
                              <p:par>
                                <p:cTn id="36" presetID="21" presetClass="entr" presetSubtype="1" fill="hold" nodeType="withEffect">
                                  <p:stCondLst>
                                    <p:cond delay="0"/>
                                  </p:stCondLst>
                                  <p:childTnLst>
                                    <p:set>
                                      <p:cBhvr>
                                        <p:cTn id="37" dur="1" fill="hold">
                                          <p:stCondLst>
                                            <p:cond delay="0"/>
                                          </p:stCondLst>
                                        </p:cTn>
                                        <p:tgtEl>
                                          <p:spTgt spid="7">
                                            <p:txEl>
                                              <p:pRg st="9" end="9"/>
                                            </p:txEl>
                                          </p:spTgt>
                                        </p:tgtEl>
                                        <p:attrNameLst>
                                          <p:attrName>style.visibility</p:attrName>
                                        </p:attrNameLst>
                                      </p:cBhvr>
                                      <p:to>
                                        <p:strVal val="visible"/>
                                      </p:to>
                                    </p:set>
                                    <p:animEffect transition="in" filter="wheel(1)">
                                      <p:cBhvr>
                                        <p:cTn id="38" dur="2000"/>
                                        <p:tgtEl>
                                          <p:spTgt spid="7">
                                            <p:txEl>
                                              <p:pRg st="9" end="9"/>
                                            </p:txEl>
                                          </p:spTgt>
                                        </p:tgtEl>
                                      </p:cBhvr>
                                    </p:animEffect>
                                  </p:childTnLst>
                                </p:cTn>
                              </p:par>
                              <p:par>
                                <p:cTn id="39" presetID="21" presetClass="entr" presetSubtype="1" fill="hold" nodeType="withEffect">
                                  <p:stCondLst>
                                    <p:cond delay="0"/>
                                  </p:stCondLst>
                                  <p:childTnLst>
                                    <p:set>
                                      <p:cBhvr>
                                        <p:cTn id="40" dur="1" fill="hold">
                                          <p:stCondLst>
                                            <p:cond delay="0"/>
                                          </p:stCondLst>
                                        </p:cTn>
                                        <p:tgtEl>
                                          <p:spTgt spid="7">
                                            <p:txEl>
                                              <p:pRg st="10" end="10"/>
                                            </p:txEl>
                                          </p:spTgt>
                                        </p:tgtEl>
                                        <p:attrNameLst>
                                          <p:attrName>style.visibility</p:attrName>
                                        </p:attrNameLst>
                                      </p:cBhvr>
                                      <p:to>
                                        <p:strVal val="visible"/>
                                      </p:to>
                                    </p:set>
                                    <p:animEffect transition="in" filter="wheel(1)">
                                      <p:cBhvr>
                                        <p:cTn id="41" dur="2000"/>
                                        <p:tgtEl>
                                          <p:spTgt spid="7">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nodeType="clickEffect">
                                  <p:stCondLst>
                                    <p:cond delay="0"/>
                                  </p:stCondLst>
                                  <p:childTnLst>
                                    <p:set>
                                      <p:cBhvr>
                                        <p:cTn id="45" dur="1" fill="hold">
                                          <p:stCondLst>
                                            <p:cond delay="0"/>
                                          </p:stCondLst>
                                        </p:cTn>
                                        <p:tgtEl>
                                          <p:spTgt spid="7">
                                            <p:txEl>
                                              <p:pRg st="11" end="11"/>
                                            </p:txEl>
                                          </p:spTgt>
                                        </p:tgtEl>
                                        <p:attrNameLst>
                                          <p:attrName>style.visibility</p:attrName>
                                        </p:attrNameLst>
                                      </p:cBhvr>
                                      <p:to>
                                        <p:strVal val="visible"/>
                                      </p:to>
                                    </p:set>
                                    <p:animEffect transition="in" filter="wheel(1)">
                                      <p:cBhvr>
                                        <p:cTn id="46" dur="2000"/>
                                        <p:tgtEl>
                                          <p:spTgt spid="7">
                                            <p:txEl>
                                              <p:pRg st="11" end="11"/>
                                            </p:txEl>
                                          </p:spTgt>
                                        </p:tgtEl>
                                      </p:cBhvr>
                                    </p:animEffect>
                                  </p:childTnLst>
                                </p:cTn>
                              </p:par>
                              <p:par>
                                <p:cTn id="47" presetID="21" presetClass="entr" presetSubtype="1" fill="hold" nodeType="with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wheel(1)">
                                      <p:cBhvr>
                                        <p:cTn id="49" dur="2000"/>
                                        <p:tgtEl>
                                          <p:spTgt spid="7">
                                            <p:txEl>
                                              <p:pRg st="12" end="1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nodeType="clickEffect">
                                  <p:stCondLst>
                                    <p:cond delay="0"/>
                                  </p:stCondLst>
                                  <p:childTnLst>
                                    <p:set>
                                      <p:cBhvr>
                                        <p:cTn id="53" dur="1" fill="hold">
                                          <p:stCondLst>
                                            <p:cond delay="0"/>
                                          </p:stCondLst>
                                        </p:cTn>
                                        <p:tgtEl>
                                          <p:spTgt spid="7">
                                            <p:txEl>
                                              <p:pRg st="13" end="13"/>
                                            </p:txEl>
                                          </p:spTgt>
                                        </p:tgtEl>
                                        <p:attrNameLst>
                                          <p:attrName>style.visibility</p:attrName>
                                        </p:attrNameLst>
                                      </p:cBhvr>
                                      <p:to>
                                        <p:strVal val="visible"/>
                                      </p:to>
                                    </p:set>
                                    <p:animEffect transition="in" filter="wheel(1)">
                                      <p:cBhvr>
                                        <p:cTn id="54" dur="2000"/>
                                        <p:tgtEl>
                                          <p:spTgt spid="7">
                                            <p:txEl>
                                              <p:pRg st="13" end="13"/>
                                            </p:txEl>
                                          </p:spTgt>
                                        </p:tgtEl>
                                      </p:cBhvr>
                                    </p:animEffect>
                                  </p:childTnLst>
                                </p:cTn>
                              </p:par>
                              <p:par>
                                <p:cTn id="55" presetID="21" presetClass="entr" presetSubtype="1" fill="hold" nodeType="withEffect">
                                  <p:stCondLst>
                                    <p:cond delay="0"/>
                                  </p:stCondLst>
                                  <p:childTnLst>
                                    <p:set>
                                      <p:cBhvr>
                                        <p:cTn id="56" dur="1" fill="hold">
                                          <p:stCondLst>
                                            <p:cond delay="0"/>
                                          </p:stCondLst>
                                        </p:cTn>
                                        <p:tgtEl>
                                          <p:spTgt spid="7">
                                            <p:txEl>
                                              <p:pRg st="14" end="14"/>
                                            </p:txEl>
                                          </p:spTgt>
                                        </p:tgtEl>
                                        <p:attrNameLst>
                                          <p:attrName>style.visibility</p:attrName>
                                        </p:attrNameLst>
                                      </p:cBhvr>
                                      <p:to>
                                        <p:strVal val="visible"/>
                                      </p:to>
                                    </p:set>
                                    <p:animEffect transition="in" filter="wheel(1)">
                                      <p:cBhvr>
                                        <p:cTn id="57" dur="2000"/>
                                        <p:tgtEl>
                                          <p:spTgt spid="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486899">
            <a:off x="13487381" y="1925332"/>
            <a:ext cx="2681808" cy="2199082"/>
          </a:xfrm>
          <a:custGeom>
            <a:avLst/>
            <a:gdLst/>
            <a:ahLst/>
            <a:cxnLst/>
            <a:rect l="l" t="t" r="r" b="b"/>
            <a:pathLst>
              <a:path w="2681808" h="2199082">
                <a:moveTo>
                  <a:pt x="0" y="0"/>
                </a:moveTo>
                <a:lnTo>
                  <a:pt x="2681808" y="0"/>
                </a:lnTo>
                <a:lnTo>
                  <a:pt x="2681808" y="2199083"/>
                </a:lnTo>
                <a:lnTo>
                  <a:pt x="0" y="21990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791612">
            <a:off x="10029128" y="4631486"/>
            <a:ext cx="5143500" cy="4114800"/>
          </a:xfrm>
          <a:custGeom>
            <a:avLst/>
            <a:gdLst/>
            <a:ahLst/>
            <a:cxnLst/>
            <a:rect l="l" t="t" r="r" b="b"/>
            <a:pathLst>
              <a:path w="5143500" h="4114800">
                <a:moveTo>
                  <a:pt x="0" y="0"/>
                </a:moveTo>
                <a:lnTo>
                  <a:pt x="5143500" y="0"/>
                </a:lnTo>
                <a:lnTo>
                  <a:pt x="51435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64611">
            <a:off x="2978344" y="3585682"/>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947232" y="1526203"/>
            <a:ext cx="10082968"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Engagement Challenge</a:t>
            </a:r>
          </a:p>
        </p:txBody>
      </p:sp>
      <p:sp>
        <p:nvSpPr>
          <p:cNvPr id="6" name="TextBox 6"/>
          <p:cNvSpPr txBox="1"/>
          <p:nvPr/>
        </p:nvSpPr>
        <p:spPr>
          <a:xfrm>
            <a:off x="4514945" y="3490653"/>
            <a:ext cx="12393536" cy="4180840"/>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Each group receives a boring topic:</a:t>
            </a:r>
          </a:p>
          <a:p>
            <a:pPr marL="734059" lvl="1" indent="-367030" algn="l">
              <a:lnSpc>
                <a:spcPts val="4759"/>
              </a:lnSpc>
              <a:buFont typeface="Arial"/>
              <a:buChar char="•"/>
            </a:pPr>
            <a:r>
              <a:rPr lang="en-US" sz="3399">
                <a:solidFill>
                  <a:srgbClr val="000000"/>
                </a:solidFill>
                <a:latin typeface="Nunito"/>
                <a:ea typeface="Nunito"/>
                <a:cs typeface="Nunito"/>
                <a:sym typeface="Nunito"/>
              </a:rPr>
              <a:t>Taxes</a:t>
            </a:r>
          </a:p>
          <a:p>
            <a:pPr marL="734059" lvl="1" indent="-367030" algn="l">
              <a:lnSpc>
                <a:spcPts val="4759"/>
              </a:lnSpc>
              <a:buFont typeface="Arial"/>
              <a:buChar char="•"/>
            </a:pPr>
            <a:r>
              <a:rPr lang="en-US" sz="3399">
                <a:solidFill>
                  <a:srgbClr val="000000"/>
                </a:solidFill>
                <a:latin typeface="Nunito"/>
                <a:ea typeface="Nunito"/>
                <a:cs typeface="Nunito"/>
                <a:sym typeface="Nunito"/>
              </a:rPr>
              <a:t>Parking</a:t>
            </a:r>
          </a:p>
          <a:p>
            <a:pPr marL="734059" lvl="1" indent="-367030" algn="l">
              <a:lnSpc>
                <a:spcPts val="4759"/>
              </a:lnSpc>
              <a:buFont typeface="Arial"/>
              <a:buChar char="•"/>
            </a:pPr>
            <a:r>
              <a:rPr lang="en-US" sz="3399">
                <a:solidFill>
                  <a:srgbClr val="000000"/>
                </a:solidFill>
                <a:latin typeface="Nunito"/>
                <a:ea typeface="Nunito"/>
                <a:cs typeface="Nunito"/>
                <a:sym typeface="Nunito"/>
              </a:rPr>
              <a:t>Recycling</a:t>
            </a:r>
          </a:p>
          <a:p>
            <a:pPr marL="734059" lvl="1" indent="-367030" algn="l">
              <a:lnSpc>
                <a:spcPts val="4759"/>
              </a:lnSpc>
              <a:buFont typeface="Arial"/>
              <a:buChar char="•"/>
            </a:pPr>
            <a:r>
              <a:rPr lang="en-US" sz="3399">
                <a:solidFill>
                  <a:srgbClr val="000000"/>
                </a:solidFill>
                <a:latin typeface="Nunito"/>
                <a:ea typeface="Nunito"/>
                <a:cs typeface="Nunito"/>
                <a:sym typeface="Nunito"/>
              </a:rPr>
              <a:t>Insurance</a:t>
            </a:r>
          </a:p>
          <a:p>
            <a:pPr algn="l">
              <a:lnSpc>
                <a:spcPts val="4759"/>
              </a:lnSpc>
            </a:pPr>
            <a:r>
              <a:rPr lang="en-US" sz="3399">
                <a:solidFill>
                  <a:srgbClr val="000000"/>
                </a:solidFill>
                <a:latin typeface="Nunito"/>
                <a:ea typeface="Nunito"/>
                <a:cs typeface="Nunito"/>
                <a:sym typeface="Nunito"/>
              </a:rPr>
              <a:t>Make it interactive.</a:t>
            </a:r>
          </a:p>
          <a:p>
            <a:pPr algn="l">
              <a:lnSpc>
                <a:spcPts val="4759"/>
              </a:lnSpc>
            </a:pPr>
            <a:endParaRPr lang="en-US" sz="3399">
              <a:solidFill>
                <a:srgbClr val="000000"/>
              </a:solidFill>
              <a:latin typeface="Nunito"/>
              <a:ea typeface="Nunito"/>
              <a:cs typeface="Nunito"/>
              <a:sym typeface="Nunito"/>
            </a:endParaRPr>
          </a:p>
        </p:txBody>
      </p:sp>
      <p:sp>
        <p:nvSpPr>
          <p:cNvPr id="7" name="Freeform 7"/>
          <p:cNvSpPr/>
          <p:nvPr/>
        </p:nvSpPr>
        <p:spPr>
          <a:xfrm rot="-564611">
            <a:off x="2978344" y="6802809"/>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3133382" y="1820382"/>
            <a:ext cx="3592129" cy="4327866"/>
          </a:xfrm>
          <a:custGeom>
            <a:avLst/>
            <a:gdLst/>
            <a:ahLst/>
            <a:cxnLst/>
            <a:rect l="l" t="t" r="r" b="b"/>
            <a:pathLst>
              <a:path w="3592129" h="4327866">
                <a:moveTo>
                  <a:pt x="0" y="0"/>
                </a:moveTo>
                <a:lnTo>
                  <a:pt x="3592128" y="0"/>
                </a:lnTo>
                <a:lnTo>
                  <a:pt x="3592128" y="4327866"/>
                </a:lnTo>
                <a:lnTo>
                  <a:pt x="0" y="43278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563452" y="6557180"/>
            <a:ext cx="1877377" cy="2057400"/>
          </a:xfrm>
          <a:custGeom>
            <a:avLst/>
            <a:gdLst/>
            <a:ahLst/>
            <a:cxnLst/>
            <a:rect l="l" t="t" r="r" b="b"/>
            <a:pathLst>
              <a:path w="1877377" h="2057400">
                <a:moveTo>
                  <a:pt x="0" y="0"/>
                </a:moveTo>
                <a:lnTo>
                  <a:pt x="1877377" y="0"/>
                </a:lnTo>
                <a:lnTo>
                  <a:pt x="1877377"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752104">
            <a:off x="1555784" y="3686407"/>
            <a:ext cx="456234" cy="1200615"/>
          </a:xfrm>
          <a:custGeom>
            <a:avLst/>
            <a:gdLst/>
            <a:ahLst/>
            <a:cxnLst/>
            <a:rect l="l" t="t" r="r" b="b"/>
            <a:pathLst>
              <a:path w="456234" h="1200615">
                <a:moveTo>
                  <a:pt x="0" y="0"/>
                </a:moveTo>
                <a:lnTo>
                  <a:pt x="456233" y="0"/>
                </a:lnTo>
                <a:lnTo>
                  <a:pt x="456233"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486170" y="3663145"/>
            <a:ext cx="9512540" cy="4180840"/>
          </a:xfrm>
          <a:prstGeom prst="rect">
            <a:avLst/>
          </a:prstGeom>
        </p:spPr>
        <p:txBody>
          <a:bodyPr lIns="0" tIns="0" rIns="0" bIns="0" rtlCol="0" anchor="t">
            <a:spAutoFit/>
          </a:bodyPr>
          <a:lstStyle/>
          <a:p>
            <a:pPr marL="734059" lvl="1" indent="-367030" algn="l">
              <a:lnSpc>
                <a:spcPts val="4759"/>
              </a:lnSpc>
              <a:buAutoNum type="arabicPeriod"/>
            </a:pPr>
            <a:r>
              <a:rPr lang="en-US" sz="3399">
                <a:solidFill>
                  <a:srgbClr val="000000"/>
                </a:solidFill>
                <a:latin typeface="Nunito"/>
                <a:ea typeface="Nunito"/>
                <a:cs typeface="Nunito"/>
                <a:sym typeface="Nunito"/>
              </a:rPr>
              <a:t>Positive</a:t>
            </a:r>
          </a:p>
          <a:p>
            <a:pPr algn="l">
              <a:lnSpc>
                <a:spcPts val="4759"/>
              </a:lnSpc>
            </a:pPr>
            <a:r>
              <a:rPr lang="en-US" sz="3399">
                <a:solidFill>
                  <a:srgbClr val="000000"/>
                </a:solidFill>
                <a:latin typeface="Nunito"/>
                <a:ea typeface="Nunito"/>
                <a:cs typeface="Nunito"/>
                <a:sym typeface="Nunito"/>
              </a:rPr>
              <a:t>Your introduction was strong.</a:t>
            </a:r>
          </a:p>
          <a:p>
            <a:pPr marL="734059" lvl="1" indent="-367030" algn="l">
              <a:lnSpc>
                <a:spcPts val="4759"/>
              </a:lnSpc>
              <a:buAutoNum type="arabicPeriod"/>
            </a:pPr>
            <a:r>
              <a:rPr lang="en-US" sz="3399">
                <a:solidFill>
                  <a:srgbClr val="000000"/>
                </a:solidFill>
                <a:latin typeface="Nunito"/>
                <a:ea typeface="Nunito"/>
                <a:cs typeface="Nunito"/>
                <a:sym typeface="Nunito"/>
              </a:rPr>
              <a:t>Suggestion</a:t>
            </a:r>
          </a:p>
          <a:p>
            <a:pPr algn="l">
              <a:lnSpc>
                <a:spcPts val="4759"/>
              </a:lnSpc>
            </a:pPr>
            <a:r>
              <a:rPr lang="en-US" sz="3399">
                <a:solidFill>
                  <a:srgbClr val="000000"/>
                </a:solidFill>
                <a:latin typeface="Nunito"/>
                <a:ea typeface="Nunito"/>
                <a:cs typeface="Nunito"/>
                <a:sym typeface="Nunito"/>
              </a:rPr>
              <a:t>Consider reducing text.</a:t>
            </a:r>
          </a:p>
          <a:p>
            <a:pPr marL="734059" lvl="1" indent="-367030" algn="l">
              <a:lnSpc>
                <a:spcPts val="4759"/>
              </a:lnSpc>
              <a:buAutoNum type="arabicPeriod"/>
            </a:pPr>
            <a:r>
              <a:rPr lang="en-US" sz="3399">
                <a:solidFill>
                  <a:srgbClr val="000000"/>
                </a:solidFill>
                <a:latin typeface="Nunito"/>
                <a:ea typeface="Nunito"/>
                <a:cs typeface="Nunito"/>
                <a:sym typeface="Nunito"/>
              </a:rPr>
              <a:t>Positive</a:t>
            </a:r>
          </a:p>
          <a:p>
            <a:pPr algn="l">
              <a:lnSpc>
                <a:spcPts val="4759"/>
              </a:lnSpc>
            </a:pPr>
            <a:r>
              <a:rPr lang="en-US" sz="3399">
                <a:solidFill>
                  <a:srgbClr val="000000"/>
                </a:solidFill>
                <a:latin typeface="Nunito"/>
                <a:ea typeface="Nunito"/>
                <a:cs typeface="Nunito"/>
                <a:sym typeface="Nunito"/>
              </a:rPr>
              <a:t>Your conclusion was memorable.</a:t>
            </a:r>
          </a:p>
          <a:p>
            <a:pPr algn="l">
              <a:lnSpc>
                <a:spcPts val="4759"/>
              </a:lnSpc>
            </a:pPr>
            <a:endParaRPr lang="en-US" sz="3399">
              <a:solidFill>
                <a:srgbClr val="000000"/>
              </a:solidFill>
              <a:latin typeface="Nunito"/>
              <a:ea typeface="Nunito"/>
              <a:cs typeface="Nunito"/>
              <a:sym typeface="Nunito"/>
            </a:endParaRPr>
          </a:p>
        </p:txBody>
      </p:sp>
      <p:sp>
        <p:nvSpPr>
          <p:cNvPr id="6" name="TextBox 6"/>
          <p:cNvSpPr txBox="1"/>
          <p:nvPr/>
        </p:nvSpPr>
        <p:spPr>
          <a:xfrm>
            <a:off x="826350" y="933450"/>
            <a:ext cx="12051450" cy="1811020"/>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PEER ACTIVITIES &amp; FEEDBACK</a:t>
            </a:r>
          </a:p>
          <a:p>
            <a:pPr algn="l">
              <a:lnSpc>
                <a:spcPts val="7279"/>
              </a:lnSpc>
            </a:pPr>
            <a:r>
              <a:rPr lang="en-US" sz="5199" dirty="0">
                <a:solidFill>
                  <a:srgbClr val="000000"/>
                </a:solidFill>
                <a:latin typeface="Fredoka"/>
                <a:ea typeface="Fredoka"/>
                <a:cs typeface="Fredoka"/>
                <a:sym typeface="Fredoka"/>
              </a:rPr>
              <a:t>The Sandwich Method</a:t>
            </a:r>
          </a:p>
        </p:txBody>
      </p:sp>
      <p:sp>
        <p:nvSpPr>
          <p:cNvPr id="7" name="Freeform 7"/>
          <p:cNvSpPr/>
          <p:nvPr/>
        </p:nvSpPr>
        <p:spPr>
          <a:xfrm rot="1752104">
            <a:off x="1555784" y="5399978"/>
            <a:ext cx="456234" cy="1200615"/>
          </a:xfrm>
          <a:custGeom>
            <a:avLst/>
            <a:gdLst/>
            <a:ahLst/>
            <a:cxnLst/>
            <a:rect l="l" t="t" r="r" b="b"/>
            <a:pathLst>
              <a:path w="456234" h="1200615">
                <a:moveTo>
                  <a:pt x="0" y="0"/>
                </a:moveTo>
                <a:lnTo>
                  <a:pt x="456233" y="0"/>
                </a:lnTo>
                <a:lnTo>
                  <a:pt x="456233"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239850" y="7957109"/>
            <a:ext cx="9512540" cy="1780540"/>
          </a:xfrm>
          <a:prstGeom prst="rect">
            <a:avLst/>
          </a:prstGeom>
        </p:spPr>
        <p:txBody>
          <a:bodyPr lIns="0" tIns="0" rIns="0" bIns="0" rtlCol="0" anchor="t">
            <a:spAutoFit/>
          </a:bodyPr>
          <a:lstStyle/>
          <a:p>
            <a:pPr marL="734059" lvl="1" indent="-367030" algn="l">
              <a:lnSpc>
                <a:spcPts val="4759"/>
              </a:lnSpc>
              <a:buAutoNum type="arabicPeriod"/>
            </a:pPr>
            <a:r>
              <a:rPr lang="en-US" sz="3399">
                <a:solidFill>
                  <a:srgbClr val="000000"/>
                </a:solidFill>
                <a:latin typeface="Nunito"/>
                <a:ea typeface="Nunito"/>
                <a:cs typeface="Nunito"/>
                <a:sym typeface="Nunito"/>
              </a:rPr>
              <a:t>Students present for 2 minutes.</a:t>
            </a:r>
          </a:p>
          <a:p>
            <a:pPr marL="734059" lvl="1" indent="-367030" algn="l">
              <a:lnSpc>
                <a:spcPts val="4759"/>
              </a:lnSpc>
              <a:buAutoNum type="arabicPeriod"/>
            </a:pPr>
            <a:r>
              <a:rPr lang="en-US" sz="3399">
                <a:solidFill>
                  <a:srgbClr val="000000"/>
                </a:solidFill>
                <a:latin typeface="Nunito"/>
                <a:ea typeface="Nunito"/>
                <a:cs typeface="Nunito"/>
                <a:sym typeface="Nunito"/>
              </a:rPr>
              <a:t>Peers provide feedback.</a:t>
            </a:r>
          </a:p>
          <a:p>
            <a:pPr algn="l">
              <a:lnSpc>
                <a:spcPts val="4759"/>
              </a:lnSpc>
            </a:pPr>
            <a:endParaRPr lang="en-US" sz="3399">
              <a:solidFill>
                <a:srgbClr val="000000"/>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359644">
            <a:off x="15699865" y="339932"/>
            <a:ext cx="2228334" cy="2314258"/>
          </a:xfrm>
          <a:custGeom>
            <a:avLst/>
            <a:gdLst/>
            <a:ahLst/>
            <a:cxnLst/>
            <a:rect l="l" t="t" r="r" b="b"/>
            <a:pathLst>
              <a:path w="2228334" h="2314258">
                <a:moveTo>
                  <a:pt x="0" y="0"/>
                </a:moveTo>
                <a:lnTo>
                  <a:pt x="2228335" y="0"/>
                </a:lnTo>
                <a:lnTo>
                  <a:pt x="2228335" y="2314257"/>
                </a:lnTo>
                <a:lnTo>
                  <a:pt x="0" y="23142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938392">
            <a:off x="1911502" y="6313754"/>
            <a:ext cx="2071460" cy="2266253"/>
          </a:xfrm>
          <a:custGeom>
            <a:avLst/>
            <a:gdLst/>
            <a:ahLst/>
            <a:cxnLst/>
            <a:rect l="l" t="t" r="r" b="b"/>
            <a:pathLst>
              <a:path w="2071460" h="2266253">
                <a:moveTo>
                  <a:pt x="0" y="0"/>
                </a:moveTo>
                <a:lnTo>
                  <a:pt x="2071460" y="0"/>
                </a:lnTo>
                <a:lnTo>
                  <a:pt x="2071460" y="2266253"/>
                </a:lnTo>
                <a:lnTo>
                  <a:pt x="0" y="22662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250094" y="1193158"/>
            <a:ext cx="10740330" cy="88709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Fredoka"/>
                <a:ea typeface="Fredoka"/>
                <a:cs typeface="Fredoka"/>
                <a:sym typeface="Fredoka"/>
              </a:rPr>
              <a:t>Powerful Opening Techniques</a:t>
            </a:r>
          </a:p>
        </p:txBody>
      </p:sp>
      <p:sp>
        <p:nvSpPr>
          <p:cNvPr id="5" name="TextBox 5"/>
          <p:cNvSpPr txBox="1"/>
          <p:nvPr/>
        </p:nvSpPr>
        <p:spPr>
          <a:xfrm>
            <a:off x="5596078" y="3838575"/>
            <a:ext cx="12393536" cy="5981065"/>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Startling Statistic</a:t>
            </a:r>
          </a:p>
          <a:p>
            <a:pPr algn="l">
              <a:lnSpc>
                <a:spcPts val="4759"/>
              </a:lnSpc>
            </a:pPr>
            <a:r>
              <a:rPr lang="en-US" sz="3399" dirty="0">
                <a:solidFill>
                  <a:srgbClr val="000000"/>
                </a:solidFill>
                <a:latin typeface="Nunito"/>
                <a:ea typeface="Nunito"/>
                <a:cs typeface="Nunito"/>
                <a:sym typeface="Nunito"/>
              </a:rPr>
              <a:t>"The average person checks their phone 96 times per day."</a:t>
            </a:r>
          </a:p>
          <a:p>
            <a:pPr algn="l">
              <a:lnSpc>
                <a:spcPts val="4759"/>
              </a:lnSpc>
            </a:pPr>
            <a:r>
              <a:rPr lang="en-US" sz="3399" dirty="0">
                <a:solidFill>
                  <a:srgbClr val="000000"/>
                </a:solidFill>
                <a:latin typeface="Nunito"/>
                <a:ea typeface="Nunito"/>
                <a:cs typeface="Nunito"/>
                <a:sym typeface="Nunito"/>
              </a:rPr>
              <a:t>Question</a:t>
            </a:r>
          </a:p>
          <a:p>
            <a:pPr algn="l">
              <a:lnSpc>
                <a:spcPts val="4759"/>
              </a:lnSpc>
            </a:pPr>
            <a:r>
              <a:rPr lang="en-US" sz="3399" dirty="0">
                <a:solidFill>
                  <a:srgbClr val="000000"/>
                </a:solidFill>
                <a:latin typeface="Nunito"/>
                <a:ea typeface="Nunito"/>
                <a:cs typeface="Nunito"/>
                <a:sym typeface="Nunito"/>
              </a:rPr>
              <a:t>"What would happen if the internet disappeared tomorrow?"</a:t>
            </a:r>
          </a:p>
          <a:p>
            <a:pPr algn="l">
              <a:lnSpc>
                <a:spcPts val="4759"/>
              </a:lnSpc>
            </a:pPr>
            <a:r>
              <a:rPr lang="en-US" sz="3399" dirty="0">
                <a:solidFill>
                  <a:srgbClr val="000000"/>
                </a:solidFill>
                <a:latin typeface="Nunito"/>
                <a:ea typeface="Nunito"/>
                <a:cs typeface="Nunito"/>
                <a:sym typeface="Nunito"/>
              </a:rPr>
              <a:t>Story</a:t>
            </a:r>
          </a:p>
          <a:p>
            <a:pPr algn="l">
              <a:lnSpc>
                <a:spcPts val="4759"/>
              </a:lnSpc>
            </a:pPr>
            <a:r>
              <a:rPr lang="en-US" sz="3399" dirty="0">
                <a:solidFill>
                  <a:srgbClr val="000000"/>
                </a:solidFill>
                <a:latin typeface="Nunito"/>
                <a:ea typeface="Nunito"/>
                <a:cs typeface="Nunito"/>
                <a:sym typeface="Nunito"/>
              </a:rPr>
              <a:t>Tell a short personal story.</a:t>
            </a:r>
          </a:p>
          <a:p>
            <a:pPr algn="l">
              <a:lnSpc>
                <a:spcPts val="4759"/>
              </a:lnSpc>
            </a:pPr>
            <a:r>
              <a:rPr lang="en-US" sz="3399" dirty="0">
                <a:solidFill>
                  <a:srgbClr val="000000"/>
                </a:solidFill>
                <a:latin typeface="Nunito"/>
                <a:ea typeface="Nunito"/>
                <a:cs typeface="Nunito"/>
                <a:sym typeface="Nunito"/>
              </a:rPr>
              <a:t>Quote</a:t>
            </a:r>
          </a:p>
          <a:p>
            <a:pPr algn="l">
              <a:lnSpc>
                <a:spcPts val="4759"/>
              </a:lnSpc>
            </a:pPr>
            <a:r>
              <a:rPr lang="en-US" sz="3399" dirty="0">
                <a:solidFill>
                  <a:srgbClr val="000000"/>
                </a:solidFill>
                <a:latin typeface="Nunito"/>
                <a:ea typeface="Nunito"/>
                <a:cs typeface="Nunito"/>
                <a:sym typeface="Nunito"/>
              </a:rPr>
              <a:t>Use a relevant quotation.</a:t>
            </a:r>
          </a:p>
          <a:p>
            <a:pPr algn="l">
              <a:lnSpc>
                <a:spcPts val="4759"/>
              </a:lnSpc>
            </a:pPr>
            <a:r>
              <a:rPr lang="en-US" sz="3399" dirty="0">
                <a:solidFill>
                  <a:srgbClr val="000000"/>
                </a:solidFill>
                <a:latin typeface="Nunito"/>
                <a:ea typeface="Nunito"/>
                <a:cs typeface="Nunito"/>
                <a:sym typeface="Nunito"/>
              </a:rPr>
              <a:t>Demonstration</a:t>
            </a:r>
          </a:p>
          <a:p>
            <a:pPr algn="l">
              <a:lnSpc>
                <a:spcPts val="4759"/>
              </a:lnSpc>
            </a:pPr>
            <a:r>
              <a:rPr lang="en-US" sz="3399" dirty="0">
                <a:solidFill>
                  <a:srgbClr val="000000"/>
                </a:solidFill>
                <a:latin typeface="Nunito"/>
                <a:ea typeface="Nunito"/>
                <a:cs typeface="Nunito"/>
                <a:sym typeface="Nunito"/>
              </a:rPr>
              <a:t>Show an object or image.</a:t>
            </a:r>
          </a:p>
        </p:txBody>
      </p:sp>
      <p:sp>
        <p:nvSpPr>
          <p:cNvPr id="6" name="Freeform 6"/>
          <p:cNvSpPr/>
          <p:nvPr/>
        </p:nvSpPr>
        <p:spPr>
          <a:xfrm>
            <a:off x="4378063" y="3905250"/>
            <a:ext cx="608240" cy="610529"/>
          </a:xfrm>
          <a:custGeom>
            <a:avLst/>
            <a:gdLst/>
            <a:ahLst/>
            <a:cxnLst/>
            <a:rect l="l" t="t" r="r" b="b"/>
            <a:pathLst>
              <a:path w="608240" h="610529">
                <a:moveTo>
                  <a:pt x="0" y="0"/>
                </a:moveTo>
                <a:lnTo>
                  <a:pt x="608240" y="0"/>
                </a:lnTo>
                <a:lnTo>
                  <a:pt x="608240" y="610529"/>
                </a:lnTo>
                <a:lnTo>
                  <a:pt x="0" y="610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378063" y="6076485"/>
            <a:ext cx="608240" cy="610529"/>
          </a:xfrm>
          <a:custGeom>
            <a:avLst/>
            <a:gdLst/>
            <a:ahLst/>
            <a:cxnLst/>
            <a:rect l="l" t="t" r="r" b="b"/>
            <a:pathLst>
              <a:path w="608240" h="610529">
                <a:moveTo>
                  <a:pt x="0" y="0"/>
                </a:moveTo>
                <a:lnTo>
                  <a:pt x="608240" y="0"/>
                </a:lnTo>
                <a:lnTo>
                  <a:pt x="608240" y="610530"/>
                </a:lnTo>
                <a:lnTo>
                  <a:pt x="0" y="6105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4423470" y="7446881"/>
            <a:ext cx="608240" cy="610529"/>
          </a:xfrm>
          <a:custGeom>
            <a:avLst/>
            <a:gdLst/>
            <a:ahLst/>
            <a:cxnLst/>
            <a:rect l="l" t="t" r="r" b="b"/>
            <a:pathLst>
              <a:path w="608240" h="610529">
                <a:moveTo>
                  <a:pt x="0" y="0"/>
                </a:moveTo>
                <a:lnTo>
                  <a:pt x="608239" y="0"/>
                </a:lnTo>
                <a:lnTo>
                  <a:pt x="608239" y="610529"/>
                </a:lnTo>
                <a:lnTo>
                  <a:pt x="0" y="610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4423470" y="4990868"/>
            <a:ext cx="608240" cy="610529"/>
          </a:xfrm>
          <a:custGeom>
            <a:avLst/>
            <a:gdLst/>
            <a:ahLst/>
            <a:cxnLst/>
            <a:rect l="l" t="t" r="r" b="b"/>
            <a:pathLst>
              <a:path w="608240" h="610529">
                <a:moveTo>
                  <a:pt x="0" y="0"/>
                </a:moveTo>
                <a:lnTo>
                  <a:pt x="608239" y="0"/>
                </a:lnTo>
                <a:lnTo>
                  <a:pt x="608239" y="610529"/>
                </a:lnTo>
                <a:lnTo>
                  <a:pt x="0" y="610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4423470" y="8512011"/>
            <a:ext cx="608240" cy="610529"/>
          </a:xfrm>
          <a:custGeom>
            <a:avLst/>
            <a:gdLst/>
            <a:ahLst/>
            <a:cxnLst/>
            <a:rect l="l" t="t" r="r" b="b"/>
            <a:pathLst>
              <a:path w="608240" h="610529">
                <a:moveTo>
                  <a:pt x="0" y="0"/>
                </a:moveTo>
                <a:lnTo>
                  <a:pt x="608239" y="0"/>
                </a:lnTo>
                <a:lnTo>
                  <a:pt x="608239" y="610529"/>
                </a:lnTo>
                <a:lnTo>
                  <a:pt x="0" y="61052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p:cTn id="12"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p:cTn id="19"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5">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 calcmode="lin" valueType="num">
                                      <p:cBhvr>
                                        <p:cTn id="24"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p:cTn id="31"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5">
                                            <p:txEl>
                                              <p:pRg st="4" end="4"/>
                                            </p:txEl>
                                          </p:spTgt>
                                        </p:tgtEl>
                                      </p:cBhvr>
                                    </p:animEffect>
                                  </p:childTnLst>
                                </p:cTn>
                              </p:par>
                              <p:par>
                                <p:cTn id="34" presetID="53" presetClass="entr" presetSubtype="16" fill="hold" nodeType="with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 calcmode="lin" valueType="num">
                                      <p:cBhvr>
                                        <p:cTn id="36"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p:cTn id="43" dur="500" fill="hold"/>
                                        <p:tgtEl>
                                          <p:spTgt spid="5">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5">
                                            <p:txEl>
                                              <p:pRg st="6" end="6"/>
                                            </p:txEl>
                                          </p:spTgt>
                                        </p:tgtEl>
                                      </p:cBhvr>
                                    </p:animEffect>
                                  </p:childTnLst>
                                </p:cTn>
                              </p:par>
                              <p:par>
                                <p:cTn id="46" presetID="53" presetClass="entr" presetSubtype="16" fill="hold" nodeType="withEffect">
                                  <p:stCondLst>
                                    <p:cond delay="0"/>
                                  </p:stCondLst>
                                  <p:childTnLst>
                                    <p:set>
                                      <p:cBhvr>
                                        <p:cTn id="47" dur="1" fill="hold">
                                          <p:stCondLst>
                                            <p:cond delay="0"/>
                                          </p:stCondLst>
                                        </p:cTn>
                                        <p:tgtEl>
                                          <p:spTgt spid="5">
                                            <p:txEl>
                                              <p:pRg st="7" end="7"/>
                                            </p:txEl>
                                          </p:spTgt>
                                        </p:tgtEl>
                                        <p:attrNameLst>
                                          <p:attrName>style.visibility</p:attrName>
                                        </p:attrNameLst>
                                      </p:cBhvr>
                                      <p:to>
                                        <p:strVal val="visible"/>
                                      </p:to>
                                    </p:set>
                                    <p:anim calcmode="lin" valueType="num">
                                      <p:cBhvr>
                                        <p:cTn id="48" dur="500" fill="hold"/>
                                        <p:tgtEl>
                                          <p:spTgt spid="5">
                                            <p:txEl>
                                              <p:pRg st="7" end="7"/>
                                            </p:txEl>
                                          </p:spTgt>
                                        </p:tgtEl>
                                        <p:attrNameLst>
                                          <p:attrName>ppt_w</p:attrName>
                                        </p:attrNameLst>
                                      </p:cBhvr>
                                      <p:tavLst>
                                        <p:tav tm="0">
                                          <p:val>
                                            <p:fltVal val="0"/>
                                          </p:val>
                                        </p:tav>
                                        <p:tav tm="100000">
                                          <p:val>
                                            <p:strVal val="#ppt_w"/>
                                          </p:val>
                                        </p:tav>
                                      </p:tavLst>
                                    </p:anim>
                                    <p:anim calcmode="lin" valueType="num">
                                      <p:cBhvr>
                                        <p:cTn id="49" dur="500" fill="hold"/>
                                        <p:tgtEl>
                                          <p:spTgt spid="5">
                                            <p:txEl>
                                              <p:pRg st="7" end="7"/>
                                            </p:txEl>
                                          </p:spTgt>
                                        </p:tgtEl>
                                        <p:attrNameLst>
                                          <p:attrName>ppt_h</p:attrName>
                                        </p:attrNameLst>
                                      </p:cBhvr>
                                      <p:tavLst>
                                        <p:tav tm="0">
                                          <p:val>
                                            <p:fltVal val="0"/>
                                          </p:val>
                                        </p:tav>
                                        <p:tav tm="100000">
                                          <p:val>
                                            <p:strVal val="#ppt_h"/>
                                          </p:val>
                                        </p:tav>
                                      </p:tavLst>
                                    </p:anim>
                                    <p:animEffect transition="in" filter="fade">
                                      <p:cBhvr>
                                        <p:cTn id="50" dur="500"/>
                                        <p:tgtEl>
                                          <p:spTgt spid="5">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p:cTn id="55"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57" dur="500"/>
                                        <p:tgtEl>
                                          <p:spTgt spid="5">
                                            <p:txEl>
                                              <p:pRg st="8" end="8"/>
                                            </p:txEl>
                                          </p:spTgt>
                                        </p:tgtEl>
                                      </p:cBhvr>
                                    </p:animEffect>
                                  </p:childTnLst>
                                </p:cTn>
                              </p:par>
                              <p:par>
                                <p:cTn id="58" presetID="53" presetClass="entr" presetSubtype="16" fill="hold" nodeType="withEffect">
                                  <p:stCondLst>
                                    <p:cond delay="0"/>
                                  </p:stCondLst>
                                  <p:childTnLst>
                                    <p:set>
                                      <p:cBhvr>
                                        <p:cTn id="59" dur="1" fill="hold">
                                          <p:stCondLst>
                                            <p:cond delay="0"/>
                                          </p:stCondLst>
                                        </p:cTn>
                                        <p:tgtEl>
                                          <p:spTgt spid="5">
                                            <p:txEl>
                                              <p:pRg st="9" end="9"/>
                                            </p:txEl>
                                          </p:spTgt>
                                        </p:tgtEl>
                                        <p:attrNameLst>
                                          <p:attrName>style.visibility</p:attrName>
                                        </p:attrNameLst>
                                      </p:cBhvr>
                                      <p:to>
                                        <p:strVal val="visible"/>
                                      </p:to>
                                    </p:set>
                                    <p:anim calcmode="lin" valueType="num">
                                      <p:cBhvr>
                                        <p:cTn id="60" dur="500" fill="hold"/>
                                        <p:tgtEl>
                                          <p:spTgt spid="5">
                                            <p:txEl>
                                              <p:pRg st="9" end="9"/>
                                            </p:txEl>
                                          </p:spTgt>
                                        </p:tgtEl>
                                        <p:attrNameLst>
                                          <p:attrName>ppt_w</p:attrName>
                                        </p:attrNameLst>
                                      </p:cBhvr>
                                      <p:tavLst>
                                        <p:tav tm="0">
                                          <p:val>
                                            <p:fltVal val="0"/>
                                          </p:val>
                                        </p:tav>
                                        <p:tav tm="100000">
                                          <p:val>
                                            <p:strVal val="#ppt_w"/>
                                          </p:val>
                                        </p:tav>
                                      </p:tavLst>
                                    </p:anim>
                                    <p:anim calcmode="lin" valueType="num">
                                      <p:cBhvr>
                                        <p:cTn id="61" dur="500" fill="hold"/>
                                        <p:tgtEl>
                                          <p:spTgt spid="5">
                                            <p:txEl>
                                              <p:pRg st="9" end="9"/>
                                            </p:txEl>
                                          </p:spTgt>
                                        </p:tgtEl>
                                        <p:attrNameLst>
                                          <p:attrName>ppt_h</p:attrName>
                                        </p:attrNameLst>
                                      </p:cBhvr>
                                      <p:tavLst>
                                        <p:tav tm="0">
                                          <p:val>
                                            <p:fltVal val="0"/>
                                          </p:val>
                                        </p:tav>
                                        <p:tav tm="100000">
                                          <p:val>
                                            <p:strVal val="#ppt_h"/>
                                          </p:val>
                                        </p:tav>
                                      </p:tavLst>
                                    </p:anim>
                                    <p:animEffect transition="in" filter="fade">
                                      <p:cBhvr>
                                        <p:cTn id="6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2783951" y="5641075"/>
            <a:ext cx="4475349" cy="2495007"/>
          </a:xfrm>
          <a:custGeom>
            <a:avLst/>
            <a:gdLst/>
            <a:ahLst/>
            <a:cxnLst/>
            <a:rect l="l" t="t" r="r" b="b"/>
            <a:pathLst>
              <a:path w="4475349" h="2495007">
                <a:moveTo>
                  <a:pt x="0" y="0"/>
                </a:moveTo>
                <a:lnTo>
                  <a:pt x="4475349" y="0"/>
                </a:lnTo>
                <a:lnTo>
                  <a:pt x="4475349" y="2495007"/>
                </a:lnTo>
                <a:lnTo>
                  <a:pt x="0" y="249500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68577">
            <a:off x="15489841" y="3869785"/>
            <a:ext cx="3538918" cy="2990385"/>
          </a:xfrm>
          <a:custGeom>
            <a:avLst/>
            <a:gdLst/>
            <a:ahLst/>
            <a:cxnLst/>
            <a:rect l="l" t="t" r="r" b="b"/>
            <a:pathLst>
              <a:path w="3538918" h="2990385">
                <a:moveTo>
                  <a:pt x="0" y="0"/>
                </a:moveTo>
                <a:lnTo>
                  <a:pt x="3538918" y="0"/>
                </a:lnTo>
                <a:lnTo>
                  <a:pt x="3538918" y="2990385"/>
                </a:lnTo>
                <a:lnTo>
                  <a:pt x="0" y="299038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486170" y="3663145"/>
            <a:ext cx="9512540" cy="1180465"/>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Groups create 5 openings for the same topic.</a:t>
            </a:r>
          </a:p>
          <a:p>
            <a:pPr algn="l">
              <a:lnSpc>
                <a:spcPts val="4759"/>
              </a:lnSpc>
            </a:pPr>
            <a:r>
              <a:rPr lang="en-US" sz="3399">
                <a:solidFill>
                  <a:srgbClr val="000000"/>
                </a:solidFill>
                <a:latin typeface="Nunito"/>
                <a:ea typeface="Nunito"/>
                <a:cs typeface="Nunito"/>
                <a:sym typeface="Nunito"/>
              </a:rPr>
              <a:t>Vote for the strongest.</a:t>
            </a:r>
          </a:p>
        </p:txBody>
      </p:sp>
      <p:sp>
        <p:nvSpPr>
          <p:cNvPr id="5" name="Freeform 5"/>
          <p:cNvSpPr/>
          <p:nvPr/>
        </p:nvSpPr>
        <p:spPr>
          <a:xfrm rot="1156708">
            <a:off x="1360749" y="3686407"/>
            <a:ext cx="672844" cy="1200615"/>
          </a:xfrm>
          <a:custGeom>
            <a:avLst/>
            <a:gdLst/>
            <a:ahLst/>
            <a:cxnLst/>
            <a:rect l="l" t="t" r="r" b="b"/>
            <a:pathLst>
              <a:path w="672844" h="1200615">
                <a:moveTo>
                  <a:pt x="0" y="0"/>
                </a:moveTo>
                <a:lnTo>
                  <a:pt x="672844" y="0"/>
                </a:lnTo>
                <a:lnTo>
                  <a:pt x="672844"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028700" y="1725132"/>
            <a:ext cx="2629614" cy="887095"/>
          </a:xfrm>
          <a:prstGeom prst="rect">
            <a:avLst/>
          </a:prstGeom>
        </p:spPr>
        <p:txBody>
          <a:bodyPr lIns="0" tIns="0" rIns="0" bIns="0" rtlCol="0" anchor="t">
            <a:spAutoFit/>
          </a:bodyPr>
          <a:lstStyle/>
          <a:p>
            <a:pPr algn="l">
              <a:lnSpc>
                <a:spcPts val="7279"/>
              </a:lnSpc>
            </a:pPr>
            <a:r>
              <a:rPr lang="en-US" sz="5199">
                <a:solidFill>
                  <a:srgbClr val="000000"/>
                </a:solidFill>
                <a:latin typeface="Fredoka"/>
                <a:ea typeface="Fredoka"/>
                <a:cs typeface="Fredoka"/>
                <a:sym typeface="Fredoka"/>
              </a:rPr>
              <a:t>Opening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649756">
            <a:off x="3709630" y="1657781"/>
            <a:ext cx="1592678" cy="1654090"/>
          </a:xfrm>
          <a:custGeom>
            <a:avLst/>
            <a:gdLst/>
            <a:ahLst/>
            <a:cxnLst/>
            <a:rect l="l" t="t" r="r" b="b"/>
            <a:pathLst>
              <a:path w="1592678" h="1654090">
                <a:moveTo>
                  <a:pt x="0" y="0"/>
                </a:moveTo>
                <a:lnTo>
                  <a:pt x="1592678" y="0"/>
                </a:lnTo>
                <a:lnTo>
                  <a:pt x="1592678" y="1654090"/>
                </a:lnTo>
                <a:lnTo>
                  <a:pt x="0" y="16540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706290" y="1711956"/>
            <a:ext cx="1398616" cy="1800542"/>
          </a:xfrm>
          <a:custGeom>
            <a:avLst/>
            <a:gdLst/>
            <a:ahLst/>
            <a:cxnLst/>
            <a:rect l="l" t="t" r="r" b="b"/>
            <a:pathLst>
              <a:path w="1398616" h="1800542">
                <a:moveTo>
                  <a:pt x="0" y="0"/>
                </a:moveTo>
                <a:lnTo>
                  <a:pt x="1398616" y="0"/>
                </a:lnTo>
                <a:lnTo>
                  <a:pt x="1398616" y="1800543"/>
                </a:lnTo>
                <a:lnTo>
                  <a:pt x="0" y="180054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151040">
            <a:off x="6223636" y="7662288"/>
            <a:ext cx="2276870" cy="2349491"/>
          </a:xfrm>
          <a:custGeom>
            <a:avLst/>
            <a:gdLst/>
            <a:ahLst/>
            <a:cxnLst/>
            <a:rect l="l" t="t" r="r" b="b"/>
            <a:pathLst>
              <a:path w="2276870" h="2349491">
                <a:moveTo>
                  <a:pt x="0" y="0"/>
                </a:moveTo>
                <a:lnTo>
                  <a:pt x="2276870" y="0"/>
                </a:lnTo>
                <a:lnTo>
                  <a:pt x="2276870" y="2349491"/>
                </a:lnTo>
                <a:lnTo>
                  <a:pt x="0" y="23494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2466441">
            <a:off x="1458028" y="8086781"/>
            <a:ext cx="518757" cy="1500505"/>
          </a:xfrm>
          <a:custGeom>
            <a:avLst/>
            <a:gdLst/>
            <a:ahLst/>
            <a:cxnLst/>
            <a:rect l="l" t="t" r="r" b="b"/>
            <a:pathLst>
              <a:path w="518757" h="1500505">
                <a:moveTo>
                  <a:pt x="0" y="0"/>
                </a:moveTo>
                <a:lnTo>
                  <a:pt x="518757" y="0"/>
                </a:lnTo>
                <a:lnTo>
                  <a:pt x="518757" y="1500505"/>
                </a:lnTo>
                <a:lnTo>
                  <a:pt x="0" y="15005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6528626" y="641741"/>
            <a:ext cx="1461349" cy="1483603"/>
          </a:xfrm>
          <a:custGeom>
            <a:avLst/>
            <a:gdLst/>
            <a:ahLst/>
            <a:cxnLst/>
            <a:rect l="l" t="t" r="r" b="b"/>
            <a:pathLst>
              <a:path w="1461349" h="1483603">
                <a:moveTo>
                  <a:pt x="0" y="0"/>
                </a:moveTo>
                <a:lnTo>
                  <a:pt x="1461348" y="0"/>
                </a:lnTo>
                <a:lnTo>
                  <a:pt x="1461348" y="1483603"/>
                </a:lnTo>
                <a:lnTo>
                  <a:pt x="0" y="1483603"/>
                </a:lnTo>
                <a:lnTo>
                  <a:pt x="0" y="0"/>
                </a:lnTo>
                <a:close/>
              </a:path>
            </a:pathLst>
          </a:custGeom>
          <a:blipFill>
            <a:blip r:embed="rId6"/>
            <a:stretch>
              <a:fillRect/>
            </a:stretch>
          </a:blipFill>
        </p:spPr>
      </p:sp>
      <p:sp>
        <p:nvSpPr>
          <p:cNvPr id="7" name="TextBox 7"/>
          <p:cNvSpPr txBox="1"/>
          <p:nvPr/>
        </p:nvSpPr>
        <p:spPr>
          <a:xfrm>
            <a:off x="5581710" y="2121055"/>
            <a:ext cx="7124581" cy="887095"/>
          </a:xfrm>
          <a:prstGeom prst="rect">
            <a:avLst/>
          </a:prstGeom>
        </p:spPr>
        <p:txBody>
          <a:bodyPr lIns="0" tIns="0" rIns="0" bIns="0" rtlCol="0" anchor="t">
            <a:spAutoFit/>
          </a:bodyPr>
          <a:lstStyle/>
          <a:p>
            <a:pPr algn="ctr">
              <a:lnSpc>
                <a:spcPts val="7279"/>
              </a:lnSpc>
            </a:pPr>
            <a:r>
              <a:rPr lang="en-US" sz="5199">
                <a:solidFill>
                  <a:srgbClr val="000000"/>
                </a:solidFill>
                <a:latin typeface="Fredoka"/>
                <a:ea typeface="Fredoka"/>
                <a:cs typeface="Fredoka"/>
                <a:sym typeface="Fredoka"/>
              </a:rPr>
              <a:t>EFFECTIVE CLOSINGS</a:t>
            </a:r>
          </a:p>
        </p:txBody>
      </p:sp>
      <p:sp>
        <p:nvSpPr>
          <p:cNvPr id="8" name="TextBox 8"/>
          <p:cNvSpPr txBox="1"/>
          <p:nvPr/>
        </p:nvSpPr>
        <p:spPr>
          <a:xfrm>
            <a:off x="654971" y="3867299"/>
            <a:ext cx="12393536" cy="4780915"/>
          </a:xfrm>
          <a:prstGeom prst="rect">
            <a:avLst/>
          </a:prstGeom>
        </p:spPr>
        <p:txBody>
          <a:bodyPr lIns="0" tIns="0" rIns="0" bIns="0" rtlCol="0" anchor="t">
            <a:spAutoFit/>
          </a:bodyPr>
          <a:lstStyle/>
          <a:p>
            <a:pPr marL="734059" lvl="1" indent="-367030" algn="l">
              <a:lnSpc>
                <a:spcPts val="4759"/>
              </a:lnSpc>
              <a:buFont typeface="Arial"/>
              <a:buChar char="•"/>
            </a:pPr>
            <a:r>
              <a:rPr lang="en-US" sz="3399" dirty="0">
                <a:solidFill>
                  <a:srgbClr val="222222"/>
                </a:solidFill>
                <a:latin typeface="Nunito"/>
                <a:ea typeface="Nunito"/>
                <a:cs typeface="Nunito"/>
                <a:sym typeface="Nunito"/>
              </a:rPr>
              <a:t>Weak Closing</a:t>
            </a:r>
          </a:p>
          <a:p>
            <a:pPr algn="l">
              <a:lnSpc>
                <a:spcPts val="4759"/>
              </a:lnSpc>
            </a:pPr>
            <a:r>
              <a:rPr lang="en-US" sz="3399" dirty="0">
                <a:solidFill>
                  <a:srgbClr val="222222"/>
                </a:solidFill>
                <a:latin typeface="Nunito"/>
                <a:ea typeface="Nunito"/>
                <a:cs typeface="Nunito"/>
                <a:sym typeface="Nunito"/>
              </a:rPr>
              <a:t>"That's all."</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Strong Closing</a:t>
            </a:r>
          </a:p>
          <a:p>
            <a:pPr algn="l">
              <a:lnSpc>
                <a:spcPts val="4759"/>
              </a:lnSpc>
            </a:pPr>
            <a:r>
              <a:rPr lang="en-US" sz="3399" dirty="0">
                <a:solidFill>
                  <a:srgbClr val="222222"/>
                </a:solidFill>
                <a:latin typeface="Nunito"/>
                <a:ea typeface="Nunito"/>
                <a:cs typeface="Nunito"/>
                <a:sym typeface="Nunito"/>
              </a:rPr>
              <a:t>Summary</a:t>
            </a:r>
          </a:p>
          <a:p>
            <a:pPr algn="l">
              <a:lnSpc>
                <a:spcPts val="4759"/>
              </a:lnSpc>
            </a:pPr>
            <a:r>
              <a:rPr lang="en-US" sz="3399" dirty="0">
                <a:solidFill>
                  <a:srgbClr val="222222"/>
                </a:solidFill>
                <a:latin typeface="Nunito"/>
                <a:ea typeface="Nunito"/>
                <a:cs typeface="Nunito"/>
                <a:sym typeface="Nunito"/>
              </a:rPr>
              <a:t>Today we've explored...</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Call to Action</a:t>
            </a:r>
          </a:p>
          <a:p>
            <a:pPr algn="l">
              <a:lnSpc>
                <a:spcPts val="4759"/>
              </a:lnSpc>
            </a:pPr>
            <a:r>
              <a:rPr lang="en-US" sz="3399" dirty="0">
                <a:solidFill>
                  <a:srgbClr val="222222"/>
                </a:solidFill>
                <a:latin typeface="Nunito"/>
                <a:ea typeface="Nunito"/>
                <a:cs typeface="Nunito"/>
                <a:sym typeface="Nunito"/>
              </a:rPr>
              <a:t>I encourage you to...</a:t>
            </a:r>
          </a:p>
          <a:p>
            <a:pPr algn="l">
              <a:lnSpc>
                <a:spcPts val="4759"/>
              </a:lnSpc>
            </a:pPr>
            <a:endParaRPr lang="en-US" sz="3399" dirty="0">
              <a:solidFill>
                <a:srgbClr val="222222"/>
              </a:solidFill>
              <a:latin typeface="Nunito"/>
              <a:ea typeface="Nunito"/>
              <a:cs typeface="Nunito"/>
              <a:sym typeface="Nunito"/>
            </a:endParaRPr>
          </a:p>
        </p:txBody>
      </p:sp>
      <p:sp>
        <p:nvSpPr>
          <p:cNvPr id="9" name="TextBox 9"/>
          <p:cNvSpPr txBox="1"/>
          <p:nvPr/>
        </p:nvSpPr>
        <p:spPr>
          <a:xfrm>
            <a:off x="8157545" y="4167337"/>
            <a:ext cx="12971811" cy="4180840"/>
          </a:xfrm>
          <a:prstGeom prst="rect">
            <a:avLst/>
          </a:prstGeom>
        </p:spPr>
        <p:txBody>
          <a:bodyPr lIns="0" tIns="0" rIns="0" bIns="0" rtlCol="0" anchor="t">
            <a:spAutoFit/>
          </a:bodyPr>
          <a:lstStyle/>
          <a:p>
            <a:pPr marL="734059" lvl="1" indent="-367030" algn="l">
              <a:lnSpc>
                <a:spcPts val="4759"/>
              </a:lnSpc>
              <a:buFont typeface="Arial"/>
              <a:buChar char="•"/>
            </a:pPr>
            <a:r>
              <a:rPr lang="en-US" sz="3399" dirty="0">
                <a:solidFill>
                  <a:srgbClr val="222222"/>
                </a:solidFill>
                <a:latin typeface="Nunito"/>
                <a:ea typeface="Nunito"/>
                <a:cs typeface="Nunito"/>
                <a:sym typeface="Nunito"/>
              </a:rPr>
              <a:t>Question</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What will you do differently tomorrow?</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Circular Closing</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Return to the opening story.</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Memorable Quote</a:t>
            </a:r>
          </a:p>
          <a:p>
            <a:pPr marL="734059" lvl="1" indent="-367030" algn="l">
              <a:lnSpc>
                <a:spcPts val="4759"/>
              </a:lnSpc>
              <a:buFont typeface="Arial"/>
              <a:buChar char="•"/>
            </a:pPr>
            <a:r>
              <a:rPr lang="en-US" sz="3399" dirty="0">
                <a:solidFill>
                  <a:srgbClr val="222222"/>
                </a:solidFill>
                <a:latin typeface="Nunito"/>
                <a:ea typeface="Nunito"/>
                <a:cs typeface="Nunito"/>
                <a:sym typeface="Nunito"/>
              </a:rPr>
              <a:t>End with impact.</a:t>
            </a:r>
          </a:p>
          <a:p>
            <a:pPr algn="l">
              <a:lnSpc>
                <a:spcPts val="4759"/>
              </a:lnSpc>
            </a:pPr>
            <a:endParaRPr lang="en-US" sz="3399" dirty="0">
              <a:solidFill>
                <a:srgbClr val="222222"/>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735056" flipH="1">
            <a:off x="13448046" y="7359633"/>
            <a:ext cx="3162347" cy="5308356"/>
          </a:xfrm>
          <a:custGeom>
            <a:avLst/>
            <a:gdLst/>
            <a:ahLst/>
            <a:cxnLst/>
            <a:rect l="l" t="t" r="r" b="b"/>
            <a:pathLst>
              <a:path w="3162347" h="5308356">
                <a:moveTo>
                  <a:pt x="3162347" y="0"/>
                </a:moveTo>
                <a:lnTo>
                  <a:pt x="0" y="0"/>
                </a:lnTo>
                <a:lnTo>
                  <a:pt x="0" y="5308355"/>
                </a:lnTo>
                <a:lnTo>
                  <a:pt x="3162347" y="5308355"/>
                </a:lnTo>
                <a:lnTo>
                  <a:pt x="316234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660077">
            <a:off x="5000897" y="558696"/>
            <a:ext cx="6107054" cy="2613310"/>
          </a:xfrm>
          <a:custGeom>
            <a:avLst/>
            <a:gdLst/>
            <a:ahLst/>
            <a:cxnLst/>
            <a:rect l="l" t="t" r="r" b="b"/>
            <a:pathLst>
              <a:path w="6107054" h="2613310">
                <a:moveTo>
                  <a:pt x="0" y="0"/>
                </a:moveTo>
                <a:lnTo>
                  <a:pt x="6107054" y="0"/>
                </a:lnTo>
                <a:lnTo>
                  <a:pt x="6107054" y="2613310"/>
                </a:lnTo>
                <a:lnTo>
                  <a:pt x="0" y="261331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6515810">
            <a:off x="15206249" y="2708825"/>
            <a:ext cx="646586" cy="1580544"/>
          </a:xfrm>
          <a:custGeom>
            <a:avLst/>
            <a:gdLst/>
            <a:ahLst/>
            <a:cxnLst/>
            <a:rect l="l" t="t" r="r" b="b"/>
            <a:pathLst>
              <a:path w="646586" h="1580544">
                <a:moveTo>
                  <a:pt x="0" y="0"/>
                </a:moveTo>
                <a:lnTo>
                  <a:pt x="646586" y="0"/>
                </a:lnTo>
                <a:lnTo>
                  <a:pt x="646586" y="1580544"/>
                </a:lnTo>
                <a:lnTo>
                  <a:pt x="0" y="15805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rot="-884940">
            <a:off x="5615376" y="898376"/>
            <a:ext cx="5089488" cy="1464945"/>
          </a:xfrm>
          <a:prstGeom prst="rect">
            <a:avLst/>
          </a:prstGeom>
        </p:spPr>
        <p:txBody>
          <a:bodyPr lIns="0" tIns="0" rIns="0" bIns="0" rtlCol="0" anchor="t">
            <a:spAutoFit/>
          </a:bodyPr>
          <a:lstStyle/>
          <a:p>
            <a:pPr algn="ctr">
              <a:lnSpc>
                <a:spcPts val="5880"/>
              </a:lnSpc>
            </a:pPr>
            <a:r>
              <a:rPr lang="en-US" sz="4200">
                <a:solidFill>
                  <a:srgbClr val="222222"/>
                </a:solidFill>
                <a:latin typeface="Fredoka"/>
                <a:ea typeface="Fredoka"/>
                <a:cs typeface="Fredoka"/>
                <a:sym typeface="Fredoka"/>
              </a:rPr>
              <a:t>FINAL TEAM PROJECT</a:t>
            </a:r>
          </a:p>
        </p:txBody>
      </p:sp>
      <p:sp>
        <p:nvSpPr>
          <p:cNvPr id="6" name="Freeform 6"/>
          <p:cNvSpPr/>
          <p:nvPr/>
        </p:nvSpPr>
        <p:spPr>
          <a:xfrm rot="-10800000" flipH="1">
            <a:off x="1252297" y="238428"/>
            <a:ext cx="646586" cy="1580544"/>
          </a:xfrm>
          <a:custGeom>
            <a:avLst/>
            <a:gdLst/>
            <a:ahLst/>
            <a:cxnLst/>
            <a:rect l="l" t="t" r="r" b="b"/>
            <a:pathLst>
              <a:path w="646586" h="1580544">
                <a:moveTo>
                  <a:pt x="646586" y="0"/>
                </a:moveTo>
                <a:lnTo>
                  <a:pt x="0" y="0"/>
                </a:lnTo>
                <a:lnTo>
                  <a:pt x="0" y="1580544"/>
                </a:lnTo>
                <a:lnTo>
                  <a:pt x="646586" y="1580544"/>
                </a:lnTo>
                <a:lnTo>
                  <a:pt x="646586"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52400" y="3617648"/>
            <a:ext cx="16985186" cy="5380990"/>
          </a:xfrm>
          <a:prstGeom prst="rect">
            <a:avLst/>
          </a:prstGeom>
        </p:spPr>
        <p:txBody>
          <a:bodyPr lIns="0" tIns="0" rIns="0" bIns="0" rtlCol="0" anchor="t">
            <a:spAutoFit/>
          </a:bodyPr>
          <a:lstStyle/>
          <a:p>
            <a:pPr algn="just">
              <a:lnSpc>
                <a:spcPts val="4759"/>
              </a:lnSpc>
            </a:pPr>
            <a:r>
              <a:rPr lang="en-US" sz="3399">
                <a:solidFill>
                  <a:srgbClr val="222222"/>
                </a:solidFill>
                <a:latin typeface="Canva Sans"/>
                <a:ea typeface="Canva Sans"/>
                <a:cs typeface="Canva Sans"/>
                <a:sym typeface="Canva Sans"/>
              </a:rPr>
              <a:t>Teams prepare a 5-minute presentation.</a:t>
            </a:r>
          </a:p>
          <a:p>
            <a:pPr algn="just">
              <a:lnSpc>
                <a:spcPts val="4759"/>
              </a:lnSpc>
            </a:pPr>
            <a:r>
              <a:rPr lang="en-US" sz="3399">
                <a:solidFill>
                  <a:srgbClr val="222222"/>
                </a:solidFill>
                <a:latin typeface="Canva Sans"/>
                <a:ea typeface="Canva Sans"/>
                <a:cs typeface="Canva Sans"/>
                <a:sym typeface="Canva Sans"/>
              </a:rPr>
              <a:t>Possible Topics:</a:t>
            </a:r>
          </a:p>
          <a:p>
            <a:pPr marL="734059" lvl="1" indent="-367030" algn="just">
              <a:lnSpc>
                <a:spcPts val="4759"/>
              </a:lnSpc>
              <a:buFont typeface="Arial"/>
              <a:buChar char="•"/>
            </a:pPr>
            <a:r>
              <a:rPr lang="en-US" sz="3399">
                <a:solidFill>
                  <a:srgbClr val="222222"/>
                </a:solidFill>
                <a:latin typeface="Canva Sans"/>
                <a:ea typeface="Canva Sans"/>
                <a:cs typeface="Canva Sans"/>
                <a:sym typeface="Canva Sans"/>
              </a:rPr>
              <a:t>AI and Education</a:t>
            </a:r>
          </a:p>
          <a:p>
            <a:pPr marL="734059" lvl="1" indent="-367030" algn="just">
              <a:lnSpc>
                <a:spcPts val="4759"/>
              </a:lnSpc>
              <a:buFont typeface="Arial"/>
              <a:buChar char="•"/>
            </a:pPr>
            <a:r>
              <a:rPr lang="en-US" sz="3399">
                <a:solidFill>
                  <a:srgbClr val="222222"/>
                </a:solidFill>
                <a:latin typeface="Canva Sans"/>
                <a:ea typeface="Canva Sans"/>
                <a:cs typeface="Canva Sans"/>
                <a:sym typeface="Canva Sans"/>
              </a:rPr>
              <a:t>The Future of Work</a:t>
            </a:r>
          </a:p>
          <a:p>
            <a:pPr marL="734059" lvl="1" indent="-367030" algn="just">
              <a:lnSpc>
                <a:spcPts val="4759"/>
              </a:lnSpc>
              <a:buFont typeface="Arial"/>
              <a:buChar char="•"/>
            </a:pPr>
            <a:r>
              <a:rPr lang="en-US" sz="3399">
                <a:solidFill>
                  <a:srgbClr val="222222"/>
                </a:solidFill>
                <a:latin typeface="Canva Sans"/>
                <a:ea typeface="Canva Sans"/>
                <a:cs typeface="Canva Sans"/>
                <a:sym typeface="Canva Sans"/>
              </a:rPr>
              <a:t>Space Tourism</a:t>
            </a:r>
          </a:p>
          <a:p>
            <a:pPr marL="734059" lvl="1" indent="-367030" algn="just">
              <a:lnSpc>
                <a:spcPts val="4759"/>
              </a:lnSpc>
              <a:buFont typeface="Arial"/>
              <a:buChar char="•"/>
            </a:pPr>
            <a:r>
              <a:rPr lang="en-US" sz="3399">
                <a:solidFill>
                  <a:srgbClr val="222222"/>
                </a:solidFill>
                <a:latin typeface="Canva Sans"/>
                <a:ea typeface="Canva Sans"/>
                <a:cs typeface="Canva Sans"/>
                <a:sym typeface="Canva Sans"/>
              </a:rPr>
              <a:t>Brain Rot</a:t>
            </a:r>
          </a:p>
          <a:p>
            <a:pPr marL="734059" lvl="1" indent="-367030" algn="just">
              <a:lnSpc>
                <a:spcPts val="4759"/>
              </a:lnSpc>
              <a:buFont typeface="Arial"/>
              <a:buChar char="•"/>
            </a:pPr>
            <a:r>
              <a:rPr lang="en-US" sz="3399">
                <a:solidFill>
                  <a:srgbClr val="222222"/>
                </a:solidFill>
                <a:latin typeface="Canva Sans"/>
                <a:ea typeface="Canva Sans"/>
                <a:cs typeface="Canva Sans"/>
                <a:sym typeface="Canva Sans"/>
              </a:rPr>
              <a:t>Climate Change</a:t>
            </a:r>
          </a:p>
          <a:p>
            <a:pPr algn="just">
              <a:lnSpc>
                <a:spcPts val="4759"/>
              </a:lnSpc>
            </a:pPr>
            <a:endParaRPr lang="en-US" sz="3399">
              <a:solidFill>
                <a:srgbClr val="222222"/>
              </a:solidFill>
              <a:latin typeface="Canva Sans"/>
              <a:ea typeface="Canva Sans"/>
              <a:cs typeface="Canva Sans"/>
              <a:sym typeface="Canva Sans"/>
            </a:endParaRPr>
          </a:p>
          <a:p>
            <a:pPr algn="just">
              <a:lnSpc>
                <a:spcPts val="4759"/>
              </a:lnSpc>
            </a:pPr>
            <a:endParaRPr lang="en-US" sz="3399">
              <a:solidFill>
                <a:srgbClr val="222222"/>
              </a:solidFill>
              <a:latin typeface="Canva Sans"/>
              <a:ea typeface="Canva Sans"/>
              <a:cs typeface="Canva Sans"/>
              <a:sym typeface="Canva Sans"/>
            </a:endParaRPr>
          </a:p>
        </p:txBody>
      </p:sp>
      <p:sp>
        <p:nvSpPr>
          <p:cNvPr id="8" name="TextBox 8"/>
          <p:cNvSpPr txBox="1"/>
          <p:nvPr/>
        </p:nvSpPr>
        <p:spPr>
          <a:xfrm>
            <a:off x="8766707" y="3617648"/>
            <a:ext cx="16985186" cy="6581140"/>
          </a:xfrm>
          <a:prstGeom prst="rect">
            <a:avLst/>
          </a:prstGeom>
        </p:spPr>
        <p:txBody>
          <a:bodyPr lIns="0" tIns="0" rIns="0" bIns="0" rtlCol="0" anchor="t">
            <a:spAutoFit/>
          </a:bodyPr>
          <a:lstStyle/>
          <a:p>
            <a:pPr algn="just">
              <a:lnSpc>
                <a:spcPts val="4759"/>
              </a:lnSpc>
            </a:pPr>
            <a:r>
              <a:rPr lang="en-US" sz="3399">
                <a:solidFill>
                  <a:srgbClr val="222222"/>
                </a:solidFill>
                <a:latin typeface="Canva Sans"/>
                <a:ea typeface="Canva Sans"/>
                <a:cs typeface="Canva Sans"/>
                <a:sym typeface="Canva Sans"/>
              </a:rPr>
              <a:t>Requirements</a:t>
            </a:r>
          </a:p>
          <a:p>
            <a:pPr algn="just">
              <a:lnSpc>
                <a:spcPts val="4759"/>
              </a:lnSpc>
            </a:pPr>
            <a:r>
              <a:rPr lang="en-US" sz="3399">
                <a:solidFill>
                  <a:srgbClr val="222222"/>
                </a:solidFill>
                <a:latin typeface="Canva Sans"/>
                <a:ea typeface="Canva Sans"/>
                <a:cs typeface="Canva Sans"/>
                <a:sym typeface="Canva Sans"/>
              </a:rPr>
              <a:t>Must include:</a:t>
            </a:r>
          </a:p>
          <a:p>
            <a:pPr algn="just">
              <a:lnSpc>
                <a:spcPts val="4759"/>
              </a:lnSpc>
            </a:pPr>
            <a:r>
              <a:rPr lang="en-US" sz="3399">
                <a:solidFill>
                  <a:srgbClr val="222222"/>
                </a:solidFill>
                <a:latin typeface="Canva Sans"/>
                <a:ea typeface="Canva Sans"/>
                <a:cs typeface="Canva Sans"/>
                <a:sym typeface="Canva Sans"/>
              </a:rPr>
              <a:t>✔ Agenda slide</a:t>
            </a:r>
          </a:p>
          <a:p>
            <a:pPr algn="just">
              <a:lnSpc>
                <a:spcPts val="4759"/>
              </a:lnSpc>
            </a:pPr>
            <a:r>
              <a:rPr lang="en-US" sz="3399">
                <a:solidFill>
                  <a:srgbClr val="222222"/>
                </a:solidFill>
                <a:latin typeface="Canva Sans"/>
                <a:ea typeface="Canva Sans"/>
                <a:cs typeface="Canva Sans"/>
                <a:sym typeface="Canva Sans"/>
              </a:rPr>
              <a:t>✔ Warm-up activity</a:t>
            </a:r>
          </a:p>
          <a:p>
            <a:pPr algn="just">
              <a:lnSpc>
                <a:spcPts val="4759"/>
              </a:lnSpc>
            </a:pPr>
            <a:r>
              <a:rPr lang="en-US" sz="3399">
                <a:solidFill>
                  <a:srgbClr val="222222"/>
                </a:solidFill>
                <a:latin typeface="Canva Sans"/>
                <a:ea typeface="Canva Sans"/>
                <a:cs typeface="Canva Sans"/>
                <a:sym typeface="Canva Sans"/>
              </a:rPr>
              <a:t>✔ Lighthouse technique</a:t>
            </a:r>
          </a:p>
          <a:p>
            <a:pPr algn="just">
              <a:lnSpc>
                <a:spcPts val="4759"/>
              </a:lnSpc>
            </a:pPr>
            <a:r>
              <a:rPr lang="en-US" sz="3399">
                <a:solidFill>
                  <a:srgbClr val="222222"/>
                </a:solidFill>
                <a:latin typeface="Canva Sans"/>
                <a:ea typeface="Canva Sans"/>
                <a:cs typeface="Canva Sans"/>
                <a:sym typeface="Canva Sans"/>
              </a:rPr>
              <a:t>✔ Visual aid</a:t>
            </a:r>
          </a:p>
          <a:p>
            <a:pPr algn="just">
              <a:lnSpc>
                <a:spcPts val="4759"/>
              </a:lnSpc>
            </a:pPr>
            <a:r>
              <a:rPr lang="en-US" sz="3399">
                <a:solidFill>
                  <a:srgbClr val="222222"/>
                </a:solidFill>
                <a:latin typeface="Canva Sans"/>
                <a:ea typeface="Canva Sans"/>
                <a:cs typeface="Canva Sans"/>
                <a:sym typeface="Canva Sans"/>
              </a:rPr>
              <a:t>✔ Audience participation</a:t>
            </a:r>
          </a:p>
          <a:p>
            <a:pPr algn="just">
              <a:lnSpc>
                <a:spcPts val="4759"/>
              </a:lnSpc>
            </a:pPr>
            <a:r>
              <a:rPr lang="en-US" sz="3399">
                <a:solidFill>
                  <a:srgbClr val="222222"/>
                </a:solidFill>
                <a:latin typeface="Canva Sans"/>
                <a:ea typeface="Canva Sans"/>
                <a:cs typeface="Canva Sans"/>
                <a:sym typeface="Canva Sans"/>
              </a:rPr>
              <a:t>✔ Peer interaction</a:t>
            </a:r>
          </a:p>
          <a:p>
            <a:pPr algn="just">
              <a:lnSpc>
                <a:spcPts val="4759"/>
              </a:lnSpc>
            </a:pPr>
            <a:r>
              <a:rPr lang="en-US" sz="3399">
                <a:solidFill>
                  <a:srgbClr val="222222"/>
                </a:solidFill>
                <a:latin typeface="Canva Sans"/>
                <a:ea typeface="Canva Sans"/>
                <a:cs typeface="Canva Sans"/>
                <a:sym typeface="Canva Sans"/>
              </a:rPr>
              <a:t>✔ Strong closing</a:t>
            </a:r>
          </a:p>
          <a:p>
            <a:pPr algn="just">
              <a:lnSpc>
                <a:spcPts val="4759"/>
              </a:lnSpc>
            </a:pPr>
            <a:r>
              <a:rPr lang="en-US" sz="3399">
                <a:solidFill>
                  <a:srgbClr val="222222"/>
                </a:solidFill>
                <a:latin typeface="Canva Sans"/>
                <a:ea typeface="Canva Sans"/>
                <a:cs typeface="Canva Sans"/>
                <a:sym typeface="Canva Sans"/>
              </a:rPr>
              <a:t>✔ Reference slide</a:t>
            </a:r>
          </a:p>
          <a:p>
            <a:pPr algn="just">
              <a:lnSpc>
                <a:spcPts val="4759"/>
              </a:lnSpc>
            </a:pPr>
            <a:endParaRPr lang="en-US" sz="3399">
              <a:solidFill>
                <a:srgbClr val="222222"/>
              </a:solidFill>
              <a:latin typeface="Canva Sans"/>
              <a:ea typeface="Canva Sans"/>
              <a:cs typeface="Canva Sans"/>
              <a:sym typeface="Canv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359644">
            <a:off x="14226601" y="3053386"/>
            <a:ext cx="2228334" cy="2314258"/>
          </a:xfrm>
          <a:custGeom>
            <a:avLst/>
            <a:gdLst/>
            <a:ahLst/>
            <a:cxnLst/>
            <a:rect l="l" t="t" r="r" b="b"/>
            <a:pathLst>
              <a:path w="2228334" h="2314258">
                <a:moveTo>
                  <a:pt x="0" y="0"/>
                </a:moveTo>
                <a:lnTo>
                  <a:pt x="2228334" y="0"/>
                </a:lnTo>
                <a:lnTo>
                  <a:pt x="2228334" y="2314257"/>
                </a:lnTo>
                <a:lnTo>
                  <a:pt x="0" y="23142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938392">
            <a:off x="1305693" y="7157206"/>
            <a:ext cx="2147925" cy="2349909"/>
          </a:xfrm>
          <a:custGeom>
            <a:avLst/>
            <a:gdLst/>
            <a:ahLst/>
            <a:cxnLst/>
            <a:rect l="l" t="t" r="r" b="b"/>
            <a:pathLst>
              <a:path w="2147925" h="2349909">
                <a:moveTo>
                  <a:pt x="0" y="0"/>
                </a:moveTo>
                <a:lnTo>
                  <a:pt x="2147925" y="0"/>
                </a:lnTo>
                <a:lnTo>
                  <a:pt x="2147925" y="2349909"/>
                </a:lnTo>
                <a:lnTo>
                  <a:pt x="0" y="23499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7066181" y="1725132"/>
            <a:ext cx="4155638" cy="887095"/>
          </a:xfrm>
          <a:prstGeom prst="rect">
            <a:avLst/>
          </a:prstGeom>
        </p:spPr>
        <p:txBody>
          <a:bodyPr lIns="0" tIns="0" rIns="0" bIns="0" rtlCol="0" anchor="t">
            <a:spAutoFit/>
          </a:bodyPr>
          <a:lstStyle/>
          <a:p>
            <a:pPr algn="ctr">
              <a:lnSpc>
                <a:spcPts val="7279"/>
              </a:lnSpc>
            </a:pPr>
            <a:r>
              <a:rPr lang="en-US" sz="5199">
                <a:solidFill>
                  <a:srgbClr val="000000"/>
                </a:solidFill>
                <a:latin typeface="Fredoka"/>
                <a:ea typeface="Fredoka"/>
                <a:cs typeface="Fredoka"/>
                <a:sym typeface="Fredoka"/>
              </a:rPr>
              <a:t>REFLECTION</a:t>
            </a:r>
          </a:p>
        </p:txBody>
      </p:sp>
      <p:sp>
        <p:nvSpPr>
          <p:cNvPr id="5" name="TextBox 5"/>
          <p:cNvSpPr txBox="1"/>
          <p:nvPr/>
        </p:nvSpPr>
        <p:spPr>
          <a:xfrm>
            <a:off x="2947232" y="3657493"/>
            <a:ext cx="12393536" cy="3580765"/>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Questions</a:t>
            </a:r>
          </a:p>
          <a:p>
            <a:pPr marL="734059" lvl="1" indent="-367030" algn="l">
              <a:lnSpc>
                <a:spcPts val="4759"/>
              </a:lnSpc>
              <a:buAutoNum type="arabicPeriod"/>
            </a:pPr>
            <a:r>
              <a:rPr lang="en-US" sz="3399">
                <a:solidFill>
                  <a:srgbClr val="000000"/>
                </a:solidFill>
                <a:latin typeface="Nunito"/>
                <a:ea typeface="Nunito"/>
                <a:cs typeface="Nunito"/>
                <a:sym typeface="Nunito"/>
              </a:rPr>
              <a:t>What is the most important presentation skill?</a:t>
            </a:r>
          </a:p>
          <a:p>
            <a:pPr marL="734059" lvl="1" indent="-367030" algn="l">
              <a:lnSpc>
                <a:spcPts val="4759"/>
              </a:lnSpc>
              <a:buAutoNum type="arabicPeriod"/>
            </a:pPr>
            <a:r>
              <a:rPr lang="en-US" sz="3399">
                <a:solidFill>
                  <a:srgbClr val="000000"/>
                </a:solidFill>
                <a:latin typeface="Nunito"/>
                <a:ea typeface="Nunito"/>
                <a:cs typeface="Nunito"/>
                <a:sym typeface="Nunito"/>
              </a:rPr>
              <a:t>Which engagement strategy will you use?</a:t>
            </a:r>
          </a:p>
          <a:p>
            <a:pPr marL="734059" lvl="1" indent="-367030" algn="l">
              <a:lnSpc>
                <a:spcPts val="4759"/>
              </a:lnSpc>
              <a:buAutoNum type="arabicPeriod"/>
            </a:pPr>
            <a:r>
              <a:rPr lang="en-US" sz="3399">
                <a:solidFill>
                  <a:srgbClr val="000000"/>
                </a:solidFill>
                <a:latin typeface="Nunito"/>
                <a:ea typeface="Nunito"/>
                <a:cs typeface="Nunito"/>
                <a:sym typeface="Nunito"/>
              </a:rPr>
              <a:t>What is your biggest challenge as a presenter?</a:t>
            </a:r>
          </a:p>
          <a:p>
            <a:pPr marL="734059" lvl="1" indent="-367030" algn="l">
              <a:lnSpc>
                <a:spcPts val="4759"/>
              </a:lnSpc>
              <a:buAutoNum type="arabicPeriod"/>
            </a:pPr>
            <a:r>
              <a:rPr lang="en-US" sz="3399">
                <a:solidFill>
                  <a:srgbClr val="000000"/>
                </a:solidFill>
                <a:latin typeface="Nunito"/>
                <a:ea typeface="Nunito"/>
                <a:cs typeface="Nunito"/>
                <a:sym typeface="Nunito"/>
              </a:rPr>
              <a:t>How has your perception of presentations changed?</a:t>
            </a:r>
          </a:p>
          <a:p>
            <a:pPr algn="l">
              <a:lnSpc>
                <a:spcPts val="4759"/>
              </a:lnSpc>
            </a:pPr>
            <a:endParaRPr lang="en-US" sz="3399">
              <a:solidFill>
                <a:srgbClr val="000000"/>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rot="1486899">
            <a:off x="13057388" y="4672777"/>
            <a:ext cx="2681808" cy="2199082"/>
          </a:xfrm>
          <a:custGeom>
            <a:avLst/>
            <a:gdLst/>
            <a:ahLst/>
            <a:cxnLst/>
            <a:rect l="l" t="t" r="r" b="b"/>
            <a:pathLst>
              <a:path w="2681808" h="2199082">
                <a:moveTo>
                  <a:pt x="0" y="0"/>
                </a:moveTo>
                <a:lnTo>
                  <a:pt x="2681808" y="0"/>
                </a:lnTo>
                <a:lnTo>
                  <a:pt x="2681808" y="2199082"/>
                </a:lnTo>
                <a:lnTo>
                  <a:pt x="0" y="219908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64611">
            <a:off x="2978344" y="3585682"/>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947232" y="1526203"/>
            <a:ext cx="15569368"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what are the components of a presentation?</a:t>
            </a:r>
          </a:p>
        </p:txBody>
      </p:sp>
      <p:sp>
        <p:nvSpPr>
          <p:cNvPr id="5" name="TextBox 5"/>
          <p:cNvSpPr txBox="1"/>
          <p:nvPr/>
        </p:nvSpPr>
        <p:spPr>
          <a:xfrm>
            <a:off x="4514945" y="3490653"/>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Opening - Agenda</a:t>
            </a:r>
          </a:p>
        </p:txBody>
      </p:sp>
      <p:sp>
        <p:nvSpPr>
          <p:cNvPr id="6" name="TextBox 6"/>
          <p:cNvSpPr txBox="1"/>
          <p:nvPr/>
        </p:nvSpPr>
        <p:spPr>
          <a:xfrm>
            <a:off x="4514945" y="4563029"/>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Warm up</a:t>
            </a:r>
          </a:p>
        </p:txBody>
      </p:sp>
      <p:sp>
        <p:nvSpPr>
          <p:cNvPr id="7" name="TextBox 7"/>
          <p:cNvSpPr txBox="1"/>
          <p:nvPr/>
        </p:nvSpPr>
        <p:spPr>
          <a:xfrm>
            <a:off x="4514945" y="5638719"/>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Presentation </a:t>
            </a:r>
          </a:p>
        </p:txBody>
      </p:sp>
      <p:sp>
        <p:nvSpPr>
          <p:cNvPr id="8" name="TextBox 8"/>
          <p:cNvSpPr txBox="1"/>
          <p:nvPr/>
        </p:nvSpPr>
        <p:spPr>
          <a:xfrm>
            <a:off x="4514945" y="6714409"/>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Activities</a:t>
            </a:r>
          </a:p>
        </p:txBody>
      </p:sp>
      <p:sp>
        <p:nvSpPr>
          <p:cNvPr id="9" name="TextBox 9"/>
          <p:cNvSpPr txBox="1"/>
          <p:nvPr/>
        </p:nvSpPr>
        <p:spPr>
          <a:xfrm>
            <a:off x="4514945" y="7790099"/>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Reflection - closing</a:t>
            </a:r>
          </a:p>
        </p:txBody>
      </p:sp>
      <p:sp>
        <p:nvSpPr>
          <p:cNvPr id="10" name="Freeform 10"/>
          <p:cNvSpPr/>
          <p:nvPr/>
        </p:nvSpPr>
        <p:spPr>
          <a:xfrm rot="-564611">
            <a:off x="2978344" y="4658058"/>
            <a:ext cx="928648" cy="457008"/>
          </a:xfrm>
          <a:custGeom>
            <a:avLst/>
            <a:gdLst/>
            <a:ahLst/>
            <a:cxnLst/>
            <a:rect l="l" t="t" r="r" b="b"/>
            <a:pathLst>
              <a:path w="928648" h="457008">
                <a:moveTo>
                  <a:pt x="0" y="0"/>
                </a:moveTo>
                <a:lnTo>
                  <a:pt x="928648" y="0"/>
                </a:lnTo>
                <a:lnTo>
                  <a:pt x="928648" y="457007"/>
                </a:lnTo>
                <a:lnTo>
                  <a:pt x="0" y="45700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564611">
            <a:off x="2978344" y="5730433"/>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rot="-564611">
            <a:off x="2978344" y="6802809"/>
            <a:ext cx="928648" cy="457008"/>
          </a:xfrm>
          <a:custGeom>
            <a:avLst/>
            <a:gdLst/>
            <a:ahLst/>
            <a:cxnLst/>
            <a:rect l="l" t="t" r="r" b="b"/>
            <a:pathLst>
              <a:path w="928648" h="457008">
                <a:moveTo>
                  <a:pt x="0" y="0"/>
                </a:moveTo>
                <a:lnTo>
                  <a:pt x="928648" y="0"/>
                </a:lnTo>
                <a:lnTo>
                  <a:pt x="928648" y="457008"/>
                </a:lnTo>
                <a:lnTo>
                  <a:pt x="0" y="45700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rot="-564611">
            <a:off x="2978344" y="7875185"/>
            <a:ext cx="928648" cy="457008"/>
          </a:xfrm>
          <a:custGeom>
            <a:avLst/>
            <a:gdLst/>
            <a:ahLst/>
            <a:cxnLst/>
            <a:rect l="l" t="t" r="r" b="b"/>
            <a:pathLst>
              <a:path w="928648" h="457008">
                <a:moveTo>
                  <a:pt x="0" y="0"/>
                </a:moveTo>
                <a:lnTo>
                  <a:pt x="928648" y="0"/>
                </a:lnTo>
                <a:lnTo>
                  <a:pt x="928648" y="457007"/>
                </a:lnTo>
                <a:lnTo>
                  <a:pt x="0" y="45700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4593477" y="8859517"/>
            <a:ext cx="12393536" cy="580390"/>
          </a:xfrm>
          <a:prstGeom prst="rect">
            <a:avLst/>
          </a:prstGeom>
        </p:spPr>
        <p:txBody>
          <a:bodyPr lIns="0" tIns="0" rIns="0" bIns="0" rtlCol="0" anchor="t">
            <a:spAutoFit/>
          </a:bodyPr>
          <a:lstStyle/>
          <a:p>
            <a:pPr algn="l">
              <a:lnSpc>
                <a:spcPts val="4759"/>
              </a:lnSpc>
            </a:pPr>
            <a:r>
              <a:rPr lang="en-US" sz="3399" dirty="0">
                <a:solidFill>
                  <a:srgbClr val="000000"/>
                </a:solidFill>
                <a:latin typeface="Nunito"/>
                <a:ea typeface="Nunito"/>
                <a:cs typeface="Nunito"/>
                <a:sym typeface="Nunito"/>
              </a:rPr>
              <a:t>Reference list</a:t>
            </a:r>
          </a:p>
        </p:txBody>
      </p:sp>
      <p:sp>
        <p:nvSpPr>
          <p:cNvPr id="15" name="Freeform 15"/>
          <p:cNvSpPr/>
          <p:nvPr/>
        </p:nvSpPr>
        <p:spPr>
          <a:xfrm rot="-564611">
            <a:off x="3056876" y="8944603"/>
            <a:ext cx="928648" cy="457008"/>
          </a:xfrm>
          <a:custGeom>
            <a:avLst/>
            <a:gdLst/>
            <a:ahLst/>
            <a:cxnLst/>
            <a:rect l="l" t="t" r="r" b="b"/>
            <a:pathLst>
              <a:path w="928648" h="457008">
                <a:moveTo>
                  <a:pt x="0" y="0"/>
                </a:moveTo>
                <a:lnTo>
                  <a:pt x="928647" y="0"/>
                </a:lnTo>
                <a:lnTo>
                  <a:pt x="928647" y="457007"/>
                </a:lnTo>
                <a:lnTo>
                  <a:pt x="0" y="457007"/>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ircle(in)">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circle(in)">
                                      <p:cBhvr>
                                        <p:cTn id="17" dur="2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circle(in)">
                                      <p:cBhvr>
                                        <p:cTn id="22" dur="2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circle(in)">
                                      <p:cBhvr>
                                        <p:cTn id="27" dur="20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circle(in)">
                                      <p:cBhvr>
                                        <p:cTn id="3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3133382" y="1820382"/>
            <a:ext cx="3592129" cy="4327866"/>
          </a:xfrm>
          <a:custGeom>
            <a:avLst/>
            <a:gdLst/>
            <a:ahLst/>
            <a:cxnLst/>
            <a:rect l="l" t="t" r="r" b="b"/>
            <a:pathLst>
              <a:path w="3592129" h="4327866">
                <a:moveTo>
                  <a:pt x="0" y="0"/>
                </a:moveTo>
                <a:lnTo>
                  <a:pt x="3592128" y="0"/>
                </a:lnTo>
                <a:lnTo>
                  <a:pt x="3592128" y="4327866"/>
                </a:lnTo>
                <a:lnTo>
                  <a:pt x="0" y="43278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563452" y="6557180"/>
            <a:ext cx="1877377" cy="2057400"/>
          </a:xfrm>
          <a:custGeom>
            <a:avLst/>
            <a:gdLst/>
            <a:ahLst/>
            <a:cxnLst/>
            <a:rect l="l" t="t" r="r" b="b"/>
            <a:pathLst>
              <a:path w="1877377" h="2057400">
                <a:moveTo>
                  <a:pt x="0" y="0"/>
                </a:moveTo>
                <a:lnTo>
                  <a:pt x="1877377" y="0"/>
                </a:lnTo>
                <a:lnTo>
                  <a:pt x="1877377"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752104">
            <a:off x="1555784" y="3686407"/>
            <a:ext cx="456234" cy="1200615"/>
          </a:xfrm>
          <a:custGeom>
            <a:avLst/>
            <a:gdLst/>
            <a:ahLst/>
            <a:cxnLst/>
            <a:rect l="l" t="t" r="r" b="b"/>
            <a:pathLst>
              <a:path w="456234" h="1200615">
                <a:moveTo>
                  <a:pt x="0" y="0"/>
                </a:moveTo>
                <a:lnTo>
                  <a:pt x="456233" y="0"/>
                </a:lnTo>
                <a:lnTo>
                  <a:pt x="456233"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486170" y="3663145"/>
            <a:ext cx="9512540" cy="4180840"/>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A presentation is not a transfer of information. It is an experience.</a:t>
            </a:r>
          </a:p>
          <a:p>
            <a:pPr algn="l">
              <a:lnSpc>
                <a:spcPts val="4759"/>
              </a:lnSpc>
            </a:pPr>
            <a:r>
              <a:rPr lang="en-US" sz="3399">
                <a:solidFill>
                  <a:srgbClr val="000000"/>
                </a:solidFill>
                <a:latin typeface="Nunito"/>
                <a:ea typeface="Nunito"/>
                <a:cs typeface="Nunito"/>
                <a:sym typeface="Nunito"/>
              </a:rPr>
              <a:t>People may forget your slides, but they will remember how you made them think, feel, and participate.</a:t>
            </a:r>
          </a:p>
          <a:p>
            <a:pPr algn="l">
              <a:lnSpc>
                <a:spcPts val="4759"/>
              </a:lnSpc>
            </a:pPr>
            <a:endParaRPr lang="en-US" sz="3399">
              <a:solidFill>
                <a:srgbClr val="000000"/>
              </a:solidFill>
              <a:latin typeface="Nunito"/>
              <a:ea typeface="Nunito"/>
              <a:cs typeface="Nunito"/>
              <a:sym typeface="Nunito"/>
            </a:endParaRPr>
          </a:p>
          <a:p>
            <a:pPr algn="l">
              <a:lnSpc>
                <a:spcPts val="4759"/>
              </a:lnSpc>
            </a:pPr>
            <a:endParaRPr lang="en-US" sz="3399">
              <a:solidFill>
                <a:srgbClr val="000000"/>
              </a:solidFill>
              <a:latin typeface="Nunito"/>
              <a:ea typeface="Nunito"/>
              <a:cs typeface="Nunito"/>
              <a:sym typeface="Nunito"/>
            </a:endParaRPr>
          </a:p>
        </p:txBody>
      </p:sp>
      <p:sp>
        <p:nvSpPr>
          <p:cNvPr id="6" name="TextBox 6"/>
          <p:cNvSpPr txBox="1"/>
          <p:nvPr/>
        </p:nvSpPr>
        <p:spPr>
          <a:xfrm>
            <a:off x="1028700" y="1725132"/>
            <a:ext cx="6210300"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Final Message</a:t>
            </a:r>
          </a:p>
        </p:txBody>
      </p:sp>
      <p:sp>
        <p:nvSpPr>
          <p:cNvPr id="7" name="Freeform 7"/>
          <p:cNvSpPr/>
          <p:nvPr/>
        </p:nvSpPr>
        <p:spPr>
          <a:xfrm rot="1752104">
            <a:off x="1555784" y="5399978"/>
            <a:ext cx="456234" cy="1200615"/>
          </a:xfrm>
          <a:custGeom>
            <a:avLst/>
            <a:gdLst/>
            <a:ahLst/>
            <a:cxnLst/>
            <a:rect l="l" t="t" r="r" b="b"/>
            <a:pathLst>
              <a:path w="456234" h="1200615">
                <a:moveTo>
                  <a:pt x="0" y="0"/>
                </a:moveTo>
                <a:lnTo>
                  <a:pt x="456233" y="0"/>
                </a:lnTo>
                <a:lnTo>
                  <a:pt x="456233"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12783951" y="5641075"/>
            <a:ext cx="4475349" cy="2495007"/>
          </a:xfrm>
          <a:custGeom>
            <a:avLst/>
            <a:gdLst/>
            <a:ahLst/>
            <a:cxnLst/>
            <a:rect l="l" t="t" r="r" b="b"/>
            <a:pathLst>
              <a:path w="4475349" h="2495007">
                <a:moveTo>
                  <a:pt x="0" y="0"/>
                </a:moveTo>
                <a:lnTo>
                  <a:pt x="4475349" y="0"/>
                </a:lnTo>
                <a:lnTo>
                  <a:pt x="4475349" y="2495007"/>
                </a:lnTo>
                <a:lnTo>
                  <a:pt x="0" y="249500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68577">
            <a:off x="15489841" y="3869785"/>
            <a:ext cx="3538918" cy="2990385"/>
          </a:xfrm>
          <a:custGeom>
            <a:avLst/>
            <a:gdLst/>
            <a:ahLst/>
            <a:cxnLst/>
            <a:rect l="l" t="t" r="r" b="b"/>
            <a:pathLst>
              <a:path w="3538918" h="2990385">
                <a:moveTo>
                  <a:pt x="0" y="0"/>
                </a:moveTo>
                <a:lnTo>
                  <a:pt x="3538918" y="0"/>
                </a:lnTo>
                <a:lnTo>
                  <a:pt x="3538918" y="2990385"/>
                </a:lnTo>
                <a:lnTo>
                  <a:pt x="0" y="299038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511463" y="1867834"/>
            <a:ext cx="9512540" cy="7781290"/>
          </a:xfrm>
          <a:prstGeom prst="rect">
            <a:avLst/>
          </a:prstGeom>
        </p:spPr>
        <p:txBody>
          <a:bodyPr lIns="0" tIns="0" rIns="0" bIns="0" rtlCol="0" anchor="t">
            <a:spAutoFit/>
          </a:bodyPr>
          <a:lstStyle/>
          <a:p>
            <a:pPr algn="l">
              <a:lnSpc>
                <a:spcPts val="4759"/>
              </a:lnSpc>
            </a:pPr>
            <a:r>
              <a:rPr lang="en-US" sz="3399">
                <a:solidFill>
                  <a:srgbClr val="000000"/>
                </a:solidFill>
                <a:latin typeface="Nunito"/>
                <a:ea typeface="Nunito"/>
                <a:cs typeface="Nunito"/>
                <a:sym typeface="Nunito"/>
              </a:rPr>
              <a:t>Give each group a different "presentation disaster":</a:t>
            </a:r>
          </a:p>
          <a:p>
            <a:pPr algn="l">
              <a:lnSpc>
                <a:spcPts val="4759"/>
              </a:lnSpc>
            </a:pPr>
            <a:r>
              <a:rPr lang="en-US" sz="3399">
                <a:solidFill>
                  <a:srgbClr val="000000"/>
                </a:solidFill>
                <a:latin typeface="Nunito"/>
                <a:ea typeface="Nunito"/>
                <a:cs typeface="Nunito"/>
                <a:sym typeface="Nunito"/>
              </a:rPr>
              <a:t>Group 1</a:t>
            </a:r>
          </a:p>
          <a:p>
            <a:pPr algn="l">
              <a:lnSpc>
                <a:spcPts val="4759"/>
              </a:lnSpc>
            </a:pPr>
            <a:r>
              <a:rPr lang="en-US" sz="3399">
                <a:solidFill>
                  <a:srgbClr val="000000"/>
                </a:solidFill>
                <a:latin typeface="Nunito"/>
                <a:ea typeface="Nunito"/>
                <a:cs typeface="Nunito"/>
                <a:sym typeface="Nunito"/>
              </a:rPr>
              <a:t>A slide with 50 bullet points.</a:t>
            </a:r>
          </a:p>
          <a:p>
            <a:pPr algn="l">
              <a:lnSpc>
                <a:spcPts val="4759"/>
              </a:lnSpc>
            </a:pPr>
            <a:r>
              <a:rPr lang="en-US" sz="3399">
                <a:solidFill>
                  <a:srgbClr val="000000"/>
                </a:solidFill>
                <a:latin typeface="Nunito"/>
                <a:ea typeface="Nunito"/>
                <a:cs typeface="Nunito"/>
                <a:sym typeface="Nunito"/>
              </a:rPr>
              <a:t>Group 2</a:t>
            </a:r>
          </a:p>
          <a:p>
            <a:pPr algn="l">
              <a:lnSpc>
                <a:spcPts val="4759"/>
              </a:lnSpc>
            </a:pPr>
            <a:r>
              <a:rPr lang="en-US" sz="3399">
                <a:solidFill>
                  <a:srgbClr val="000000"/>
                </a:solidFill>
                <a:latin typeface="Nunito"/>
                <a:ea typeface="Nunito"/>
                <a:cs typeface="Nunito"/>
                <a:sym typeface="Nunito"/>
              </a:rPr>
              <a:t>A slide with 12 different fonts.</a:t>
            </a:r>
          </a:p>
          <a:p>
            <a:pPr algn="l">
              <a:lnSpc>
                <a:spcPts val="4759"/>
              </a:lnSpc>
            </a:pPr>
            <a:r>
              <a:rPr lang="en-US" sz="3399">
                <a:solidFill>
                  <a:srgbClr val="000000"/>
                </a:solidFill>
                <a:latin typeface="Nunito"/>
                <a:ea typeface="Nunito"/>
                <a:cs typeface="Nunito"/>
                <a:sym typeface="Nunito"/>
              </a:rPr>
              <a:t>Group 3</a:t>
            </a:r>
          </a:p>
          <a:p>
            <a:pPr algn="l">
              <a:lnSpc>
                <a:spcPts val="4759"/>
              </a:lnSpc>
            </a:pPr>
            <a:r>
              <a:rPr lang="en-US" sz="3399">
                <a:solidFill>
                  <a:srgbClr val="000000"/>
                </a:solidFill>
                <a:latin typeface="Nunito"/>
                <a:ea typeface="Nunito"/>
                <a:cs typeface="Nunito"/>
                <a:sym typeface="Nunito"/>
              </a:rPr>
              <a:t>A slide full of statistics and no visuals.</a:t>
            </a:r>
          </a:p>
          <a:p>
            <a:pPr algn="l">
              <a:lnSpc>
                <a:spcPts val="4759"/>
              </a:lnSpc>
            </a:pPr>
            <a:r>
              <a:rPr lang="en-US" sz="3399">
                <a:solidFill>
                  <a:srgbClr val="000000"/>
                </a:solidFill>
                <a:latin typeface="Nunito"/>
                <a:ea typeface="Nunito"/>
                <a:cs typeface="Nunito"/>
                <a:sym typeface="Nunito"/>
              </a:rPr>
              <a:t>Group 4</a:t>
            </a:r>
          </a:p>
          <a:p>
            <a:pPr algn="l">
              <a:lnSpc>
                <a:spcPts val="4759"/>
              </a:lnSpc>
            </a:pPr>
            <a:r>
              <a:rPr lang="en-US" sz="3399">
                <a:solidFill>
                  <a:srgbClr val="000000"/>
                </a:solidFill>
                <a:latin typeface="Nunito"/>
                <a:ea typeface="Nunito"/>
                <a:cs typeface="Nunito"/>
                <a:sym typeface="Nunito"/>
              </a:rPr>
              <a:t>A slide with only pictures and no context.</a:t>
            </a:r>
          </a:p>
          <a:p>
            <a:pPr algn="l">
              <a:lnSpc>
                <a:spcPts val="4759"/>
              </a:lnSpc>
            </a:pPr>
            <a:r>
              <a:rPr lang="en-US" sz="3399">
                <a:solidFill>
                  <a:srgbClr val="000000"/>
                </a:solidFill>
                <a:latin typeface="Nunito"/>
                <a:ea typeface="Nunito"/>
                <a:cs typeface="Nunito"/>
                <a:sym typeface="Nunito"/>
              </a:rPr>
              <a:t>Students redesign and present the improved version in 3 minutes.</a:t>
            </a:r>
          </a:p>
          <a:p>
            <a:pPr algn="l">
              <a:lnSpc>
                <a:spcPts val="4759"/>
              </a:lnSpc>
            </a:pPr>
            <a:endParaRPr lang="en-US" sz="3399">
              <a:solidFill>
                <a:srgbClr val="000000"/>
              </a:solidFill>
              <a:latin typeface="Nunito"/>
              <a:ea typeface="Nunito"/>
              <a:cs typeface="Nunito"/>
              <a:sym typeface="Nunito"/>
            </a:endParaRPr>
          </a:p>
        </p:txBody>
      </p:sp>
      <p:sp>
        <p:nvSpPr>
          <p:cNvPr id="5" name="Freeform 5"/>
          <p:cNvSpPr/>
          <p:nvPr/>
        </p:nvSpPr>
        <p:spPr>
          <a:xfrm rot="1156708">
            <a:off x="1208032" y="2011920"/>
            <a:ext cx="672844" cy="1200615"/>
          </a:xfrm>
          <a:custGeom>
            <a:avLst/>
            <a:gdLst/>
            <a:ahLst/>
            <a:cxnLst/>
            <a:rect l="l" t="t" r="r" b="b"/>
            <a:pathLst>
              <a:path w="672844" h="1200615">
                <a:moveTo>
                  <a:pt x="0" y="0"/>
                </a:moveTo>
                <a:lnTo>
                  <a:pt x="672845" y="0"/>
                </a:lnTo>
                <a:lnTo>
                  <a:pt x="672845"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267733" y="537527"/>
            <a:ext cx="6067267" cy="887095"/>
          </a:xfrm>
          <a:prstGeom prst="rect">
            <a:avLst/>
          </a:prstGeom>
        </p:spPr>
        <p:txBody>
          <a:bodyPr wrap="square" lIns="0" tIns="0" rIns="0" bIns="0" rtlCol="0" anchor="t">
            <a:spAutoFit/>
          </a:bodyPr>
          <a:lstStyle/>
          <a:p>
            <a:pPr algn="l">
              <a:lnSpc>
                <a:spcPts val="7279"/>
              </a:lnSpc>
            </a:pPr>
            <a:r>
              <a:rPr lang="en-US" sz="5199" dirty="0">
                <a:solidFill>
                  <a:srgbClr val="000000"/>
                </a:solidFill>
                <a:latin typeface="Fredoka"/>
                <a:ea typeface="Fredoka"/>
                <a:cs typeface="Fredoka"/>
                <a:sym typeface="Fredoka"/>
              </a:rPr>
              <a:t>Game: Disaster</a:t>
            </a:r>
          </a:p>
        </p:txBody>
      </p:sp>
      <p:sp>
        <p:nvSpPr>
          <p:cNvPr id="7" name="Freeform 7"/>
          <p:cNvSpPr/>
          <p:nvPr/>
        </p:nvSpPr>
        <p:spPr>
          <a:xfrm rot="1156708">
            <a:off x="1386043" y="7802882"/>
            <a:ext cx="672844" cy="1200615"/>
          </a:xfrm>
          <a:custGeom>
            <a:avLst/>
            <a:gdLst/>
            <a:ahLst/>
            <a:cxnLst/>
            <a:rect l="l" t="t" r="r" b="b"/>
            <a:pathLst>
              <a:path w="672844" h="1200615">
                <a:moveTo>
                  <a:pt x="0" y="0"/>
                </a:moveTo>
                <a:lnTo>
                  <a:pt x="672844" y="0"/>
                </a:lnTo>
                <a:lnTo>
                  <a:pt x="672844" y="1200615"/>
                </a:lnTo>
                <a:lnTo>
                  <a:pt x="0" y="1200615"/>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8F0"/>
        </a:solidFill>
        <a:effectLst/>
      </p:bgPr>
    </p:bg>
    <p:spTree>
      <p:nvGrpSpPr>
        <p:cNvPr id="1" name=""/>
        <p:cNvGrpSpPr/>
        <p:nvPr/>
      </p:nvGrpSpPr>
      <p:grpSpPr>
        <a:xfrm>
          <a:off x="0" y="0"/>
          <a:ext cx="0" cy="0"/>
          <a:chOff x="0" y="0"/>
          <a:chExt cx="0" cy="0"/>
        </a:xfrm>
      </p:grpSpPr>
      <p:sp>
        <p:nvSpPr>
          <p:cNvPr id="2" name="Freeform 2"/>
          <p:cNvSpPr/>
          <p:nvPr/>
        </p:nvSpPr>
        <p:spPr>
          <a:xfrm>
            <a:off x="5215811" y="5143500"/>
            <a:ext cx="3162347" cy="5308356"/>
          </a:xfrm>
          <a:custGeom>
            <a:avLst/>
            <a:gdLst/>
            <a:ahLst/>
            <a:cxnLst/>
            <a:rect l="l" t="t" r="r" b="b"/>
            <a:pathLst>
              <a:path w="3162347" h="5308356">
                <a:moveTo>
                  <a:pt x="0" y="0"/>
                </a:moveTo>
                <a:lnTo>
                  <a:pt x="3162347" y="0"/>
                </a:lnTo>
                <a:lnTo>
                  <a:pt x="3162347" y="5308356"/>
                </a:lnTo>
                <a:lnTo>
                  <a:pt x="0" y="530835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735056" flipH="1">
            <a:off x="9382650" y="5418573"/>
            <a:ext cx="3162347" cy="5308356"/>
          </a:xfrm>
          <a:custGeom>
            <a:avLst/>
            <a:gdLst/>
            <a:ahLst/>
            <a:cxnLst/>
            <a:rect l="l" t="t" r="r" b="b"/>
            <a:pathLst>
              <a:path w="3162347" h="5308356">
                <a:moveTo>
                  <a:pt x="3162347" y="0"/>
                </a:moveTo>
                <a:lnTo>
                  <a:pt x="0" y="0"/>
                </a:lnTo>
                <a:lnTo>
                  <a:pt x="0" y="5308356"/>
                </a:lnTo>
                <a:lnTo>
                  <a:pt x="3162347" y="5308356"/>
                </a:lnTo>
                <a:lnTo>
                  <a:pt x="3162347"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65425" y="2545212"/>
            <a:ext cx="3374136" cy="4114800"/>
          </a:xfrm>
          <a:custGeom>
            <a:avLst/>
            <a:gdLst/>
            <a:ahLst/>
            <a:cxnLst/>
            <a:rect l="l" t="t" r="r" b="b"/>
            <a:pathLst>
              <a:path w="3374136" h="4114800">
                <a:moveTo>
                  <a:pt x="0" y="0"/>
                </a:moveTo>
                <a:lnTo>
                  <a:pt x="3374136" y="0"/>
                </a:lnTo>
                <a:lnTo>
                  <a:pt x="337413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67770">
            <a:off x="12744880" y="2545212"/>
            <a:ext cx="3374136" cy="4114800"/>
          </a:xfrm>
          <a:custGeom>
            <a:avLst/>
            <a:gdLst/>
            <a:ahLst/>
            <a:cxnLst/>
            <a:rect l="l" t="t" r="r" b="b"/>
            <a:pathLst>
              <a:path w="3374136" h="4114800">
                <a:moveTo>
                  <a:pt x="0" y="0"/>
                </a:moveTo>
                <a:lnTo>
                  <a:pt x="3374136" y="0"/>
                </a:lnTo>
                <a:lnTo>
                  <a:pt x="337413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091200" y="2449962"/>
            <a:ext cx="6105599" cy="887095"/>
          </a:xfrm>
          <a:prstGeom prst="rect">
            <a:avLst/>
          </a:prstGeom>
        </p:spPr>
        <p:txBody>
          <a:bodyPr lIns="0" tIns="0" rIns="0" bIns="0" rtlCol="0" anchor="t">
            <a:spAutoFit/>
          </a:bodyPr>
          <a:lstStyle/>
          <a:p>
            <a:pPr algn="ctr">
              <a:lnSpc>
                <a:spcPts val="7279"/>
              </a:lnSpc>
            </a:pPr>
            <a:r>
              <a:rPr lang="en-US" sz="5199">
                <a:solidFill>
                  <a:srgbClr val="000000"/>
                </a:solidFill>
                <a:latin typeface="Fredoka"/>
                <a:ea typeface="Fredoka"/>
                <a:cs typeface="Fredoka"/>
                <a:sym typeface="Fredoka"/>
              </a:rPr>
              <a:t>See You Next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966</Words>
  <Application>Microsoft Office PowerPoint</Application>
  <PresentationFormat>Custom</PresentationFormat>
  <Paragraphs>232</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Nunito</vt:lpstr>
      <vt:lpstr>Fredoka</vt:lpstr>
      <vt:lpstr>Arial</vt:lpstr>
      <vt:lpstr>Canva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Black Doodle Handdrawn Teaching Presentation</dc:title>
  <cp:lastModifiedBy>salma sameh</cp:lastModifiedBy>
  <cp:revision>2</cp:revision>
  <dcterms:created xsi:type="dcterms:W3CDTF">2006-08-16T00:00:00Z</dcterms:created>
  <dcterms:modified xsi:type="dcterms:W3CDTF">2026-05-30T22:04:47Z</dcterms:modified>
  <dc:identifier>DAHLLIpk8mU</dc:identifier>
</cp:coreProperties>
</file>