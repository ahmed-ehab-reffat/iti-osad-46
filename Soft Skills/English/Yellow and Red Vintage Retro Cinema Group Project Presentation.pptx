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ns" panose="020B0606030504020204" pitchFamily="34" charset="0"/>
      <p:regular r:id="rId17"/>
    </p:embeddedFont>
    <p:embeddedFont>
      <p:font typeface="Open Sans Bold" panose="020B0806030504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Watch the video afterwards</a:t>
            </a:r>
            <a:br>
              <a:rPr lang="en-US" dirty="0"/>
            </a:br>
            <a:r>
              <a:rPr lang="en-US" dirty="0"/>
              <a:t>https://www.reddit.com/r/movies/comments/58o5nz/hugo_history_of_georges_m%C3%A9li%C3%A8s/</a:t>
            </a:r>
          </a:p>
        </p:txBody>
      </p:sp>
      <p:sp>
        <p:nvSpPr>
          <p:cNvPr id="4" name="Slide Number Placeholder 3"/>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394245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The key developments included the invention of the motion picture camera, early film screenings by Auguste Lumière and Louis Lumière, and the transition from still images to moving visuals. These innovations introduced audiences to a new form of storytelling based on motion and visual representation.</a:t>
            </a:r>
          </a:p>
          <a:p>
            <a:endParaRPr lang="en-US"/>
          </a:p>
          <a:p>
            <a:r>
              <a:rPr lang="en-US"/>
              <a:t>2. The silent film era was important because it emphasized visual storytelling, including facial expressions, body language, and cinematography. Filmmakers had to communicate emotions and narratives without dialogue, which strengthened the artistic and expressive aspects of cinema.</a:t>
            </a:r>
          </a:p>
          <a:p>
            <a:endParaRPr lang="en-US"/>
          </a:p>
          <a:p>
            <a:r>
              <a:rPr lang="en-US"/>
              <a:t>3. Sound revolutionized cinema by introducing dialogue, music, and sound effects, making films more realistic and emotionally engaging. Movies like The Jazz Singer marked the shift to “talkies,” which transformed storytelling and audience experience.</a:t>
            </a:r>
          </a:p>
          <a:p>
            <a:endParaRPr lang="en-US"/>
          </a:p>
          <a:p>
            <a:r>
              <a:rPr lang="en-US"/>
              <a:t>4. Citizen Kane is considered influential because of its innovative cinematography, narrative structure, and use of techniques such as deep focus and non-linear storytelling. It set new standards for filmmaking and continues to influence modern cinema.</a:t>
            </a:r>
          </a:p>
          <a:p>
            <a:endParaRPr lang="en-US"/>
          </a:p>
          <a:p>
            <a:r>
              <a:rPr lang="en-US"/>
              <a:t>5. Modern cinema is more advanced in terms of technology and visual effects; however, early cinema was often more innovative in storytelling. While today’s films may be more visually impressive, earlier films relied heavily on creativity and originality. Therefore, both periods have unique strengths.</a:t>
            </a:r>
          </a:p>
          <a:p>
            <a:endParaRPr lang="en-US"/>
          </a:p>
          <a:p>
            <a:r>
              <a:rPr lang="en-US"/>
              <a:t>6. Technology has improved storytelling by allowing filmmakers to create more immersive and visually complex narratives. However, it can sometimes reduce creativity if filmmakers rely too heavily on special effects instead of strong scripts and character development.</a:t>
            </a:r>
          </a:p>
          <a:p>
            <a:endParaRPr lang="en-US"/>
          </a:p>
          <a:p>
            <a:r>
              <a:rPr lang="en-US"/>
              <a:t>7.  If sound had never been introduced, cinema would rely entirely on visual storytelling, similar to the silent film era. This might lead to more artistic and expressive filmmaking, but it would limit realism and emotional depth created through dialogue and sound.</a:t>
            </a:r>
          </a:p>
          <a:p>
            <a:endParaRPr lang="en-US"/>
          </a:p>
          <a:p>
            <a:r>
              <a:rPr lang="en-US"/>
              <a:t>8. Streaming platforms both challenge and improve traditional cinema. They make films more accessible to global audiences, but they may reduce the popularity of movie theaters. Overall, they are transforming the industry rather than completely replacing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Cinematography</a:t>
            </a:r>
          </a:p>
          <a:p>
            <a:r>
              <a:rPr lang="en-US"/>
              <a:t>Definition:</a:t>
            </a:r>
          </a:p>
          <a:p>
            <a:endParaRPr lang="en-US"/>
          </a:p>
          <a:p>
            <a:r>
              <a:rPr lang="en-US"/>
              <a:t>Cinematography is the art and technique of capturing visual images in film, including camera work, lighting, composition, and movement to tell a story.</a:t>
            </a:r>
          </a:p>
          <a:p>
            <a:endParaRPr lang="en-US"/>
          </a:p>
          <a:p>
            <a:r>
              <a:rPr lang="en-US"/>
              <a:t>Example:</a:t>
            </a:r>
          </a:p>
          <a:p>
            <a:r>
              <a:rPr lang="en-US"/>
              <a:t>“The cinematography in Inception enhances the dream-like atmosphere.”</a:t>
            </a:r>
          </a:p>
          <a:p>
            <a:r>
              <a:rPr lang="en-US"/>
              <a:t>“Good cinematography can communicate emotions without dialogue.”</a:t>
            </a:r>
          </a:p>
          <a:p>
            <a:endParaRPr lang="en-US"/>
          </a:p>
          <a:p>
            <a:r>
              <a:rPr lang="en-US"/>
              <a:t>Mise-en-scène</a:t>
            </a:r>
          </a:p>
          <a:p>
            <a:r>
              <a:rPr lang="en-US"/>
              <a:t>Definition:</a:t>
            </a:r>
          </a:p>
          <a:p>
            <a:endParaRPr lang="en-US"/>
          </a:p>
          <a:p>
            <a:r>
              <a:rPr lang="en-US"/>
              <a:t>Mise-en-scène refers to everything visible within a scene, including setting, costumes, props, lighting, and actors’ positioning.</a:t>
            </a:r>
          </a:p>
          <a:p>
            <a:endParaRPr lang="en-US"/>
          </a:p>
          <a:p>
            <a:r>
              <a:rPr lang="en-US"/>
              <a:t>Example:</a:t>
            </a:r>
          </a:p>
          <a:p>
            <a:r>
              <a:rPr lang="en-US"/>
              <a:t>“The mise-en-scène in The Grand Budapest Hotel is carefully designed to create a unique visual style.”</a:t>
            </a:r>
          </a:p>
          <a:p>
            <a:r>
              <a:rPr lang="en-US"/>
              <a:t>“The dark room and minimal furniture create a tense mise-en-scène.”</a:t>
            </a:r>
          </a:p>
          <a:p>
            <a:endParaRPr lang="en-US"/>
          </a:p>
          <a:p>
            <a:r>
              <a:rPr lang="en-US"/>
              <a:t>Lighting</a:t>
            </a:r>
          </a:p>
          <a:p>
            <a:r>
              <a:rPr lang="en-US"/>
              <a:t>Definition:</a:t>
            </a:r>
          </a:p>
          <a:p>
            <a:endParaRPr lang="en-US"/>
          </a:p>
          <a:p>
            <a:r>
              <a:rPr lang="en-US"/>
              <a:t>Lighting is the use of light and shadow in a film to create mood, highlight characters, or influence how a scene is perceived.</a:t>
            </a:r>
          </a:p>
          <a:p>
            <a:endParaRPr lang="en-US"/>
          </a:p>
          <a:p>
            <a:r>
              <a:rPr lang="en-US"/>
              <a:t>Example:</a:t>
            </a:r>
          </a:p>
          <a:p>
            <a:r>
              <a:rPr lang="en-US"/>
              <a:t>“Low lighting creates suspense and mystery.”</a:t>
            </a:r>
          </a:p>
          <a:p>
            <a:r>
              <a:rPr lang="en-US"/>
              <a:t>“The bright lighting in La La Land reflects a joyful atmosphere.”</a:t>
            </a:r>
          </a:p>
          <a:p>
            <a:endParaRPr lang="en-US"/>
          </a:p>
          <a:p>
            <a:r>
              <a:rPr lang="en-US"/>
              <a:t>Framing</a:t>
            </a:r>
          </a:p>
          <a:p>
            <a:r>
              <a:rPr lang="en-US"/>
              <a:t>Definition:</a:t>
            </a:r>
          </a:p>
          <a:p>
            <a:endParaRPr lang="en-US"/>
          </a:p>
          <a:p>
            <a:r>
              <a:rPr lang="en-US"/>
              <a:t>Framing is the way elements are arranged within the camera shot, determining what the audience sees and how they interpret it.</a:t>
            </a:r>
          </a:p>
          <a:p>
            <a:endParaRPr lang="en-US"/>
          </a:p>
          <a:p>
            <a:r>
              <a:rPr lang="en-US"/>
              <a:t>Example:</a:t>
            </a:r>
          </a:p>
          <a:p>
            <a:r>
              <a:rPr lang="en-US"/>
              <a:t>“The character is placed in the center of the frame to show importance.”</a:t>
            </a:r>
          </a:p>
          <a:p>
            <a:r>
              <a:rPr lang="en-US"/>
              <a:t>“Tight framing creates a feeling of pressure or isolation.”</a:t>
            </a:r>
          </a:p>
          <a:p>
            <a:endParaRPr lang="en-US"/>
          </a:p>
          <a:p>
            <a:r>
              <a:rPr lang="en-US"/>
              <a:t>Camera Movement</a:t>
            </a:r>
          </a:p>
          <a:p>
            <a:r>
              <a:rPr lang="en-US"/>
              <a:t>Definition:</a:t>
            </a:r>
          </a:p>
          <a:p>
            <a:endParaRPr lang="en-US"/>
          </a:p>
          <a:p>
            <a:r>
              <a:rPr lang="en-US"/>
              <a:t>Camera movement refers to how the camera moves during a shot, such as panning, tilting, tracking, or zooming, to guide the viewer’s attention.</a:t>
            </a:r>
          </a:p>
          <a:p>
            <a:endParaRPr lang="en-US"/>
          </a:p>
          <a:p>
            <a:r>
              <a:rPr lang="en-US"/>
              <a:t>Example:</a:t>
            </a:r>
          </a:p>
          <a:p>
            <a:r>
              <a:rPr lang="en-US"/>
              <a:t>“A slow zoom increases tension.”</a:t>
            </a:r>
          </a:p>
          <a:p>
            <a:r>
              <a:rPr lang="en-US"/>
              <a:t>“The tracking shots in Goodfellas create a sense of realism.”</a:t>
            </a:r>
          </a:p>
          <a:p>
            <a:endParaRPr lang="en-US"/>
          </a:p>
          <a:p>
            <a:r>
              <a:rPr lang="en-US"/>
              <a:t>Symbolism</a:t>
            </a:r>
          </a:p>
          <a:p>
            <a:r>
              <a:rPr lang="en-US"/>
              <a:t>Definition:</a:t>
            </a:r>
          </a:p>
          <a:p>
            <a:endParaRPr lang="en-US"/>
          </a:p>
          <a:p>
            <a:r>
              <a:rPr lang="en-US"/>
              <a:t>Symbolism is the use of objects, colors, or visual elements to represent deeper meanings or ideas beyond their literal sense.</a:t>
            </a:r>
          </a:p>
          <a:p>
            <a:endParaRPr lang="en-US"/>
          </a:p>
          <a:p>
            <a:r>
              <a:rPr lang="en-US"/>
              <a:t>Example:</a:t>
            </a:r>
          </a:p>
          <a:p>
            <a:r>
              <a:rPr lang="en-US"/>
              <a:t>“The color red symbolizes danger or passion.”</a:t>
            </a:r>
          </a:p>
          <a:p>
            <a:r>
              <a:rPr lang="en-US"/>
              <a:t>“In The Matrix, the red pill represents truth and awakening.”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https://www.youtube.com/watch?v=rCZ3SN65kIs</a:t>
            </a:r>
          </a:p>
          <a:p>
            <a:endParaRPr lang="en-US" dirty="0"/>
          </a:p>
          <a:p>
            <a:r>
              <a:rPr lang="en-US" dirty="0"/>
              <a:t>https://youtu.be/8F4ONbCPMyU?si=o833fY-eiEEQ44ZZ</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https://youtu.be/b66gLKLU8yU?si=XNz6TRlvdmTKNI6d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3.png"/><Relationship Id="rId10" Type="http://schemas.openxmlformats.org/officeDocument/2006/relationships/image" Target="../media/image9.jpeg"/><Relationship Id="rId4" Type="http://schemas.openxmlformats.org/officeDocument/2006/relationships/image" Target="../media/image2.sv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a:off x="3450850" y="1364671"/>
            <a:ext cx="11386301" cy="7557657"/>
          </a:xfrm>
          <a:custGeom>
            <a:avLst/>
            <a:gdLst/>
            <a:ahLst/>
            <a:cxnLst/>
            <a:rect l="l" t="t" r="r" b="b"/>
            <a:pathLst>
              <a:path w="11386301" h="7557657">
                <a:moveTo>
                  <a:pt x="0" y="0"/>
                </a:moveTo>
                <a:lnTo>
                  <a:pt x="11386300" y="0"/>
                </a:lnTo>
                <a:lnTo>
                  <a:pt x="11386300" y="7557658"/>
                </a:lnTo>
                <a:lnTo>
                  <a:pt x="0" y="75576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139596">
            <a:off x="970305" y="5203029"/>
            <a:ext cx="3827935" cy="3746591"/>
          </a:xfrm>
          <a:custGeom>
            <a:avLst/>
            <a:gdLst/>
            <a:ahLst/>
            <a:cxnLst/>
            <a:rect l="l" t="t" r="r" b="b"/>
            <a:pathLst>
              <a:path w="3827935" h="3746591">
                <a:moveTo>
                  <a:pt x="0" y="0"/>
                </a:moveTo>
                <a:lnTo>
                  <a:pt x="3827935" y="0"/>
                </a:lnTo>
                <a:lnTo>
                  <a:pt x="3827935" y="3746591"/>
                </a:lnTo>
                <a:lnTo>
                  <a:pt x="0" y="3746591"/>
                </a:lnTo>
                <a:lnTo>
                  <a:pt x="0" y="0"/>
                </a:lnTo>
                <a:close/>
              </a:path>
            </a:pathLst>
          </a:custGeom>
          <a:blipFill>
            <a:blip r:embed="rId6"/>
            <a:stretch>
              <a:fillRect/>
            </a:stretch>
          </a:blipFill>
        </p:spPr>
      </p:sp>
      <p:sp>
        <p:nvSpPr>
          <p:cNvPr id="8" name="Freeform 8"/>
          <p:cNvSpPr/>
          <p:nvPr/>
        </p:nvSpPr>
        <p:spPr>
          <a:xfrm>
            <a:off x="831013" y="7930320"/>
            <a:ext cx="5144101" cy="2231254"/>
          </a:xfrm>
          <a:custGeom>
            <a:avLst/>
            <a:gdLst/>
            <a:ahLst/>
            <a:cxnLst/>
            <a:rect l="l" t="t" r="r" b="b"/>
            <a:pathLst>
              <a:path w="5144101" h="2231254">
                <a:moveTo>
                  <a:pt x="0" y="0"/>
                </a:moveTo>
                <a:lnTo>
                  <a:pt x="5144101" y="0"/>
                </a:lnTo>
                <a:lnTo>
                  <a:pt x="5144101" y="2231254"/>
                </a:lnTo>
                <a:lnTo>
                  <a:pt x="0" y="2231254"/>
                </a:lnTo>
                <a:lnTo>
                  <a:pt x="0" y="0"/>
                </a:lnTo>
                <a:close/>
              </a:path>
            </a:pathLst>
          </a:custGeom>
          <a:blipFill>
            <a:blip r:embed="rId7"/>
            <a:stretch>
              <a:fillRect/>
            </a:stretch>
          </a:blipFill>
        </p:spPr>
      </p:sp>
      <p:sp>
        <p:nvSpPr>
          <p:cNvPr id="9" name="Freeform 9"/>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10" name="Freeform 10"/>
          <p:cNvSpPr/>
          <p:nvPr/>
        </p:nvSpPr>
        <p:spPr>
          <a:xfrm>
            <a:off x="12841943" y="240349"/>
            <a:ext cx="4417357" cy="3329582"/>
          </a:xfrm>
          <a:custGeom>
            <a:avLst/>
            <a:gdLst/>
            <a:ahLst/>
            <a:cxnLst/>
            <a:rect l="l" t="t" r="r" b="b"/>
            <a:pathLst>
              <a:path w="4417357" h="3329582">
                <a:moveTo>
                  <a:pt x="0" y="0"/>
                </a:moveTo>
                <a:lnTo>
                  <a:pt x="4417357" y="0"/>
                </a:lnTo>
                <a:lnTo>
                  <a:pt x="4417357" y="3329582"/>
                </a:lnTo>
                <a:lnTo>
                  <a:pt x="0" y="3329582"/>
                </a:lnTo>
                <a:lnTo>
                  <a:pt x="0" y="0"/>
                </a:lnTo>
                <a:close/>
              </a:path>
            </a:pathLst>
          </a:custGeom>
          <a:blipFill>
            <a:blip r:embed="rId8"/>
            <a:stretch>
              <a:fillRect/>
            </a:stretch>
          </a:blipFill>
        </p:spPr>
      </p:sp>
      <p:sp>
        <p:nvSpPr>
          <p:cNvPr id="11" name="TextBox 11"/>
          <p:cNvSpPr txBox="1"/>
          <p:nvPr/>
        </p:nvSpPr>
        <p:spPr>
          <a:xfrm>
            <a:off x="4592550" y="3737151"/>
            <a:ext cx="9102900" cy="2619051"/>
          </a:xfrm>
          <a:prstGeom prst="rect">
            <a:avLst/>
          </a:prstGeom>
        </p:spPr>
        <p:txBody>
          <a:bodyPr lIns="0" tIns="0" rIns="0" bIns="0" rtlCol="0" anchor="t">
            <a:spAutoFit/>
          </a:bodyPr>
          <a:lstStyle/>
          <a:p>
            <a:pPr algn="ctr">
              <a:lnSpc>
                <a:spcPts val="10517"/>
              </a:lnSpc>
              <a:spcBef>
                <a:spcPct val="0"/>
              </a:spcBef>
            </a:pPr>
            <a:r>
              <a:rPr lang="en-US" sz="7512" b="1">
                <a:solidFill>
                  <a:srgbClr val="FFDE59"/>
                </a:solidFill>
                <a:latin typeface="Open Sans Bold"/>
                <a:ea typeface="Open Sans Bold"/>
                <a:cs typeface="Open Sans Bold"/>
                <a:sym typeface="Open Sans Bold"/>
              </a:rPr>
              <a:t>Cinema: History, Art &amp; Influence</a:t>
            </a:r>
          </a:p>
        </p:txBody>
      </p:sp>
      <p:sp>
        <p:nvSpPr>
          <p:cNvPr id="12" name="TextBox 12"/>
          <p:cNvSpPr txBox="1"/>
          <p:nvPr/>
        </p:nvSpPr>
        <p:spPr>
          <a:xfrm>
            <a:off x="7053239" y="6506109"/>
            <a:ext cx="4181521" cy="570215"/>
          </a:xfrm>
          <a:prstGeom prst="rect">
            <a:avLst/>
          </a:prstGeom>
        </p:spPr>
        <p:txBody>
          <a:bodyPr lIns="0" tIns="0" rIns="0" bIns="0" rtlCol="0" anchor="t">
            <a:spAutoFit/>
          </a:bodyPr>
          <a:lstStyle/>
          <a:p>
            <a:pPr marL="0" lvl="0" indent="0" algn="ctr">
              <a:lnSpc>
                <a:spcPts val="4625"/>
              </a:lnSpc>
              <a:spcBef>
                <a:spcPct val="0"/>
              </a:spcBef>
            </a:pPr>
            <a:r>
              <a:rPr lang="en-US" sz="3304" u="none" strike="noStrike">
                <a:solidFill>
                  <a:srgbClr val="FFDE59"/>
                </a:solidFill>
                <a:latin typeface="Open Sans"/>
                <a:ea typeface="Open Sans"/>
                <a:cs typeface="Open Sans"/>
                <a:sym typeface="Open Sans"/>
              </a:rPr>
              <a:t>by Dr Salma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TextBox 10"/>
          <p:cNvSpPr txBox="1"/>
          <p:nvPr/>
        </p:nvSpPr>
        <p:spPr>
          <a:xfrm>
            <a:off x="2397733" y="1490898"/>
            <a:ext cx="13492534" cy="1028695"/>
          </a:xfrm>
          <a:prstGeom prst="rect">
            <a:avLst/>
          </a:prstGeom>
        </p:spPr>
        <p:txBody>
          <a:bodyPr lIns="0" tIns="0" rIns="0" bIns="0" rtlCol="0" anchor="t">
            <a:spAutoFit/>
          </a:bodyPr>
          <a:lstStyle/>
          <a:p>
            <a:pPr algn="ctr">
              <a:lnSpc>
                <a:spcPts val="8400"/>
              </a:lnSpc>
              <a:spcBef>
                <a:spcPct val="0"/>
              </a:spcBef>
            </a:pPr>
            <a:r>
              <a:rPr lang="en-US" sz="6000" b="1">
                <a:solidFill>
                  <a:srgbClr val="7C2616"/>
                </a:solidFill>
                <a:latin typeface="Open Sans Bold"/>
                <a:ea typeface="Open Sans Bold"/>
                <a:cs typeface="Open Sans Bold"/>
                <a:sym typeface="Open Sans Bold"/>
              </a:rPr>
              <a:t>What Makes a Film Great?</a:t>
            </a:r>
          </a:p>
        </p:txBody>
      </p:sp>
      <p:sp>
        <p:nvSpPr>
          <p:cNvPr id="11" name="TextBox 11"/>
          <p:cNvSpPr txBox="1"/>
          <p:nvPr/>
        </p:nvSpPr>
        <p:spPr>
          <a:xfrm>
            <a:off x="4160954" y="3054279"/>
            <a:ext cx="9966093" cy="6179716"/>
          </a:xfrm>
          <a:prstGeom prst="rect">
            <a:avLst/>
          </a:prstGeom>
        </p:spPr>
        <p:txBody>
          <a:bodyPr lIns="0" tIns="0" rIns="0" bIns="0" rtlCol="0" anchor="t">
            <a:spAutoFit/>
          </a:bodyPr>
          <a:lstStyle/>
          <a:p>
            <a:pPr marL="583812" lvl="1" indent="-291906" algn="l">
              <a:lnSpc>
                <a:spcPts val="3785"/>
              </a:lnSpc>
              <a:spcBef>
                <a:spcPct val="0"/>
              </a:spcBef>
              <a:buFont typeface="Arial"/>
              <a:buChar char="•"/>
            </a:pPr>
            <a:r>
              <a:rPr lang="en-US" sz="2704">
                <a:solidFill>
                  <a:srgbClr val="1A1618"/>
                </a:solidFill>
                <a:latin typeface="Open Sans"/>
                <a:ea typeface="Open Sans"/>
                <a:cs typeface="Open Sans"/>
                <a:sym typeface="Open Sans"/>
              </a:rPr>
              <a:t>What is the </a:t>
            </a:r>
            <a:r>
              <a:rPr lang="en-US" sz="2704" u="none" strike="noStrike">
                <a:solidFill>
                  <a:srgbClr val="1A1618"/>
                </a:solidFill>
                <a:latin typeface="Open Sans"/>
                <a:ea typeface="Open Sans"/>
                <a:cs typeface="Open Sans"/>
                <a:sym typeface="Open Sans"/>
              </a:rPr>
              <a:t>best film you have ever seen?</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What matters more: story or visuals?</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Do awards define quality?</a:t>
            </a:r>
          </a:p>
          <a:p>
            <a:pPr algn="ctr">
              <a:lnSpc>
                <a:spcPts val="3785"/>
              </a:lnSpc>
              <a:spcBef>
                <a:spcPct val="0"/>
              </a:spcBef>
            </a:pPr>
            <a:endParaRPr lang="en-US" sz="2704" u="none" strike="noStrike">
              <a:solidFill>
                <a:srgbClr val="1A1618"/>
              </a:solidFill>
              <a:latin typeface="Open Sans"/>
              <a:ea typeface="Open Sans"/>
              <a:cs typeface="Open Sans"/>
              <a:sym typeface="Open Sans"/>
            </a:endParaRPr>
          </a:p>
          <a:p>
            <a:pPr algn="l">
              <a:lnSpc>
                <a:spcPts val="3785"/>
              </a:lnSpc>
              <a:spcBef>
                <a:spcPct val="0"/>
              </a:spcBef>
            </a:pPr>
            <a:r>
              <a:rPr lang="en-US" sz="2704" u="none" strike="noStrike">
                <a:solidFill>
                  <a:srgbClr val="1A1618"/>
                </a:solidFill>
                <a:latin typeface="Open Sans"/>
                <a:ea typeface="Open Sans"/>
                <a:cs typeface="Open Sans"/>
                <a:sym typeface="Open Sans"/>
              </a:rPr>
              <a:t>Pick a movie from the list below or one from your mind:</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The Godfather</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Citizen Kane</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Avatar</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“The Pursuit of Happyness”</a:t>
            </a:r>
          </a:p>
          <a:p>
            <a:pPr marL="583812" lvl="1" indent="-291906" algn="l">
              <a:lnSpc>
                <a:spcPts val="3785"/>
              </a:lnSpc>
              <a:spcBef>
                <a:spcPct val="0"/>
              </a:spcBef>
              <a:buFont typeface="Arial"/>
              <a:buChar char="•"/>
            </a:pPr>
            <a:r>
              <a:rPr lang="en-US" sz="2704" u="none" strike="noStrike">
                <a:solidFill>
                  <a:srgbClr val="1A1618"/>
                </a:solidFill>
                <a:latin typeface="Open Sans"/>
                <a:ea typeface="Open Sans"/>
                <a:cs typeface="Open Sans"/>
                <a:sym typeface="Open Sans"/>
              </a:rPr>
              <a:t>Interstellar</a:t>
            </a:r>
          </a:p>
          <a:p>
            <a:pPr algn="l">
              <a:lnSpc>
                <a:spcPts val="3785"/>
              </a:lnSpc>
              <a:spcBef>
                <a:spcPct val="0"/>
              </a:spcBef>
            </a:pPr>
            <a:r>
              <a:rPr lang="en-US" sz="2704" u="none" strike="noStrike">
                <a:solidFill>
                  <a:srgbClr val="1A1618"/>
                </a:solidFill>
                <a:latin typeface="Open Sans"/>
                <a:ea typeface="Open Sans"/>
                <a:cs typeface="Open Sans"/>
                <a:sym typeface="Open Sans"/>
              </a:rPr>
              <a:t>And provide reasons for why you liked it or why this movie is considered one of the best.</a:t>
            </a:r>
          </a:p>
          <a:p>
            <a:pPr marL="0" lvl="0" indent="0" algn="l">
              <a:lnSpc>
                <a:spcPts val="3785"/>
              </a:lnSpc>
              <a:spcBef>
                <a:spcPct val="0"/>
              </a:spcBef>
            </a:pPr>
            <a:endParaRPr lang="en-US" sz="2704" u="none" strike="noStrike">
              <a:solidFill>
                <a:srgbClr val="1A1618"/>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4"/>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4"/>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5"/>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6"/>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7"/>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5"/>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8"/>
            <a:stretch>
              <a:fillRect/>
            </a:stretch>
          </a:blipFill>
        </p:spPr>
      </p:sp>
      <p:sp>
        <p:nvSpPr>
          <p:cNvPr id="10" name="TextBox 10"/>
          <p:cNvSpPr txBox="1"/>
          <p:nvPr/>
        </p:nvSpPr>
        <p:spPr>
          <a:xfrm>
            <a:off x="3289119" y="1452798"/>
            <a:ext cx="11709763" cy="1368424"/>
          </a:xfrm>
          <a:prstGeom prst="rect">
            <a:avLst/>
          </a:prstGeom>
        </p:spPr>
        <p:txBody>
          <a:bodyPr lIns="0" tIns="0" rIns="0" bIns="0" rtlCol="0" anchor="t">
            <a:spAutoFit/>
          </a:bodyPr>
          <a:lstStyle/>
          <a:p>
            <a:pPr algn="ctr">
              <a:lnSpc>
                <a:spcPts val="11200"/>
              </a:lnSpc>
              <a:spcBef>
                <a:spcPct val="0"/>
              </a:spcBef>
            </a:pPr>
            <a:r>
              <a:rPr lang="en-US" sz="8000" b="1">
                <a:solidFill>
                  <a:srgbClr val="7C2616"/>
                </a:solidFill>
                <a:latin typeface="Open Sans Bold"/>
                <a:ea typeface="Open Sans Bold"/>
                <a:cs typeface="Open Sans Bold"/>
                <a:sym typeface="Open Sans Bold"/>
              </a:rPr>
              <a:t>The History of Cinema</a:t>
            </a:r>
          </a:p>
        </p:txBody>
      </p:sp>
      <p:sp>
        <p:nvSpPr>
          <p:cNvPr id="11" name="TextBox 11"/>
          <p:cNvSpPr txBox="1"/>
          <p:nvPr/>
        </p:nvSpPr>
        <p:spPr>
          <a:xfrm>
            <a:off x="3650567" y="4186513"/>
            <a:ext cx="4904593" cy="2491636"/>
          </a:xfrm>
          <a:prstGeom prst="rect">
            <a:avLst/>
          </a:prstGeom>
        </p:spPr>
        <p:txBody>
          <a:bodyPr lIns="0" tIns="0" rIns="0" bIns="0" rtlCol="0" anchor="t">
            <a:spAutoFit/>
          </a:bodyPr>
          <a:lstStyle/>
          <a:p>
            <a:pPr marL="519044" lvl="1" indent="-259522" algn="l">
              <a:lnSpc>
                <a:spcPts val="3365"/>
              </a:lnSpc>
              <a:spcBef>
                <a:spcPct val="0"/>
              </a:spcBef>
              <a:buFont typeface="Arial"/>
              <a:buChar char="•"/>
            </a:pPr>
            <a:r>
              <a:rPr lang="en-US" sz="2404">
                <a:solidFill>
                  <a:srgbClr val="1A1618"/>
                </a:solidFill>
                <a:latin typeface="Open Sans"/>
                <a:ea typeface="Open Sans"/>
                <a:cs typeface="Open Sans"/>
                <a:sym typeface="Open Sans"/>
              </a:rPr>
              <a:t>Early cinema (silent fi</a:t>
            </a:r>
            <a:r>
              <a:rPr lang="en-US" sz="2404" u="none" strike="noStrike">
                <a:solidFill>
                  <a:srgbClr val="1A1618"/>
                </a:solidFill>
                <a:latin typeface="Open Sans"/>
                <a:ea typeface="Open Sans"/>
                <a:cs typeface="Open Sans"/>
                <a:sym typeface="Open Sans"/>
              </a:rPr>
              <a:t>lms, black &amp; white)</a:t>
            </a:r>
          </a:p>
          <a:p>
            <a:pPr marL="519044" lvl="1" indent="-259522" algn="l">
              <a:lnSpc>
                <a:spcPts val="3365"/>
              </a:lnSpc>
              <a:spcBef>
                <a:spcPct val="0"/>
              </a:spcBef>
              <a:buFont typeface="Arial"/>
              <a:buChar char="•"/>
            </a:pPr>
            <a:r>
              <a:rPr lang="en-US" sz="2404" u="none" strike="noStrike">
                <a:solidFill>
                  <a:srgbClr val="1A1618"/>
                </a:solidFill>
                <a:latin typeface="Open Sans"/>
                <a:ea typeface="Open Sans"/>
                <a:cs typeface="Open Sans"/>
                <a:sym typeface="Open Sans"/>
              </a:rPr>
              <a:t>Golden Age of Hollywood</a:t>
            </a:r>
          </a:p>
          <a:p>
            <a:pPr marL="519044" lvl="1" indent="-259522" algn="l">
              <a:lnSpc>
                <a:spcPts val="3365"/>
              </a:lnSpc>
              <a:spcBef>
                <a:spcPct val="0"/>
              </a:spcBef>
              <a:buFont typeface="Arial"/>
              <a:buChar char="•"/>
            </a:pPr>
            <a:r>
              <a:rPr lang="en-US" sz="2404" u="none" strike="noStrike">
                <a:solidFill>
                  <a:srgbClr val="1A1618"/>
                </a:solidFill>
                <a:latin typeface="Open Sans"/>
                <a:ea typeface="Open Sans"/>
                <a:cs typeface="Open Sans"/>
                <a:sym typeface="Open Sans"/>
              </a:rPr>
              <a:t>Color &amp; sound revolution</a:t>
            </a:r>
          </a:p>
          <a:p>
            <a:pPr marL="519044" lvl="1" indent="-259522" algn="l">
              <a:lnSpc>
                <a:spcPts val="3365"/>
              </a:lnSpc>
              <a:spcBef>
                <a:spcPct val="0"/>
              </a:spcBef>
              <a:buFont typeface="Arial"/>
              <a:buChar char="•"/>
            </a:pPr>
            <a:r>
              <a:rPr lang="en-US" sz="2404" u="none" strike="noStrike">
                <a:solidFill>
                  <a:srgbClr val="1A1618"/>
                </a:solidFill>
                <a:latin typeface="Open Sans"/>
                <a:ea typeface="Open Sans"/>
                <a:cs typeface="Open Sans"/>
                <a:sym typeface="Open Sans"/>
              </a:rPr>
              <a:t>Digital cinema</a:t>
            </a:r>
          </a:p>
          <a:p>
            <a:pPr marL="0" lvl="0" indent="0" algn="l">
              <a:lnSpc>
                <a:spcPts val="3365"/>
              </a:lnSpc>
              <a:spcBef>
                <a:spcPct val="0"/>
              </a:spcBef>
            </a:pPr>
            <a:endParaRPr lang="en-US" sz="2404" u="none" strike="noStrike">
              <a:solidFill>
                <a:srgbClr val="1A1618"/>
              </a:solidFill>
              <a:latin typeface="Open Sans"/>
              <a:ea typeface="Open Sans"/>
              <a:cs typeface="Open Sans"/>
              <a:sym typeface="Open Sans"/>
            </a:endParaRPr>
          </a:p>
        </p:txBody>
      </p:sp>
      <p:sp>
        <p:nvSpPr>
          <p:cNvPr id="12" name="TextBox 12"/>
          <p:cNvSpPr txBox="1"/>
          <p:nvPr/>
        </p:nvSpPr>
        <p:spPr>
          <a:xfrm>
            <a:off x="3650567" y="3113363"/>
            <a:ext cx="5049894" cy="1111250"/>
          </a:xfrm>
          <a:prstGeom prst="rect">
            <a:avLst/>
          </a:prstGeom>
        </p:spPr>
        <p:txBody>
          <a:bodyPr lIns="0" tIns="0" rIns="0" bIns="0" rtlCol="0" anchor="t">
            <a:spAutoFit/>
          </a:bodyPr>
          <a:lstStyle/>
          <a:p>
            <a:pPr algn="l">
              <a:lnSpc>
                <a:spcPts val="9100"/>
              </a:lnSpc>
              <a:spcBef>
                <a:spcPct val="0"/>
              </a:spcBef>
            </a:pPr>
            <a:r>
              <a:rPr lang="en-US" sz="6500" b="1">
                <a:solidFill>
                  <a:srgbClr val="7C2616"/>
                </a:solidFill>
                <a:latin typeface="Open Sans Bold"/>
                <a:ea typeface="Open Sans Bold"/>
                <a:cs typeface="Open Sans Bold"/>
                <a:sym typeface="Open Sans Bold"/>
              </a:rPr>
              <a:t>01.</a:t>
            </a:r>
          </a:p>
        </p:txBody>
      </p:sp>
      <p:sp>
        <p:nvSpPr>
          <p:cNvPr id="13" name="TextBox 13"/>
          <p:cNvSpPr txBox="1"/>
          <p:nvPr/>
        </p:nvSpPr>
        <p:spPr>
          <a:xfrm>
            <a:off x="9587539" y="4186513"/>
            <a:ext cx="5411342" cy="2910736"/>
          </a:xfrm>
          <a:prstGeom prst="rect">
            <a:avLst/>
          </a:prstGeom>
        </p:spPr>
        <p:txBody>
          <a:bodyPr lIns="0" tIns="0" rIns="0" bIns="0" rtlCol="0" anchor="t">
            <a:spAutoFit/>
          </a:bodyPr>
          <a:lstStyle/>
          <a:p>
            <a:pPr algn="l">
              <a:lnSpc>
                <a:spcPts val="3365"/>
              </a:lnSpc>
            </a:pPr>
            <a:r>
              <a:rPr lang="en-US" sz="2404">
                <a:solidFill>
                  <a:srgbClr val="1A1618"/>
                </a:solidFill>
                <a:latin typeface="Open Sans"/>
                <a:ea typeface="Open Sans"/>
                <a:cs typeface="Open Sans"/>
                <a:sym typeface="Open Sans"/>
              </a:rPr>
              <a:t>Pick one era and present it to your colleagues:</a:t>
            </a:r>
          </a:p>
          <a:p>
            <a:pPr marL="519044" lvl="1" indent="-259522" algn="l">
              <a:lnSpc>
                <a:spcPts val="3365"/>
              </a:lnSpc>
              <a:buAutoNum type="arabicPeriod"/>
            </a:pPr>
            <a:r>
              <a:rPr lang="en-US" sz="2404">
                <a:solidFill>
                  <a:srgbClr val="1A1618"/>
                </a:solidFill>
                <a:latin typeface="Open Sans"/>
                <a:ea typeface="Open Sans"/>
                <a:cs typeface="Open Sans"/>
                <a:sym typeface="Open Sans"/>
              </a:rPr>
              <a:t>Identify major developments?</a:t>
            </a:r>
          </a:p>
          <a:p>
            <a:pPr marL="519044" lvl="1" indent="-259522" algn="l">
              <a:lnSpc>
                <a:spcPts val="3365"/>
              </a:lnSpc>
              <a:buAutoNum type="arabicPeriod"/>
            </a:pPr>
            <a:r>
              <a:rPr lang="en-US" sz="2404">
                <a:solidFill>
                  <a:srgbClr val="1A1618"/>
                </a:solidFill>
                <a:latin typeface="Open Sans"/>
                <a:ea typeface="Open Sans"/>
                <a:cs typeface="Open Sans"/>
                <a:sym typeface="Open Sans"/>
              </a:rPr>
              <a:t>What changed audience experience?</a:t>
            </a:r>
          </a:p>
          <a:p>
            <a:pPr marL="519044" lvl="1" indent="-259522" algn="l">
              <a:lnSpc>
                <a:spcPts val="3365"/>
              </a:lnSpc>
              <a:buAutoNum type="arabicPeriod"/>
            </a:pPr>
            <a:r>
              <a:rPr lang="en-US" sz="2404">
                <a:solidFill>
                  <a:srgbClr val="1A1618"/>
                </a:solidFill>
                <a:latin typeface="Open Sans"/>
                <a:ea typeface="Open Sans"/>
                <a:cs typeface="Open Sans"/>
                <a:sym typeface="Open Sans"/>
              </a:rPr>
              <a:t>Which era had the biggest impact?</a:t>
            </a:r>
          </a:p>
          <a:p>
            <a:pPr marL="0" lvl="0" indent="0" algn="l">
              <a:lnSpc>
                <a:spcPts val="3365"/>
              </a:lnSpc>
              <a:spcBef>
                <a:spcPct val="0"/>
              </a:spcBef>
            </a:pPr>
            <a:endParaRPr lang="en-US" sz="2404">
              <a:solidFill>
                <a:srgbClr val="1A1618"/>
              </a:solidFill>
              <a:latin typeface="Open Sans"/>
              <a:ea typeface="Open Sans"/>
              <a:cs typeface="Open Sans"/>
              <a:sym typeface="Open Sans"/>
            </a:endParaRPr>
          </a:p>
        </p:txBody>
      </p:sp>
      <p:sp>
        <p:nvSpPr>
          <p:cNvPr id="14" name="TextBox 14"/>
          <p:cNvSpPr txBox="1"/>
          <p:nvPr/>
        </p:nvSpPr>
        <p:spPr>
          <a:xfrm>
            <a:off x="9587539" y="3113363"/>
            <a:ext cx="5049894" cy="1111250"/>
          </a:xfrm>
          <a:prstGeom prst="rect">
            <a:avLst/>
          </a:prstGeom>
        </p:spPr>
        <p:txBody>
          <a:bodyPr lIns="0" tIns="0" rIns="0" bIns="0" rtlCol="0" anchor="t">
            <a:spAutoFit/>
          </a:bodyPr>
          <a:lstStyle/>
          <a:p>
            <a:pPr algn="l">
              <a:lnSpc>
                <a:spcPts val="9100"/>
              </a:lnSpc>
              <a:spcBef>
                <a:spcPct val="0"/>
              </a:spcBef>
            </a:pPr>
            <a:r>
              <a:rPr lang="en-US" sz="6500" b="1">
                <a:solidFill>
                  <a:srgbClr val="7C2616"/>
                </a:solidFill>
                <a:latin typeface="Open Sans Bold"/>
                <a:ea typeface="Open Sans Bold"/>
                <a:cs typeface="Open Sans Bold"/>
                <a:sym typeface="Open Sans Bold"/>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4"/>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4"/>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5"/>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6"/>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7"/>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5"/>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8"/>
            <a:stretch>
              <a:fillRect/>
            </a:stretch>
          </a:blipFill>
        </p:spPr>
      </p:sp>
      <p:sp>
        <p:nvSpPr>
          <p:cNvPr id="10" name="TextBox 10"/>
          <p:cNvSpPr txBox="1"/>
          <p:nvPr/>
        </p:nvSpPr>
        <p:spPr>
          <a:xfrm>
            <a:off x="3289119" y="1452798"/>
            <a:ext cx="11709763" cy="1368424"/>
          </a:xfrm>
          <a:prstGeom prst="rect">
            <a:avLst/>
          </a:prstGeom>
        </p:spPr>
        <p:txBody>
          <a:bodyPr lIns="0" tIns="0" rIns="0" bIns="0" rtlCol="0" anchor="t">
            <a:spAutoFit/>
          </a:bodyPr>
          <a:lstStyle/>
          <a:p>
            <a:pPr algn="ctr">
              <a:lnSpc>
                <a:spcPts val="11200"/>
              </a:lnSpc>
              <a:spcBef>
                <a:spcPct val="0"/>
              </a:spcBef>
            </a:pPr>
            <a:r>
              <a:rPr lang="en-US" sz="8000" b="1">
                <a:solidFill>
                  <a:srgbClr val="7C2616"/>
                </a:solidFill>
                <a:latin typeface="Open Sans Bold"/>
                <a:ea typeface="Open Sans Bold"/>
                <a:cs typeface="Open Sans Bold"/>
                <a:sym typeface="Open Sans Bold"/>
              </a:rPr>
              <a:t>Reading</a:t>
            </a:r>
          </a:p>
        </p:txBody>
      </p:sp>
      <p:sp>
        <p:nvSpPr>
          <p:cNvPr id="11" name="TextBox 11"/>
          <p:cNvSpPr txBox="1"/>
          <p:nvPr/>
        </p:nvSpPr>
        <p:spPr>
          <a:xfrm>
            <a:off x="3693121" y="3070964"/>
            <a:ext cx="10578263" cy="2072536"/>
          </a:xfrm>
          <a:prstGeom prst="rect">
            <a:avLst/>
          </a:prstGeom>
        </p:spPr>
        <p:txBody>
          <a:bodyPr lIns="0" tIns="0" rIns="0" bIns="0" rtlCol="0" anchor="t">
            <a:spAutoFit/>
          </a:bodyPr>
          <a:lstStyle/>
          <a:p>
            <a:pPr marL="519044" lvl="1" indent="-259522" algn="l">
              <a:lnSpc>
                <a:spcPts val="3365"/>
              </a:lnSpc>
              <a:buFont typeface="Arial"/>
              <a:buChar char="•"/>
            </a:pPr>
            <a:r>
              <a:rPr lang="en-US" sz="2404">
                <a:solidFill>
                  <a:srgbClr val="1A1618"/>
                </a:solidFill>
                <a:latin typeface="Open Sans"/>
                <a:ea typeface="Open Sans"/>
                <a:cs typeface="Open Sans"/>
                <a:sym typeface="Open Sans"/>
              </a:rPr>
              <a:t>What were the key developments that shaped early cinema?</a:t>
            </a:r>
          </a:p>
          <a:p>
            <a:pPr marL="519044" lvl="1" indent="-259522" algn="l">
              <a:lnSpc>
                <a:spcPts val="3365"/>
              </a:lnSpc>
              <a:buFont typeface="Arial"/>
              <a:buChar char="•"/>
            </a:pPr>
            <a:r>
              <a:rPr lang="en-US" sz="2404">
                <a:solidFill>
                  <a:srgbClr val="1A1618"/>
                </a:solidFill>
                <a:latin typeface="Open Sans"/>
                <a:ea typeface="Open Sans"/>
                <a:cs typeface="Open Sans"/>
                <a:sym typeface="Open Sans"/>
              </a:rPr>
              <a:t>Why wa</a:t>
            </a:r>
            <a:r>
              <a:rPr lang="en-US" sz="2404" u="none" strike="noStrike">
                <a:solidFill>
                  <a:srgbClr val="1A1618"/>
                </a:solidFill>
                <a:latin typeface="Open Sans"/>
                <a:ea typeface="Open Sans"/>
                <a:cs typeface="Open Sans"/>
                <a:sym typeface="Open Sans"/>
              </a:rPr>
              <a:t>s the silent film era important for cinematic storytelling?</a:t>
            </a:r>
          </a:p>
          <a:p>
            <a:pPr marL="519044" lvl="1" indent="-259522" algn="l">
              <a:lnSpc>
                <a:spcPts val="3365"/>
              </a:lnSpc>
              <a:buFont typeface="Arial"/>
              <a:buChar char="•"/>
            </a:pPr>
            <a:r>
              <a:rPr lang="en-US" sz="2404" u="none" strike="noStrike">
                <a:solidFill>
                  <a:srgbClr val="1A1618"/>
                </a:solidFill>
                <a:latin typeface="Open Sans"/>
                <a:ea typeface="Open Sans"/>
                <a:cs typeface="Open Sans"/>
                <a:sym typeface="Open Sans"/>
              </a:rPr>
              <a:t>How did sound change the film industry?</a:t>
            </a:r>
          </a:p>
          <a:p>
            <a:pPr marL="519044" lvl="1" indent="-259522" algn="l">
              <a:lnSpc>
                <a:spcPts val="3365"/>
              </a:lnSpc>
              <a:buFont typeface="Arial"/>
              <a:buChar char="•"/>
            </a:pPr>
            <a:r>
              <a:rPr lang="en-US" sz="2404" u="none" strike="noStrike">
                <a:solidFill>
                  <a:srgbClr val="1A1618"/>
                </a:solidFill>
                <a:latin typeface="Open Sans"/>
                <a:ea typeface="Open Sans"/>
                <a:cs typeface="Open Sans"/>
                <a:sym typeface="Open Sans"/>
              </a:rPr>
              <a:t>Why is Citizen Kane considered influential?</a:t>
            </a:r>
          </a:p>
          <a:p>
            <a:pPr algn="l">
              <a:lnSpc>
                <a:spcPts val="3365"/>
              </a:lnSpc>
            </a:pPr>
            <a:endParaRPr lang="en-US" sz="2404" u="none" strike="noStrike">
              <a:solidFill>
                <a:srgbClr val="1A1618"/>
              </a:solidFill>
              <a:latin typeface="Open Sans"/>
              <a:ea typeface="Open Sans"/>
              <a:cs typeface="Open Sans"/>
              <a:sym typeface="Open Sans"/>
            </a:endParaRPr>
          </a:p>
        </p:txBody>
      </p:sp>
      <p:sp>
        <p:nvSpPr>
          <p:cNvPr id="12" name="TextBox 12"/>
          <p:cNvSpPr txBox="1"/>
          <p:nvPr/>
        </p:nvSpPr>
        <p:spPr>
          <a:xfrm>
            <a:off x="3693121" y="5105400"/>
            <a:ext cx="10578263" cy="3748936"/>
          </a:xfrm>
          <a:prstGeom prst="rect">
            <a:avLst/>
          </a:prstGeom>
        </p:spPr>
        <p:txBody>
          <a:bodyPr lIns="0" tIns="0" rIns="0" bIns="0" rtlCol="0" anchor="t">
            <a:spAutoFit/>
          </a:bodyPr>
          <a:lstStyle/>
          <a:p>
            <a:pPr algn="l">
              <a:lnSpc>
                <a:spcPts val="3365"/>
              </a:lnSpc>
            </a:pPr>
            <a:r>
              <a:rPr lang="en-US" sz="2404">
                <a:solidFill>
                  <a:srgbClr val="1A1618"/>
                </a:solidFill>
                <a:latin typeface="Open Sans"/>
                <a:ea typeface="Open Sans"/>
                <a:cs typeface="Open Sans"/>
                <a:sym typeface="Open Sans"/>
              </a:rPr>
              <a:t>Critical Thinking</a:t>
            </a:r>
          </a:p>
          <a:p>
            <a:pPr marL="519044" lvl="1" indent="-259522" algn="l">
              <a:lnSpc>
                <a:spcPts val="3365"/>
              </a:lnSpc>
              <a:buFont typeface="Arial"/>
              <a:buChar char="•"/>
            </a:pPr>
            <a:r>
              <a:rPr lang="en-US" sz="2404">
                <a:solidFill>
                  <a:srgbClr val="1A1618"/>
                </a:solidFill>
                <a:latin typeface="Open Sans"/>
                <a:ea typeface="Open Sans"/>
                <a:cs typeface="Open Sans"/>
                <a:sym typeface="Open Sans"/>
              </a:rPr>
              <a:t>Do you think modern cinema is better than early cinema? Why or why not?</a:t>
            </a:r>
          </a:p>
          <a:p>
            <a:pPr marL="519044" lvl="1" indent="-259522" algn="l">
              <a:lnSpc>
                <a:spcPts val="3365"/>
              </a:lnSpc>
              <a:buFont typeface="Arial"/>
              <a:buChar char="•"/>
            </a:pPr>
            <a:r>
              <a:rPr lang="en-US" sz="2404">
                <a:solidFill>
                  <a:srgbClr val="1A1618"/>
                </a:solidFill>
                <a:latin typeface="Open Sans"/>
                <a:ea typeface="Open Sans"/>
                <a:cs typeface="Open Sans"/>
                <a:sym typeface="Open Sans"/>
              </a:rPr>
              <a:t>Ha</a:t>
            </a:r>
            <a:r>
              <a:rPr lang="en-US" sz="2404" u="none" strike="noStrike">
                <a:solidFill>
                  <a:srgbClr val="1A1618"/>
                </a:solidFill>
                <a:latin typeface="Open Sans"/>
                <a:ea typeface="Open Sans"/>
                <a:cs typeface="Open Sans"/>
                <a:sym typeface="Open Sans"/>
              </a:rPr>
              <a:t>s technology improved storytelling, or has it made films less creative?</a:t>
            </a:r>
          </a:p>
          <a:p>
            <a:pPr marL="519044" lvl="1" indent="-259522" algn="l">
              <a:lnSpc>
                <a:spcPts val="3365"/>
              </a:lnSpc>
              <a:buFont typeface="Arial"/>
              <a:buChar char="•"/>
            </a:pPr>
            <a:r>
              <a:rPr lang="en-US" sz="2404" u="none" strike="noStrike">
                <a:solidFill>
                  <a:srgbClr val="1A1618"/>
                </a:solidFill>
                <a:latin typeface="Open Sans"/>
                <a:ea typeface="Open Sans"/>
                <a:cs typeface="Open Sans"/>
                <a:sym typeface="Open Sans"/>
              </a:rPr>
              <a:t>What if sound had never been introduced in films? How would cinema be different?</a:t>
            </a:r>
          </a:p>
          <a:p>
            <a:pPr marL="519044" lvl="1" indent="-259522" algn="l">
              <a:lnSpc>
                <a:spcPts val="3365"/>
              </a:lnSpc>
              <a:buFont typeface="Arial"/>
              <a:buChar char="•"/>
            </a:pPr>
            <a:r>
              <a:rPr lang="en-US" sz="2404" u="none" strike="noStrike">
                <a:solidFill>
                  <a:srgbClr val="1A1618"/>
                </a:solidFill>
                <a:latin typeface="Open Sans"/>
                <a:ea typeface="Open Sans"/>
                <a:cs typeface="Open Sans"/>
                <a:sym typeface="Open Sans"/>
              </a:rPr>
              <a:t>Do streaming platforms threaten traditional cinema or improve it?</a:t>
            </a:r>
          </a:p>
          <a:p>
            <a:pPr algn="l">
              <a:lnSpc>
                <a:spcPts val="3365"/>
              </a:lnSpc>
            </a:pPr>
            <a:endParaRPr lang="en-US" sz="2404" u="none" strike="noStrike">
              <a:solidFill>
                <a:srgbClr val="1A1618"/>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4"/>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4"/>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5"/>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6"/>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7"/>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5"/>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8"/>
            <a:stretch>
              <a:fillRect/>
            </a:stretch>
          </a:blipFill>
        </p:spPr>
      </p:sp>
      <p:sp>
        <p:nvSpPr>
          <p:cNvPr id="10" name="Freeform 10"/>
          <p:cNvSpPr/>
          <p:nvPr/>
        </p:nvSpPr>
        <p:spPr>
          <a:xfrm rot="-5400000">
            <a:off x="10052787" y="4528730"/>
            <a:ext cx="4867782" cy="3011940"/>
          </a:xfrm>
          <a:custGeom>
            <a:avLst/>
            <a:gdLst/>
            <a:ahLst/>
            <a:cxnLst/>
            <a:rect l="l" t="t" r="r" b="b"/>
            <a:pathLst>
              <a:path w="4867782" h="3011940">
                <a:moveTo>
                  <a:pt x="0" y="0"/>
                </a:moveTo>
                <a:lnTo>
                  <a:pt x="4867782" y="0"/>
                </a:lnTo>
                <a:lnTo>
                  <a:pt x="4867782" y="3011940"/>
                </a:lnTo>
                <a:lnTo>
                  <a:pt x="0" y="301194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11229589" y="3863117"/>
            <a:ext cx="2514178" cy="4343166"/>
            <a:chOff x="0" y="0"/>
            <a:chExt cx="389512" cy="672870"/>
          </a:xfrm>
        </p:grpSpPr>
        <p:sp>
          <p:nvSpPr>
            <p:cNvPr id="12" name="Freeform 12"/>
            <p:cNvSpPr/>
            <p:nvPr/>
          </p:nvSpPr>
          <p:spPr>
            <a:xfrm>
              <a:off x="0" y="0"/>
              <a:ext cx="389512" cy="672870"/>
            </a:xfrm>
            <a:custGeom>
              <a:avLst/>
              <a:gdLst/>
              <a:ahLst/>
              <a:cxnLst/>
              <a:rect l="l" t="t" r="r" b="b"/>
              <a:pathLst>
                <a:path w="389512" h="672870">
                  <a:moveTo>
                    <a:pt x="0" y="0"/>
                  </a:moveTo>
                  <a:lnTo>
                    <a:pt x="389512" y="0"/>
                  </a:lnTo>
                  <a:lnTo>
                    <a:pt x="389512" y="672870"/>
                  </a:lnTo>
                  <a:lnTo>
                    <a:pt x="0" y="672870"/>
                  </a:lnTo>
                  <a:close/>
                </a:path>
              </a:pathLst>
            </a:custGeom>
            <a:blipFill>
              <a:blip r:embed="rId10"/>
              <a:stretch>
                <a:fillRect l="-79442" r="-79442"/>
              </a:stretch>
            </a:blipFill>
          </p:spPr>
        </p:sp>
      </p:grpSp>
      <p:sp>
        <p:nvSpPr>
          <p:cNvPr id="13" name="TextBox 13"/>
          <p:cNvSpPr txBox="1"/>
          <p:nvPr/>
        </p:nvSpPr>
        <p:spPr>
          <a:xfrm>
            <a:off x="3289119" y="3368746"/>
            <a:ext cx="7327792" cy="4105806"/>
          </a:xfrm>
          <a:prstGeom prst="rect">
            <a:avLst/>
          </a:prstGeom>
        </p:spPr>
        <p:txBody>
          <a:bodyPr lIns="0" tIns="0" rIns="0" bIns="0" rtlCol="0" anchor="t">
            <a:spAutoFit/>
          </a:bodyPr>
          <a:lstStyle/>
          <a:p>
            <a:pPr algn="l">
              <a:lnSpc>
                <a:spcPts val="3645"/>
              </a:lnSpc>
            </a:pPr>
            <a:r>
              <a:rPr lang="en-US" sz="2604" dirty="0">
                <a:solidFill>
                  <a:srgbClr val="1A1618"/>
                </a:solidFill>
                <a:latin typeface="Open Sans"/>
                <a:ea typeface="Open Sans"/>
                <a:cs typeface="Open Sans"/>
                <a:sym typeface="Open Sans"/>
              </a:rPr>
              <a:t>Key Terms:</a:t>
            </a:r>
          </a:p>
          <a:p>
            <a:pPr marL="562223" lvl="1" indent="-281112" algn="l">
              <a:lnSpc>
                <a:spcPts val="3645"/>
              </a:lnSpc>
              <a:spcBef>
                <a:spcPct val="0"/>
              </a:spcBef>
              <a:buFont typeface="Arial"/>
              <a:buChar char="•"/>
            </a:pPr>
            <a:r>
              <a:rPr lang="en-US" sz="2604" dirty="0">
                <a:solidFill>
                  <a:srgbClr val="1A1618"/>
                </a:solidFill>
                <a:latin typeface="Open Sans"/>
                <a:ea typeface="Open Sans"/>
                <a:cs typeface="Open Sans"/>
                <a:sym typeface="Open Sans"/>
              </a:rPr>
              <a:t>cinematog</a:t>
            </a:r>
            <a:r>
              <a:rPr lang="en-US" sz="2604" u="none" strike="noStrike" dirty="0">
                <a:solidFill>
                  <a:srgbClr val="1A1618"/>
                </a:solidFill>
                <a:latin typeface="Open Sans"/>
                <a:ea typeface="Open Sans"/>
                <a:cs typeface="Open Sans"/>
                <a:sym typeface="Open Sans"/>
              </a:rPr>
              <a:t>raphy</a:t>
            </a:r>
          </a:p>
          <a:p>
            <a:pPr marL="562223" lvl="1" indent="-281112" algn="l">
              <a:lnSpc>
                <a:spcPts val="3645"/>
              </a:lnSpc>
              <a:spcBef>
                <a:spcPct val="0"/>
              </a:spcBef>
              <a:buFont typeface="Arial"/>
              <a:buChar char="•"/>
            </a:pPr>
            <a:r>
              <a:rPr lang="en-US" sz="2604" u="none" strike="noStrike" dirty="0">
                <a:solidFill>
                  <a:srgbClr val="1A1618"/>
                </a:solidFill>
                <a:latin typeface="Open Sans"/>
                <a:ea typeface="Open Sans"/>
                <a:cs typeface="Open Sans"/>
                <a:sym typeface="Open Sans"/>
              </a:rPr>
              <a:t>mise-</a:t>
            </a:r>
            <a:r>
              <a:rPr lang="en-US" sz="2604" u="none" strike="noStrike" dirty="0" err="1">
                <a:solidFill>
                  <a:srgbClr val="1A1618"/>
                </a:solidFill>
                <a:latin typeface="Open Sans"/>
                <a:ea typeface="Open Sans"/>
                <a:cs typeface="Open Sans"/>
                <a:sym typeface="Open Sans"/>
              </a:rPr>
              <a:t>en</a:t>
            </a:r>
            <a:r>
              <a:rPr lang="en-US" sz="2604" u="none" strike="noStrike" dirty="0">
                <a:solidFill>
                  <a:srgbClr val="1A1618"/>
                </a:solidFill>
                <a:latin typeface="Open Sans"/>
                <a:ea typeface="Open Sans"/>
                <a:cs typeface="Open Sans"/>
                <a:sym typeface="Open Sans"/>
              </a:rPr>
              <a:t>-</a:t>
            </a:r>
            <a:r>
              <a:rPr lang="en-US" sz="2604" u="none" strike="noStrike" dirty="0" err="1">
                <a:solidFill>
                  <a:srgbClr val="1A1618"/>
                </a:solidFill>
                <a:latin typeface="Open Sans"/>
                <a:ea typeface="Open Sans"/>
                <a:cs typeface="Open Sans"/>
                <a:sym typeface="Open Sans"/>
              </a:rPr>
              <a:t>scène</a:t>
            </a:r>
            <a:endParaRPr lang="en-US" sz="2604" u="none" strike="noStrike" dirty="0">
              <a:solidFill>
                <a:srgbClr val="1A1618"/>
              </a:solidFill>
              <a:latin typeface="Open Sans"/>
              <a:ea typeface="Open Sans"/>
              <a:cs typeface="Open Sans"/>
              <a:sym typeface="Open Sans"/>
            </a:endParaRPr>
          </a:p>
          <a:p>
            <a:pPr marL="562223" lvl="1" indent="-281112" algn="l">
              <a:lnSpc>
                <a:spcPts val="3645"/>
              </a:lnSpc>
              <a:spcBef>
                <a:spcPct val="0"/>
              </a:spcBef>
              <a:buFont typeface="Arial"/>
              <a:buChar char="•"/>
            </a:pPr>
            <a:r>
              <a:rPr lang="en-US" sz="2604" u="none" strike="noStrike" dirty="0">
                <a:solidFill>
                  <a:srgbClr val="1A1618"/>
                </a:solidFill>
                <a:latin typeface="Open Sans"/>
                <a:ea typeface="Open Sans"/>
                <a:cs typeface="Open Sans"/>
                <a:sym typeface="Open Sans"/>
              </a:rPr>
              <a:t>lighting</a:t>
            </a:r>
          </a:p>
          <a:p>
            <a:pPr marL="562223" lvl="1" indent="-281112" algn="l">
              <a:lnSpc>
                <a:spcPts val="3645"/>
              </a:lnSpc>
              <a:spcBef>
                <a:spcPct val="0"/>
              </a:spcBef>
              <a:buFont typeface="Arial"/>
              <a:buChar char="•"/>
            </a:pPr>
            <a:r>
              <a:rPr lang="en-US" sz="2604" u="none" strike="noStrike" dirty="0">
                <a:solidFill>
                  <a:srgbClr val="1A1618"/>
                </a:solidFill>
                <a:latin typeface="Open Sans"/>
                <a:ea typeface="Open Sans"/>
                <a:cs typeface="Open Sans"/>
                <a:sym typeface="Open Sans"/>
              </a:rPr>
              <a:t>framing</a:t>
            </a:r>
          </a:p>
          <a:p>
            <a:pPr marL="562223" lvl="1" indent="-281112" algn="l">
              <a:lnSpc>
                <a:spcPts val="3645"/>
              </a:lnSpc>
              <a:spcBef>
                <a:spcPct val="0"/>
              </a:spcBef>
              <a:buFont typeface="Arial"/>
              <a:buChar char="•"/>
            </a:pPr>
            <a:r>
              <a:rPr lang="en-US" sz="2604" u="none" strike="noStrike" dirty="0">
                <a:solidFill>
                  <a:srgbClr val="1A1618"/>
                </a:solidFill>
                <a:latin typeface="Open Sans"/>
                <a:ea typeface="Open Sans"/>
                <a:cs typeface="Open Sans"/>
                <a:sym typeface="Open Sans"/>
              </a:rPr>
              <a:t>camera movement</a:t>
            </a:r>
          </a:p>
          <a:p>
            <a:pPr marL="562223" lvl="1" indent="-281112" algn="l">
              <a:lnSpc>
                <a:spcPts val="3645"/>
              </a:lnSpc>
              <a:spcBef>
                <a:spcPct val="0"/>
              </a:spcBef>
              <a:buFont typeface="Arial"/>
              <a:buChar char="•"/>
            </a:pPr>
            <a:r>
              <a:rPr lang="en-US" sz="2604" u="none" strike="noStrike" dirty="0">
                <a:solidFill>
                  <a:srgbClr val="1A1618"/>
                </a:solidFill>
                <a:latin typeface="Open Sans"/>
                <a:ea typeface="Open Sans"/>
                <a:cs typeface="Open Sans"/>
                <a:sym typeface="Open Sans"/>
              </a:rPr>
              <a:t>symbolism</a:t>
            </a:r>
          </a:p>
          <a:p>
            <a:pPr marL="0" lvl="0" indent="0" algn="l">
              <a:lnSpc>
                <a:spcPts val="3645"/>
              </a:lnSpc>
              <a:spcBef>
                <a:spcPct val="0"/>
              </a:spcBef>
            </a:pPr>
            <a:r>
              <a:rPr lang="en-US" sz="2604" u="none" strike="noStrike" dirty="0">
                <a:solidFill>
                  <a:srgbClr val="1A1618"/>
                </a:solidFill>
                <a:latin typeface="Open Sans"/>
                <a:ea typeface="Open Sans"/>
                <a:cs typeface="Open Sans"/>
                <a:sym typeface="Open Sans"/>
              </a:rPr>
              <a:t>Provide a definition for each. Then, describe a scene using these terms.</a:t>
            </a:r>
          </a:p>
        </p:txBody>
      </p:sp>
      <p:sp>
        <p:nvSpPr>
          <p:cNvPr id="14" name="Freeform 14"/>
          <p:cNvSpPr/>
          <p:nvPr/>
        </p:nvSpPr>
        <p:spPr>
          <a:xfrm rot="6317123">
            <a:off x="8961605" y="6557196"/>
            <a:ext cx="1112207" cy="2729343"/>
          </a:xfrm>
          <a:custGeom>
            <a:avLst/>
            <a:gdLst/>
            <a:ahLst/>
            <a:cxnLst/>
            <a:rect l="l" t="t" r="r" b="b"/>
            <a:pathLst>
              <a:path w="1112207" h="2729343">
                <a:moveTo>
                  <a:pt x="0" y="0"/>
                </a:moveTo>
                <a:lnTo>
                  <a:pt x="1112207" y="0"/>
                </a:lnTo>
                <a:lnTo>
                  <a:pt x="1112207" y="2729343"/>
                </a:lnTo>
                <a:lnTo>
                  <a:pt x="0" y="2729343"/>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3289119" y="1876750"/>
            <a:ext cx="11709763" cy="1028695"/>
          </a:xfrm>
          <a:prstGeom prst="rect">
            <a:avLst/>
          </a:prstGeom>
        </p:spPr>
        <p:txBody>
          <a:bodyPr lIns="0" tIns="0" rIns="0" bIns="0" rtlCol="0" anchor="t">
            <a:spAutoFit/>
          </a:bodyPr>
          <a:lstStyle/>
          <a:p>
            <a:pPr algn="ctr">
              <a:lnSpc>
                <a:spcPts val="8400"/>
              </a:lnSpc>
              <a:spcBef>
                <a:spcPct val="0"/>
              </a:spcBef>
            </a:pPr>
            <a:r>
              <a:rPr lang="en-US" sz="6000" b="1">
                <a:solidFill>
                  <a:srgbClr val="7C2616"/>
                </a:solidFill>
                <a:latin typeface="Open Sans Bold"/>
                <a:ea typeface="Open Sans Bold"/>
                <a:cs typeface="Open Sans Bold"/>
                <a:sym typeface="Open Sans Bold"/>
              </a:rPr>
              <a:t>Vocabulary &amp; Cinematography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a:off x="3450850" y="1364671"/>
            <a:ext cx="11386301" cy="7557657"/>
          </a:xfrm>
          <a:custGeom>
            <a:avLst/>
            <a:gdLst/>
            <a:ahLst/>
            <a:cxnLst/>
            <a:rect l="l" t="t" r="r" b="b"/>
            <a:pathLst>
              <a:path w="11386301" h="7557657">
                <a:moveTo>
                  <a:pt x="0" y="0"/>
                </a:moveTo>
                <a:lnTo>
                  <a:pt x="11386300" y="0"/>
                </a:lnTo>
                <a:lnTo>
                  <a:pt x="11386300" y="7557658"/>
                </a:lnTo>
                <a:lnTo>
                  <a:pt x="0" y="75576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139596">
            <a:off x="970305" y="5203029"/>
            <a:ext cx="3827935" cy="3746591"/>
          </a:xfrm>
          <a:custGeom>
            <a:avLst/>
            <a:gdLst/>
            <a:ahLst/>
            <a:cxnLst/>
            <a:rect l="l" t="t" r="r" b="b"/>
            <a:pathLst>
              <a:path w="3827935" h="3746591">
                <a:moveTo>
                  <a:pt x="0" y="0"/>
                </a:moveTo>
                <a:lnTo>
                  <a:pt x="3827935" y="0"/>
                </a:lnTo>
                <a:lnTo>
                  <a:pt x="3827935" y="3746591"/>
                </a:lnTo>
                <a:lnTo>
                  <a:pt x="0" y="3746591"/>
                </a:lnTo>
                <a:lnTo>
                  <a:pt x="0" y="0"/>
                </a:lnTo>
                <a:close/>
              </a:path>
            </a:pathLst>
          </a:custGeom>
          <a:blipFill>
            <a:blip r:embed="rId6"/>
            <a:stretch>
              <a:fillRect/>
            </a:stretch>
          </a:blipFill>
        </p:spPr>
      </p:sp>
      <p:sp>
        <p:nvSpPr>
          <p:cNvPr id="8" name="Freeform 8"/>
          <p:cNvSpPr/>
          <p:nvPr/>
        </p:nvSpPr>
        <p:spPr>
          <a:xfrm>
            <a:off x="831013" y="7930320"/>
            <a:ext cx="5144101" cy="2231254"/>
          </a:xfrm>
          <a:custGeom>
            <a:avLst/>
            <a:gdLst/>
            <a:ahLst/>
            <a:cxnLst/>
            <a:rect l="l" t="t" r="r" b="b"/>
            <a:pathLst>
              <a:path w="5144101" h="2231254">
                <a:moveTo>
                  <a:pt x="0" y="0"/>
                </a:moveTo>
                <a:lnTo>
                  <a:pt x="5144101" y="0"/>
                </a:lnTo>
                <a:lnTo>
                  <a:pt x="5144101" y="2231254"/>
                </a:lnTo>
                <a:lnTo>
                  <a:pt x="0" y="2231254"/>
                </a:lnTo>
                <a:lnTo>
                  <a:pt x="0" y="0"/>
                </a:lnTo>
                <a:close/>
              </a:path>
            </a:pathLst>
          </a:custGeom>
          <a:blipFill>
            <a:blip r:embed="rId7"/>
            <a:stretch>
              <a:fillRect/>
            </a:stretch>
          </a:blipFill>
        </p:spPr>
      </p:sp>
      <p:sp>
        <p:nvSpPr>
          <p:cNvPr id="9" name="Freeform 9"/>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10" name="Freeform 10"/>
          <p:cNvSpPr/>
          <p:nvPr/>
        </p:nvSpPr>
        <p:spPr>
          <a:xfrm>
            <a:off x="12841943" y="240349"/>
            <a:ext cx="4417357" cy="3329582"/>
          </a:xfrm>
          <a:custGeom>
            <a:avLst/>
            <a:gdLst/>
            <a:ahLst/>
            <a:cxnLst/>
            <a:rect l="l" t="t" r="r" b="b"/>
            <a:pathLst>
              <a:path w="4417357" h="3329582">
                <a:moveTo>
                  <a:pt x="0" y="0"/>
                </a:moveTo>
                <a:lnTo>
                  <a:pt x="4417357" y="0"/>
                </a:lnTo>
                <a:lnTo>
                  <a:pt x="4417357" y="3329582"/>
                </a:lnTo>
                <a:lnTo>
                  <a:pt x="0" y="3329582"/>
                </a:lnTo>
                <a:lnTo>
                  <a:pt x="0" y="0"/>
                </a:lnTo>
                <a:close/>
              </a:path>
            </a:pathLst>
          </a:custGeom>
          <a:blipFill>
            <a:blip r:embed="rId8"/>
            <a:stretch>
              <a:fillRect/>
            </a:stretch>
          </a:blipFill>
        </p:spPr>
      </p:sp>
      <p:sp>
        <p:nvSpPr>
          <p:cNvPr id="11" name="TextBox 11"/>
          <p:cNvSpPr txBox="1"/>
          <p:nvPr/>
        </p:nvSpPr>
        <p:spPr>
          <a:xfrm>
            <a:off x="4507117" y="4458575"/>
            <a:ext cx="9273766" cy="1181231"/>
          </a:xfrm>
          <a:prstGeom prst="rect">
            <a:avLst/>
          </a:prstGeom>
        </p:spPr>
        <p:txBody>
          <a:bodyPr lIns="0" tIns="0" rIns="0" bIns="0" rtlCol="0" anchor="t">
            <a:spAutoFit/>
          </a:bodyPr>
          <a:lstStyle/>
          <a:p>
            <a:pPr algn="ctr">
              <a:lnSpc>
                <a:spcPts val="9727"/>
              </a:lnSpc>
              <a:spcBef>
                <a:spcPct val="0"/>
              </a:spcBef>
            </a:pPr>
            <a:r>
              <a:rPr lang="en-US" sz="6948" b="1">
                <a:solidFill>
                  <a:srgbClr val="FFDE59"/>
                </a:solidFill>
                <a:latin typeface="Open Sans Bold"/>
                <a:ea typeface="Open Sans Bold"/>
                <a:cs typeface="Open Sans Bold"/>
                <a:sym typeface="Open Sans Bold"/>
              </a:rPr>
              <a:t>GUESS THE MOVIE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4"/>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4"/>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5"/>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6"/>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7"/>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5"/>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8"/>
            <a:stretch>
              <a:fillRect/>
            </a:stretch>
          </a:blipFill>
        </p:spPr>
      </p:sp>
      <p:sp>
        <p:nvSpPr>
          <p:cNvPr id="10" name="TextBox 10"/>
          <p:cNvSpPr txBox="1"/>
          <p:nvPr/>
        </p:nvSpPr>
        <p:spPr>
          <a:xfrm>
            <a:off x="3289119" y="1471848"/>
            <a:ext cx="11709763" cy="1177286"/>
          </a:xfrm>
          <a:prstGeom prst="rect">
            <a:avLst/>
          </a:prstGeom>
        </p:spPr>
        <p:txBody>
          <a:bodyPr lIns="0" tIns="0" rIns="0" bIns="0" rtlCol="0" anchor="t">
            <a:spAutoFit/>
          </a:bodyPr>
          <a:lstStyle/>
          <a:p>
            <a:pPr algn="ctr">
              <a:lnSpc>
                <a:spcPts val="9660"/>
              </a:lnSpc>
              <a:spcBef>
                <a:spcPct val="0"/>
              </a:spcBef>
            </a:pPr>
            <a:r>
              <a:rPr lang="en-US" sz="6900" b="1">
                <a:solidFill>
                  <a:srgbClr val="7C2616"/>
                </a:solidFill>
                <a:latin typeface="Open Sans Bold"/>
                <a:ea typeface="Open Sans Bold"/>
                <a:cs typeface="Open Sans Bold"/>
                <a:sym typeface="Open Sans Bold"/>
              </a:rPr>
              <a:t>Cinematography in Action</a:t>
            </a:r>
          </a:p>
        </p:txBody>
      </p:sp>
      <p:sp>
        <p:nvSpPr>
          <p:cNvPr id="11" name="TextBox 11"/>
          <p:cNvSpPr txBox="1"/>
          <p:nvPr/>
        </p:nvSpPr>
        <p:spPr>
          <a:xfrm>
            <a:off x="2322160" y="4737839"/>
            <a:ext cx="11709763" cy="488211"/>
          </a:xfrm>
          <a:prstGeom prst="rect">
            <a:avLst/>
          </a:prstGeom>
        </p:spPr>
        <p:txBody>
          <a:bodyPr lIns="0" tIns="0" rIns="0" bIns="0" rtlCol="0" anchor="t">
            <a:spAutoFit/>
          </a:bodyPr>
          <a:lstStyle/>
          <a:p>
            <a:pPr marL="626991" lvl="1" indent="-313496" algn="just">
              <a:lnSpc>
                <a:spcPts val="4065"/>
              </a:lnSpc>
              <a:buFont typeface="Arial"/>
              <a:buChar char="•"/>
            </a:pPr>
            <a:r>
              <a:rPr lang="en-US" sz="2904">
                <a:solidFill>
                  <a:srgbClr val="1A1618"/>
                </a:solidFill>
                <a:latin typeface="Open Sans"/>
                <a:ea typeface="Open Sans"/>
                <a:cs typeface="Open Sans"/>
                <a:sym typeface="Open Sans"/>
              </a:rPr>
              <a:t> Watch a </a:t>
            </a:r>
            <a:r>
              <a:rPr lang="en-US" sz="2904" u="none" strike="noStrike">
                <a:solidFill>
                  <a:srgbClr val="1A1618"/>
                </a:solidFill>
                <a:latin typeface="Open Sans"/>
                <a:ea typeface="Open Sans"/>
                <a:cs typeface="Open Sans"/>
                <a:sym typeface="Open Sans"/>
              </a:rPr>
              <a:t>breakdown video of a film scene.</a:t>
            </a:r>
          </a:p>
        </p:txBody>
      </p:sp>
      <p:sp>
        <p:nvSpPr>
          <p:cNvPr id="12" name="TextBox 12"/>
          <p:cNvSpPr txBox="1"/>
          <p:nvPr/>
        </p:nvSpPr>
        <p:spPr>
          <a:xfrm>
            <a:off x="3289119" y="5582656"/>
            <a:ext cx="11709763" cy="1417216"/>
          </a:xfrm>
          <a:prstGeom prst="rect">
            <a:avLst/>
          </a:prstGeom>
        </p:spPr>
        <p:txBody>
          <a:bodyPr lIns="0" tIns="0" rIns="0" bIns="0" rtlCol="0" anchor="t">
            <a:spAutoFit/>
          </a:bodyPr>
          <a:lstStyle/>
          <a:p>
            <a:pPr marL="583812" lvl="1" indent="-291906" algn="just">
              <a:lnSpc>
                <a:spcPts val="3785"/>
              </a:lnSpc>
              <a:buFont typeface="Arial"/>
              <a:buChar char="•"/>
            </a:pPr>
            <a:r>
              <a:rPr lang="en-US" sz="2704">
                <a:solidFill>
                  <a:srgbClr val="1A1618"/>
                </a:solidFill>
                <a:latin typeface="Open Sans"/>
                <a:ea typeface="Open Sans"/>
                <a:cs typeface="Open Sans"/>
                <a:sym typeface="Open Sans"/>
              </a:rPr>
              <a:t>Identify techniqu</a:t>
            </a:r>
            <a:r>
              <a:rPr lang="en-US" sz="2704" u="none" strike="noStrike">
                <a:solidFill>
                  <a:srgbClr val="1A1618"/>
                </a:solidFill>
                <a:latin typeface="Open Sans"/>
                <a:ea typeface="Open Sans"/>
                <a:cs typeface="Open Sans"/>
                <a:sym typeface="Open Sans"/>
              </a:rPr>
              <a:t>es</a:t>
            </a:r>
          </a:p>
          <a:p>
            <a:pPr marL="583812" lvl="1" indent="-291906" algn="just">
              <a:lnSpc>
                <a:spcPts val="3785"/>
              </a:lnSpc>
              <a:buFont typeface="Arial"/>
              <a:buChar char="•"/>
            </a:pPr>
            <a:r>
              <a:rPr lang="en-US" sz="2704" u="none" strike="noStrike">
                <a:solidFill>
                  <a:srgbClr val="1A1618"/>
                </a:solidFill>
                <a:latin typeface="Open Sans"/>
                <a:ea typeface="Open Sans"/>
                <a:cs typeface="Open Sans"/>
                <a:sym typeface="Open Sans"/>
              </a:rPr>
              <a:t>Explain emotional impact</a:t>
            </a:r>
          </a:p>
          <a:p>
            <a:pPr marL="583812" lvl="1" indent="-291906" algn="just">
              <a:lnSpc>
                <a:spcPts val="3785"/>
              </a:lnSpc>
              <a:buFont typeface="Arial"/>
              <a:buChar char="•"/>
            </a:pPr>
            <a:r>
              <a:rPr lang="en-US" sz="2704" u="none" strike="noStrike">
                <a:solidFill>
                  <a:srgbClr val="1A1618"/>
                </a:solidFill>
                <a:latin typeface="Open Sans"/>
                <a:ea typeface="Open Sans"/>
                <a:cs typeface="Open Sans"/>
                <a:sym typeface="Open Sans"/>
              </a:rPr>
              <a:t>Analyze director’s intention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TextBox 10"/>
          <p:cNvSpPr txBox="1"/>
          <p:nvPr/>
        </p:nvSpPr>
        <p:spPr>
          <a:xfrm>
            <a:off x="3289119" y="1452798"/>
            <a:ext cx="11709763" cy="1368424"/>
          </a:xfrm>
          <a:prstGeom prst="rect">
            <a:avLst/>
          </a:prstGeom>
        </p:spPr>
        <p:txBody>
          <a:bodyPr lIns="0" tIns="0" rIns="0" bIns="0" rtlCol="0" anchor="t">
            <a:spAutoFit/>
          </a:bodyPr>
          <a:lstStyle/>
          <a:p>
            <a:pPr algn="ctr">
              <a:lnSpc>
                <a:spcPts val="11200"/>
              </a:lnSpc>
              <a:spcBef>
                <a:spcPct val="0"/>
              </a:spcBef>
            </a:pPr>
            <a:r>
              <a:rPr lang="en-US" sz="8000" b="1">
                <a:solidFill>
                  <a:srgbClr val="7C2616"/>
                </a:solidFill>
                <a:latin typeface="Open Sans Bold"/>
                <a:ea typeface="Open Sans Bold"/>
                <a:cs typeface="Open Sans Bold"/>
                <a:sym typeface="Open Sans Bold"/>
              </a:rPr>
              <a:t>Scene Analysis</a:t>
            </a:r>
          </a:p>
        </p:txBody>
      </p:sp>
      <p:sp>
        <p:nvSpPr>
          <p:cNvPr id="11" name="TextBox 11"/>
          <p:cNvSpPr txBox="1"/>
          <p:nvPr/>
        </p:nvSpPr>
        <p:spPr>
          <a:xfrm>
            <a:off x="3667299" y="4381859"/>
            <a:ext cx="5144411" cy="3191406"/>
          </a:xfrm>
          <a:prstGeom prst="rect">
            <a:avLst/>
          </a:prstGeom>
        </p:spPr>
        <p:txBody>
          <a:bodyPr lIns="0" tIns="0" rIns="0" bIns="0" rtlCol="0" anchor="t">
            <a:spAutoFit/>
          </a:bodyPr>
          <a:lstStyle/>
          <a:p>
            <a:pPr algn="just">
              <a:lnSpc>
                <a:spcPts val="3645"/>
              </a:lnSpc>
            </a:pPr>
            <a:r>
              <a:rPr lang="en-US" sz="2604">
                <a:solidFill>
                  <a:srgbClr val="1A1618"/>
                </a:solidFill>
                <a:latin typeface="Open Sans"/>
                <a:ea typeface="Open Sans"/>
                <a:cs typeface="Open Sans"/>
                <a:sym typeface="Open Sans"/>
              </a:rPr>
              <a:t>Analyze a sc</a:t>
            </a:r>
            <a:r>
              <a:rPr lang="en-US" sz="2604" u="none" strike="noStrike">
                <a:solidFill>
                  <a:srgbClr val="1A1618"/>
                </a:solidFill>
                <a:latin typeface="Open Sans"/>
                <a:ea typeface="Open Sans"/>
                <a:cs typeface="Open Sans"/>
                <a:sym typeface="Open Sans"/>
              </a:rPr>
              <a:t>ene:</a:t>
            </a:r>
          </a:p>
          <a:p>
            <a:pPr algn="just">
              <a:lnSpc>
                <a:spcPts val="3645"/>
              </a:lnSpc>
            </a:pPr>
            <a:r>
              <a:rPr lang="en-US" sz="2604" u="none" strike="noStrike">
                <a:solidFill>
                  <a:srgbClr val="1A1618"/>
                </a:solidFill>
                <a:latin typeface="Open Sans"/>
                <a:ea typeface="Open Sans"/>
                <a:cs typeface="Open Sans"/>
                <a:sym typeface="Open Sans"/>
              </a:rPr>
              <a:t>Focus on:</a:t>
            </a:r>
          </a:p>
          <a:p>
            <a:pPr marL="562223" lvl="1" indent="-281112" algn="just">
              <a:lnSpc>
                <a:spcPts val="3645"/>
              </a:lnSpc>
              <a:buFont typeface="Arial"/>
              <a:buChar char="•"/>
            </a:pPr>
            <a:r>
              <a:rPr lang="en-US" sz="2604" u="none" strike="noStrike">
                <a:solidFill>
                  <a:srgbClr val="1A1618"/>
                </a:solidFill>
                <a:latin typeface="Open Sans"/>
                <a:ea typeface="Open Sans"/>
                <a:cs typeface="Open Sans"/>
                <a:sym typeface="Open Sans"/>
              </a:rPr>
              <a:t>lighting</a:t>
            </a:r>
          </a:p>
          <a:p>
            <a:pPr marL="562223" lvl="1" indent="-281112" algn="just">
              <a:lnSpc>
                <a:spcPts val="3645"/>
              </a:lnSpc>
              <a:buFont typeface="Arial"/>
              <a:buChar char="•"/>
            </a:pPr>
            <a:r>
              <a:rPr lang="en-US" sz="2604" u="none" strike="noStrike">
                <a:solidFill>
                  <a:srgbClr val="1A1618"/>
                </a:solidFill>
                <a:latin typeface="Open Sans"/>
                <a:ea typeface="Open Sans"/>
                <a:cs typeface="Open Sans"/>
                <a:sym typeface="Open Sans"/>
              </a:rPr>
              <a:t>camera angles</a:t>
            </a:r>
          </a:p>
          <a:p>
            <a:pPr marL="562223" lvl="1" indent="-281112" algn="just">
              <a:lnSpc>
                <a:spcPts val="3645"/>
              </a:lnSpc>
              <a:buFont typeface="Arial"/>
              <a:buChar char="•"/>
            </a:pPr>
            <a:r>
              <a:rPr lang="en-US" sz="2604" u="none" strike="noStrike">
                <a:solidFill>
                  <a:srgbClr val="1A1618"/>
                </a:solidFill>
                <a:latin typeface="Open Sans"/>
                <a:ea typeface="Open Sans"/>
                <a:cs typeface="Open Sans"/>
                <a:sym typeface="Open Sans"/>
              </a:rPr>
              <a:t>acting</a:t>
            </a:r>
          </a:p>
          <a:p>
            <a:pPr marL="562223" lvl="1" indent="-281112" algn="just">
              <a:lnSpc>
                <a:spcPts val="3645"/>
              </a:lnSpc>
              <a:buFont typeface="Arial"/>
              <a:buChar char="•"/>
            </a:pPr>
            <a:r>
              <a:rPr lang="en-US" sz="2604" u="none" strike="noStrike">
                <a:solidFill>
                  <a:srgbClr val="1A1618"/>
                </a:solidFill>
                <a:latin typeface="Open Sans"/>
                <a:ea typeface="Open Sans"/>
                <a:cs typeface="Open Sans"/>
                <a:sym typeface="Open Sans"/>
              </a:rPr>
              <a:t>sound</a:t>
            </a:r>
          </a:p>
          <a:p>
            <a:pPr algn="just">
              <a:lnSpc>
                <a:spcPts val="3645"/>
              </a:lnSpc>
            </a:pPr>
            <a:endParaRPr lang="en-US" sz="2604" u="none" strike="noStrike">
              <a:solidFill>
                <a:srgbClr val="1A1618"/>
              </a:solidFill>
              <a:latin typeface="Open Sans"/>
              <a:ea typeface="Open Sans"/>
              <a:cs typeface="Open Sans"/>
              <a:sym typeface="Open Sans"/>
            </a:endParaRPr>
          </a:p>
        </p:txBody>
      </p:sp>
      <p:sp>
        <p:nvSpPr>
          <p:cNvPr id="12" name="TextBox 12"/>
          <p:cNvSpPr txBox="1"/>
          <p:nvPr/>
        </p:nvSpPr>
        <p:spPr>
          <a:xfrm>
            <a:off x="9476290" y="4381859"/>
            <a:ext cx="5365638" cy="2734206"/>
          </a:xfrm>
          <a:prstGeom prst="rect">
            <a:avLst/>
          </a:prstGeom>
        </p:spPr>
        <p:txBody>
          <a:bodyPr lIns="0" tIns="0" rIns="0" bIns="0" rtlCol="0" anchor="t">
            <a:spAutoFit/>
          </a:bodyPr>
          <a:lstStyle/>
          <a:p>
            <a:pPr algn="just">
              <a:lnSpc>
                <a:spcPts val="3645"/>
              </a:lnSpc>
            </a:pPr>
            <a:r>
              <a:rPr lang="en-US" sz="2604">
                <a:solidFill>
                  <a:srgbClr val="1A1618"/>
                </a:solidFill>
                <a:latin typeface="Open Sans"/>
                <a:ea typeface="Open Sans"/>
                <a:cs typeface="Open Sans"/>
                <a:sym typeface="Open Sans"/>
              </a:rPr>
              <a:t>Examples:</a:t>
            </a:r>
          </a:p>
          <a:p>
            <a:pPr marL="562223" lvl="1" indent="-281112" algn="l">
              <a:lnSpc>
                <a:spcPts val="3645"/>
              </a:lnSpc>
              <a:buFont typeface="Arial"/>
              <a:buChar char="•"/>
            </a:pPr>
            <a:r>
              <a:rPr lang="en-US" sz="2604">
                <a:solidFill>
                  <a:srgbClr val="1A1618"/>
                </a:solidFill>
                <a:latin typeface="Open Sans"/>
                <a:ea typeface="Open Sans"/>
                <a:cs typeface="Open Sans"/>
                <a:sym typeface="Open Sans"/>
              </a:rPr>
              <a:t>Titanic</a:t>
            </a:r>
          </a:p>
          <a:p>
            <a:pPr marL="562223" lvl="1" indent="-281112" algn="l">
              <a:lnSpc>
                <a:spcPts val="3645"/>
              </a:lnSpc>
              <a:buFont typeface="Arial"/>
              <a:buChar char="•"/>
            </a:pPr>
            <a:r>
              <a:rPr lang="en-US" sz="2604">
                <a:solidFill>
                  <a:srgbClr val="1A1618"/>
                </a:solidFill>
                <a:latin typeface="Open Sans"/>
                <a:ea typeface="Open Sans"/>
                <a:cs typeface="Open Sans"/>
                <a:sym typeface="Open Sans"/>
              </a:rPr>
              <a:t>Lord of the Rings</a:t>
            </a:r>
          </a:p>
          <a:p>
            <a:pPr marL="562223" lvl="1" indent="-281112" algn="l">
              <a:lnSpc>
                <a:spcPts val="3645"/>
              </a:lnSpc>
              <a:buFont typeface="Arial"/>
              <a:buChar char="•"/>
            </a:pPr>
            <a:r>
              <a:rPr lang="en-US" sz="2604">
                <a:solidFill>
                  <a:srgbClr val="1A1618"/>
                </a:solidFill>
                <a:latin typeface="Open Sans"/>
                <a:ea typeface="Open Sans"/>
                <a:cs typeface="Open Sans"/>
                <a:sym typeface="Open Sans"/>
              </a:rPr>
              <a:t>Harry Potter</a:t>
            </a:r>
          </a:p>
          <a:p>
            <a:pPr marL="562223" lvl="1" indent="-281112" algn="l">
              <a:lnSpc>
                <a:spcPts val="3645"/>
              </a:lnSpc>
              <a:buFont typeface="Arial"/>
              <a:buChar char="•"/>
            </a:pPr>
            <a:r>
              <a:rPr lang="en-US" sz="2604">
                <a:solidFill>
                  <a:srgbClr val="1A1618"/>
                </a:solidFill>
                <a:latin typeface="Open Sans"/>
                <a:ea typeface="Open Sans"/>
                <a:cs typeface="Open Sans"/>
                <a:sym typeface="Open Sans"/>
              </a:rPr>
              <a:t>300</a:t>
            </a:r>
          </a:p>
          <a:p>
            <a:pPr marL="562223" lvl="1" indent="-281112" algn="l">
              <a:lnSpc>
                <a:spcPts val="3645"/>
              </a:lnSpc>
              <a:buFont typeface="Arial"/>
              <a:buChar char="•"/>
            </a:pPr>
            <a:r>
              <a:rPr lang="en-US" sz="2604">
                <a:solidFill>
                  <a:srgbClr val="1A1618"/>
                </a:solidFill>
                <a:latin typeface="Open Sans"/>
                <a:ea typeface="Open Sans"/>
                <a:cs typeface="Open Sans"/>
                <a:sym typeface="Open Sans"/>
              </a:rPr>
              <a:t>or any movie you want to pick.</a:t>
            </a:r>
          </a:p>
        </p:txBody>
      </p:sp>
      <p:sp>
        <p:nvSpPr>
          <p:cNvPr id="13" name="TextBox 13"/>
          <p:cNvSpPr txBox="1"/>
          <p:nvPr/>
        </p:nvSpPr>
        <p:spPr>
          <a:xfrm>
            <a:off x="3667299" y="3339921"/>
            <a:ext cx="5075716" cy="863599"/>
          </a:xfrm>
          <a:prstGeom prst="rect">
            <a:avLst/>
          </a:prstGeom>
        </p:spPr>
        <p:txBody>
          <a:bodyPr lIns="0" tIns="0" rIns="0" bIns="0" rtlCol="0" anchor="t">
            <a:spAutoFit/>
          </a:bodyPr>
          <a:lstStyle/>
          <a:p>
            <a:pPr algn="l">
              <a:lnSpc>
                <a:spcPts val="7000"/>
              </a:lnSpc>
              <a:spcBef>
                <a:spcPct val="0"/>
              </a:spcBef>
            </a:pPr>
            <a:r>
              <a:rPr lang="en-US" sz="5000" b="1">
                <a:solidFill>
                  <a:srgbClr val="7C2616"/>
                </a:solidFill>
                <a:latin typeface="Open Sans Bold"/>
                <a:ea typeface="Open Sans Bold"/>
                <a:cs typeface="Open Sans Bold"/>
                <a:sym typeface="Open Sans Bold"/>
              </a:rPr>
              <a:t>1</a:t>
            </a:r>
          </a:p>
        </p:txBody>
      </p:sp>
      <p:sp>
        <p:nvSpPr>
          <p:cNvPr id="14" name="TextBox 14"/>
          <p:cNvSpPr txBox="1"/>
          <p:nvPr/>
        </p:nvSpPr>
        <p:spPr>
          <a:xfrm>
            <a:off x="9476290" y="3339921"/>
            <a:ext cx="5203696" cy="863599"/>
          </a:xfrm>
          <a:prstGeom prst="rect">
            <a:avLst/>
          </a:prstGeom>
        </p:spPr>
        <p:txBody>
          <a:bodyPr lIns="0" tIns="0" rIns="0" bIns="0" rtlCol="0" anchor="t">
            <a:spAutoFit/>
          </a:bodyPr>
          <a:lstStyle/>
          <a:p>
            <a:pPr algn="l">
              <a:lnSpc>
                <a:spcPts val="7000"/>
              </a:lnSpc>
              <a:spcBef>
                <a:spcPct val="0"/>
              </a:spcBef>
            </a:pPr>
            <a:r>
              <a:rPr lang="en-US" sz="5000" b="1">
                <a:solidFill>
                  <a:srgbClr val="7C2616"/>
                </a:solidFill>
                <a:latin typeface="Open Sans Bold"/>
                <a:ea typeface="Open Sans Bold"/>
                <a:cs typeface="Open Sans Bold"/>
                <a:sym typeface="Open Sans Bold"/>
              </a:rP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Freeform 10"/>
          <p:cNvSpPr/>
          <p:nvPr/>
        </p:nvSpPr>
        <p:spPr>
          <a:xfrm>
            <a:off x="2242511" y="3591185"/>
            <a:ext cx="6934584" cy="3883367"/>
          </a:xfrm>
          <a:custGeom>
            <a:avLst/>
            <a:gdLst/>
            <a:ahLst/>
            <a:cxnLst/>
            <a:rect l="l" t="t" r="r" b="b"/>
            <a:pathLst>
              <a:path w="6934584" h="3883367">
                <a:moveTo>
                  <a:pt x="0" y="0"/>
                </a:moveTo>
                <a:lnTo>
                  <a:pt x="6934584" y="0"/>
                </a:lnTo>
                <a:lnTo>
                  <a:pt x="6934584" y="3883367"/>
                </a:lnTo>
                <a:lnTo>
                  <a:pt x="0" y="3883367"/>
                </a:lnTo>
                <a:lnTo>
                  <a:pt x="0" y="0"/>
                </a:lnTo>
                <a:close/>
              </a:path>
            </a:pathLst>
          </a:custGeom>
          <a:blipFill>
            <a:blip r:embed="rId8"/>
            <a:stretch>
              <a:fillRect/>
            </a:stretch>
          </a:blipFill>
        </p:spPr>
      </p:sp>
      <p:sp>
        <p:nvSpPr>
          <p:cNvPr id="11" name="TextBox 11"/>
          <p:cNvSpPr txBox="1"/>
          <p:nvPr/>
        </p:nvSpPr>
        <p:spPr>
          <a:xfrm>
            <a:off x="3289119" y="1452798"/>
            <a:ext cx="11709763" cy="1368424"/>
          </a:xfrm>
          <a:prstGeom prst="rect">
            <a:avLst/>
          </a:prstGeom>
        </p:spPr>
        <p:txBody>
          <a:bodyPr lIns="0" tIns="0" rIns="0" bIns="0" rtlCol="0" anchor="t">
            <a:spAutoFit/>
          </a:bodyPr>
          <a:lstStyle/>
          <a:p>
            <a:pPr algn="ctr">
              <a:lnSpc>
                <a:spcPts val="11200"/>
              </a:lnSpc>
              <a:spcBef>
                <a:spcPct val="0"/>
              </a:spcBef>
            </a:pPr>
            <a:r>
              <a:rPr lang="en-US" sz="8000" b="1">
                <a:solidFill>
                  <a:srgbClr val="7C2616"/>
                </a:solidFill>
                <a:latin typeface="Open Sans Bold"/>
                <a:ea typeface="Open Sans Bold"/>
                <a:cs typeface="Open Sans Bold"/>
                <a:sym typeface="Open Sans Bold"/>
              </a:rPr>
              <a:t>Debate</a:t>
            </a:r>
          </a:p>
        </p:txBody>
      </p:sp>
      <p:sp>
        <p:nvSpPr>
          <p:cNvPr id="12" name="TextBox 12"/>
          <p:cNvSpPr txBox="1"/>
          <p:nvPr/>
        </p:nvSpPr>
        <p:spPr>
          <a:xfrm>
            <a:off x="9389894" y="4039401"/>
            <a:ext cx="6073564" cy="3498746"/>
          </a:xfrm>
          <a:prstGeom prst="rect">
            <a:avLst/>
          </a:prstGeom>
        </p:spPr>
        <p:txBody>
          <a:bodyPr lIns="0" tIns="0" rIns="0" bIns="0" rtlCol="0" anchor="t">
            <a:spAutoFit/>
          </a:bodyPr>
          <a:lstStyle/>
          <a:p>
            <a:pPr marL="540634" lvl="1" indent="-270317" algn="just">
              <a:lnSpc>
                <a:spcPts val="3505"/>
              </a:lnSpc>
              <a:buFont typeface="Arial"/>
              <a:buChar char="•"/>
            </a:pPr>
            <a:r>
              <a:rPr lang="en-US" sz="2504">
                <a:solidFill>
                  <a:srgbClr val="1A1618"/>
                </a:solidFill>
                <a:latin typeface="Open Sans"/>
                <a:ea typeface="Open Sans"/>
                <a:cs typeface="Open Sans"/>
                <a:sym typeface="Open Sans"/>
              </a:rPr>
              <a:t>“Old films are more arti</a:t>
            </a:r>
            <a:r>
              <a:rPr lang="en-US" sz="2504" u="none" strike="noStrike">
                <a:solidFill>
                  <a:srgbClr val="1A1618"/>
                </a:solidFill>
                <a:latin typeface="Open Sans"/>
                <a:ea typeface="Open Sans"/>
                <a:cs typeface="Open Sans"/>
                <a:sym typeface="Open Sans"/>
              </a:rPr>
              <a:t>stic than modern films.” Do you agree?</a:t>
            </a:r>
          </a:p>
          <a:p>
            <a:pPr marL="540634" lvl="1" indent="-270317" algn="just">
              <a:lnSpc>
                <a:spcPts val="3505"/>
              </a:lnSpc>
              <a:buFont typeface="Arial"/>
              <a:buChar char="•"/>
            </a:pPr>
            <a:r>
              <a:rPr lang="en-US" sz="2504" u="none" strike="noStrike">
                <a:solidFill>
                  <a:srgbClr val="1A1618"/>
                </a:solidFill>
                <a:latin typeface="Open Sans"/>
                <a:ea typeface="Open Sans"/>
                <a:cs typeface="Open Sans"/>
                <a:sym typeface="Open Sans"/>
              </a:rPr>
              <a:t>“Technology is more important than storytelling in cinema today.” Discuss.</a:t>
            </a:r>
          </a:p>
          <a:p>
            <a:pPr marL="540634" lvl="1" indent="-270317" algn="just">
              <a:lnSpc>
                <a:spcPts val="3505"/>
              </a:lnSpc>
              <a:buFont typeface="Arial"/>
              <a:buChar char="•"/>
            </a:pPr>
            <a:r>
              <a:rPr lang="en-US" sz="2504" u="none" strike="noStrike">
                <a:solidFill>
                  <a:srgbClr val="1A1618"/>
                </a:solidFill>
                <a:latin typeface="Open Sans"/>
                <a:ea typeface="Open Sans"/>
                <a:cs typeface="Open Sans"/>
                <a:sym typeface="Open Sans"/>
              </a:rPr>
              <a:t>“Cinematography is more important than storytelling.”</a:t>
            </a:r>
          </a:p>
          <a:p>
            <a:pPr algn="just">
              <a:lnSpc>
                <a:spcPts val="3505"/>
              </a:lnSpc>
            </a:pPr>
            <a:endParaRPr lang="en-US" sz="2504" u="none" strike="noStrike">
              <a:solidFill>
                <a:srgbClr val="1A1618"/>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4"/>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4"/>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5"/>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6"/>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7"/>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5"/>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8"/>
            <a:stretch>
              <a:fillRect/>
            </a:stretch>
          </a:blipFill>
        </p:spPr>
      </p:sp>
      <p:sp>
        <p:nvSpPr>
          <p:cNvPr id="10" name="TextBox 10"/>
          <p:cNvSpPr txBox="1"/>
          <p:nvPr/>
        </p:nvSpPr>
        <p:spPr>
          <a:xfrm>
            <a:off x="3265189" y="1490898"/>
            <a:ext cx="11005451" cy="1028695"/>
          </a:xfrm>
          <a:prstGeom prst="rect">
            <a:avLst/>
          </a:prstGeom>
        </p:spPr>
        <p:txBody>
          <a:bodyPr lIns="0" tIns="0" rIns="0" bIns="0" rtlCol="0" anchor="t">
            <a:spAutoFit/>
          </a:bodyPr>
          <a:lstStyle/>
          <a:p>
            <a:pPr algn="ctr">
              <a:lnSpc>
                <a:spcPts val="8400"/>
              </a:lnSpc>
              <a:spcBef>
                <a:spcPct val="0"/>
              </a:spcBef>
            </a:pPr>
            <a:r>
              <a:rPr lang="en-US" sz="6000" b="1">
                <a:solidFill>
                  <a:srgbClr val="7C2616"/>
                </a:solidFill>
                <a:latin typeface="Open Sans Bold"/>
                <a:ea typeface="Open Sans Bold"/>
                <a:cs typeface="Open Sans Bold"/>
                <a:sym typeface="Open Sans Bold"/>
              </a:rPr>
              <a:t>Film Scene Interpretation</a:t>
            </a:r>
          </a:p>
        </p:txBody>
      </p:sp>
      <p:sp>
        <p:nvSpPr>
          <p:cNvPr id="11" name="TextBox 11"/>
          <p:cNvSpPr txBox="1"/>
          <p:nvPr/>
        </p:nvSpPr>
        <p:spPr>
          <a:xfrm>
            <a:off x="4160954" y="3391810"/>
            <a:ext cx="9966093" cy="1064156"/>
          </a:xfrm>
          <a:prstGeom prst="rect">
            <a:avLst/>
          </a:prstGeom>
        </p:spPr>
        <p:txBody>
          <a:bodyPr lIns="0" tIns="0" rIns="0" bIns="0" rtlCol="0" anchor="t">
            <a:spAutoFit/>
          </a:bodyPr>
          <a:lstStyle/>
          <a:p>
            <a:pPr marL="670170" lvl="1" indent="-335085" algn="l">
              <a:lnSpc>
                <a:spcPts val="4345"/>
              </a:lnSpc>
              <a:buFont typeface="Arial"/>
              <a:buChar char="•"/>
            </a:pPr>
            <a:r>
              <a:rPr lang="en-US" sz="3104">
                <a:solidFill>
                  <a:srgbClr val="1A1618"/>
                </a:solidFill>
                <a:latin typeface="Open Sans"/>
                <a:ea typeface="Open Sans"/>
                <a:cs typeface="Open Sans"/>
                <a:sym typeface="Open Sans"/>
              </a:rPr>
              <a:t>What emotions are conveyed?</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How do vi</a:t>
            </a:r>
            <a:r>
              <a:rPr lang="en-US" sz="3104" u="none" strike="noStrike">
                <a:solidFill>
                  <a:srgbClr val="1A1618"/>
                </a:solidFill>
                <a:latin typeface="Open Sans"/>
                <a:ea typeface="Open Sans"/>
                <a:cs typeface="Open Sans"/>
                <a:sym typeface="Open Sans"/>
              </a:rPr>
              <a:t>suals support the story?</a:t>
            </a:r>
          </a:p>
        </p:txBody>
      </p:sp>
      <p:sp>
        <p:nvSpPr>
          <p:cNvPr id="12" name="TextBox 12"/>
          <p:cNvSpPr txBox="1"/>
          <p:nvPr/>
        </p:nvSpPr>
        <p:spPr>
          <a:xfrm>
            <a:off x="4160954" y="4990001"/>
            <a:ext cx="9966093" cy="521231"/>
          </a:xfrm>
          <a:prstGeom prst="rect">
            <a:avLst/>
          </a:prstGeom>
        </p:spPr>
        <p:txBody>
          <a:bodyPr lIns="0" tIns="0" rIns="0" bIns="0" rtlCol="0" anchor="t">
            <a:spAutoFit/>
          </a:bodyPr>
          <a:lstStyle/>
          <a:p>
            <a:pPr marL="670170" lvl="1" indent="-335085" algn="l">
              <a:lnSpc>
                <a:spcPts val="4345"/>
              </a:lnSpc>
              <a:buFont typeface="Arial"/>
              <a:buChar char="•"/>
            </a:pPr>
            <a:r>
              <a:rPr lang="en-US" sz="3104">
                <a:solidFill>
                  <a:srgbClr val="1A1618"/>
                </a:solidFill>
                <a:latin typeface="Open Sans"/>
                <a:ea typeface="Open Sans"/>
                <a:cs typeface="Open Sans"/>
                <a:sym typeface="Open Sans"/>
              </a:rPr>
              <a:t>Provide a similar Example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TextBox 10"/>
          <p:cNvSpPr txBox="1"/>
          <p:nvPr/>
        </p:nvSpPr>
        <p:spPr>
          <a:xfrm>
            <a:off x="3265189" y="1490898"/>
            <a:ext cx="11005451" cy="1028695"/>
          </a:xfrm>
          <a:prstGeom prst="rect">
            <a:avLst/>
          </a:prstGeom>
        </p:spPr>
        <p:txBody>
          <a:bodyPr lIns="0" tIns="0" rIns="0" bIns="0" rtlCol="0" anchor="t">
            <a:spAutoFit/>
          </a:bodyPr>
          <a:lstStyle/>
          <a:p>
            <a:pPr algn="ctr">
              <a:lnSpc>
                <a:spcPts val="8400"/>
              </a:lnSpc>
              <a:spcBef>
                <a:spcPct val="0"/>
              </a:spcBef>
            </a:pPr>
            <a:r>
              <a:rPr lang="en-US" sz="6000" b="1">
                <a:solidFill>
                  <a:srgbClr val="7C2616"/>
                </a:solidFill>
                <a:latin typeface="Open Sans Bold"/>
                <a:ea typeface="Open Sans Bold"/>
                <a:cs typeface="Open Sans Bold"/>
                <a:sym typeface="Open Sans Bold"/>
              </a:rPr>
              <a:t>Film Industry Panel</a:t>
            </a:r>
          </a:p>
        </p:txBody>
      </p:sp>
      <p:sp>
        <p:nvSpPr>
          <p:cNvPr id="11" name="TextBox 11"/>
          <p:cNvSpPr txBox="1"/>
          <p:nvPr/>
        </p:nvSpPr>
        <p:spPr>
          <a:xfrm>
            <a:off x="4065830" y="2907453"/>
            <a:ext cx="9966093" cy="4864631"/>
          </a:xfrm>
          <a:prstGeom prst="rect">
            <a:avLst/>
          </a:prstGeom>
        </p:spPr>
        <p:txBody>
          <a:bodyPr lIns="0" tIns="0" rIns="0" bIns="0" rtlCol="0" anchor="t">
            <a:spAutoFit/>
          </a:bodyPr>
          <a:lstStyle/>
          <a:p>
            <a:pPr algn="l">
              <a:lnSpc>
                <a:spcPts val="4345"/>
              </a:lnSpc>
            </a:pPr>
            <a:r>
              <a:rPr lang="en-US" sz="3104">
                <a:solidFill>
                  <a:srgbClr val="1A1618"/>
                </a:solidFill>
                <a:latin typeface="Open Sans"/>
                <a:ea typeface="Open Sans"/>
                <a:cs typeface="Open Sans"/>
                <a:sym typeface="Open Sans"/>
              </a:rPr>
              <a:t>Roles:</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director</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critic</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producer</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audience</a:t>
            </a:r>
          </a:p>
          <a:p>
            <a:pPr algn="l">
              <a:lnSpc>
                <a:spcPts val="4345"/>
              </a:lnSpc>
            </a:pPr>
            <a:r>
              <a:rPr lang="en-US" sz="3104">
                <a:solidFill>
                  <a:srgbClr val="1A1618"/>
                </a:solidFill>
                <a:latin typeface="Open Sans"/>
                <a:ea typeface="Open Sans"/>
                <a:cs typeface="Open Sans"/>
                <a:sym typeface="Open Sans"/>
              </a:rPr>
              <a:t>Task:</a:t>
            </a:r>
          </a:p>
          <a:p>
            <a:pPr algn="l">
              <a:lnSpc>
                <a:spcPts val="4345"/>
              </a:lnSpc>
            </a:pPr>
            <a:r>
              <a:rPr lang="en-US" sz="3104">
                <a:solidFill>
                  <a:srgbClr val="1A1618"/>
                </a:solidFill>
                <a:latin typeface="Open Sans"/>
                <a:ea typeface="Open Sans"/>
                <a:cs typeface="Open Sans"/>
                <a:sym typeface="Open Sans"/>
              </a:rPr>
              <a:t>Discuss:</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What makes a film successful?</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How </a:t>
            </a:r>
            <a:r>
              <a:rPr lang="en-US" sz="3104" u="none" strike="noStrike">
                <a:solidFill>
                  <a:srgbClr val="1A1618"/>
                </a:solidFill>
                <a:latin typeface="Open Sans"/>
                <a:ea typeface="Open Sans"/>
                <a:cs typeface="Open Sans"/>
                <a:sym typeface="Open Sans"/>
              </a:rPr>
              <a:t>should films be evaluated?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TextBox 10"/>
          <p:cNvSpPr txBox="1"/>
          <p:nvPr/>
        </p:nvSpPr>
        <p:spPr>
          <a:xfrm>
            <a:off x="3265189" y="1490898"/>
            <a:ext cx="11005451" cy="1028695"/>
          </a:xfrm>
          <a:prstGeom prst="rect">
            <a:avLst/>
          </a:prstGeom>
        </p:spPr>
        <p:txBody>
          <a:bodyPr lIns="0" tIns="0" rIns="0" bIns="0" rtlCol="0" anchor="t">
            <a:spAutoFit/>
          </a:bodyPr>
          <a:lstStyle/>
          <a:p>
            <a:pPr algn="ctr">
              <a:lnSpc>
                <a:spcPts val="8400"/>
              </a:lnSpc>
              <a:spcBef>
                <a:spcPct val="0"/>
              </a:spcBef>
            </a:pPr>
            <a:r>
              <a:rPr lang="en-US" sz="6000" b="1">
                <a:solidFill>
                  <a:srgbClr val="7C2616"/>
                </a:solidFill>
                <a:latin typeface="Open Sans Bold"/>
                <a:ea typeface="Open Sans Bold"/>
                <a:cs typeface="Open Sans Bold"/>
                <a:sym typeface="Open Sans Bold"/>
              </a:rPr>
              <a:t>Writing Task </a:t>
            </a:r>
          </a:p>
        </p:txBody>
      </p:sp>
      <p:sp>
        <p:nvSpPr>
          <p:cNvPr id="11" name="TextBox 11"/>
          <p:cNvSpPr txBox="1"/>
          <p:nvPr/>
        </p:nvSpPr>
        <p:spPr>
          <a:xfrm>
            <a:off x="4065830" y="2907453"/>
            <a:ext cx="9966093" cy="4321706"/>
          </a:xfrm>
          <a:prstGeom prst="rect">
            <a:avLst/>
          </a:prstGeom>
        </p:spPr>
        <p:txBody>
          <a:bodyPr lIns="0" tIns="0" rIns="0" bIns="0" rtlCol="0" anchor="t">
            <a:spAutoFit/>
          </a:bodyPr>
          <a:lstStyle/>
          <a:p>
            <a:pPr algn="l">
              <a:lnSpc>
                <a:spcPts val="4345"/>
              </a:lnSpc>
            </a:pPr>
            <a:r>
              <a:rPr lang="en-US" sz="3104">
                <a:solidFill>
                  <a:srgbClr val="1A1618"/>
                </a:solidFill>
                <a:latin typeface="Open Sans"/>
                <a:ea typeface="Open Sans"/>
                <a:cs typeface="Open Sans"/>
                <a:sym typeface="Open Sans"/>
              </a:rPr>
              <a:t>Option 1: Film Review</a:t>
            </a:r>
          </a:p>
          <a:p>
            <a:pPr algn="l">
              <a:lnSpc>
                <a:spcPts val="4345"/>
              </a:lnSpc>
            </a:pPr>
            <a:r>
              <a:rPr lang="en-US" sz="3104">
                <a:solidFill>
                  <a:srgbClr val="1A1618"/>
                </a:solidFill>
                <a:latin typeface="Open Sans"/>
                <a:ea typeface="Open Sans"/>
                <a:cs typeface="Open Sans"/>
                <a:sym typeface="Open Sans"/>
              </a:rPr>
              <a:t>Analyze a movie.</a:t>
            </a:r>
          </a:p>
          <a:p>
            <a:pPr algn="l">
              <a:lnSpc>
                <a:spcPts val="4345"/>
              </a:lnSpc>
            </a:pPr>
            <a:endParaRPr lang="en-US" sz="3104">
              <a:solidFill>
                <a:srgbClr val="1A1618"/>
              </a:solidFill>
              <a:latin typeface="Open Sans"/>
              <a:ea typeface="Open Sans"/>
              <a:cs typeface="Open Sans"/>
              <a:sym typeface="Open Sans"/>
            </a:endParaRPr>
          </a:p>
          <a:p>
            <a:pPr algn="l">
              <a:lnSpc>
                <a:spcPts val="4345"/>
              </a:lnSpc>
            </a:pPr>
            <a:r>
              <a:rPr lang="en-US" sz="3104">
                <a:solidFill>
                  <a:srgbClr val="1A1618"/>
                </a:solidFill>
                <a:latin typeface="Open Sans"/>
                <a:ea typeface="Open Sans"/>
                <a:cs typeface="Open Sans"/>
                <a:sym typeface="Open Sans"/>
              </a:rPr>
              <a:t>Option 2: Essay</a:t>
            </a:r>
          </a:p>
          <a:p>
            <a:pPr algn="l">
              <a:lnSpc>
                <a:spcPts val="4345"/>
              </a:lnSpc>
            </a:pPr>
            <a:r>
              <a:rPr lang="en-US" sz="3104">
                <a:solidFill>
                  <a:srgbClr val="1A1618"/>
                </a:solidFill>
                <a:latin typeface="Open Sans"/>
                <a:ea typeface="Open Sans"/>
                <a:cs typeface="Open Sans"/>
                <a:sym typeface="Open Sans"/>
              </a:rPr>
              <a:t>“What defines a great film?”</a:t>
            </a:r>
          </a:p>
          <a:p>
            <a:pPr algn="l">
              <a:lnSpc>
                <a:spcPts val="4345"/>
              </a:lnSpc>
            </a:pPr>
            <a:endParaRPr lang="en-US" sz="3104">
              <a:solidFill>
                <a:srgbClr val="1A1618"/>
              </a:solidFill>
              <a:latin typeface="Open Sans"/>
              <a:ea typeface="Open Sans"/>
              <a:cs typeface="Open Sans"/>
              <a:sym typeface="Open Sans"/>
            </a:endParaRPr>
          </a:p>
          <a:p>
            <a:pPr algn="l">
              <a:lnSpc>
                <a:spcPts val="4345"/>
              </a:lnSpc>
            </a:pPr>
            <a:r>
              <a:rPr lang="en-US" sz="3104">
                <a:solidFill>
                  <a:srgbClr val="1A1618"/>
                </a:solidFill>
                <a:latin typeface="Open Sans"/>
                <a:ea typeface="Open Sans"/>
                <a:cs typeface="Open Sans"/>
                <a:sym typeface="Open Sans"/>
              </a:rPr>
              <a:t>Requirements:</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250–300 w</a:t>
            </a:r>
            <a:r>
              <a:rPr lang="en-US" sz="3104" u="none" strike="noStrike">
                <a:solidFill>
                  <a:srgbClr val="1A1618"/>
                </a:solidFill>
                <a:latin typeface="Open Sans"/>
                <a:ea typeface="Open Sans"/>
                <a:cs typeface="Open Sans"/>
                <a:sym typeface="Open Sans"/>
              </a:rPr>
              <a:t>ords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rot="-1139596">
            <a:off x="385787" y="6301013"/>
            <a:ext cx="2921546" cy="2859464"/>
          </a:xfrm>
          <a:custGeom>
            <a:avLst/>
            <a:gdLst/>
            <a:ahLst/>
            <a:cxnLst/>
            <a:rect l="l" t="t" r="r" b="b"/>
            <a:pathLst>
              <a:path w="2921546" h="2859464">
                <a:moveTo>
                  <a:pt x="0" y="0"/>
                </a:moveTo>
                <a:lnTo>
                  <a:pt x="2921547" y="0"/>
                </a:lnTo>
                <a:lnTo>
                  <a:pt x="2921547" y="2859464"/>
                </a:lnTo>
                <a:lnTo>
                  <a:pt x="0" y="2859464"/>
                </a:lnTo>
                <a:lnTo>
                  <a:pt x="0" y="0"/>
                </a:lnTo>
                <a:close/>
              </a:path>
            </a:pathLst>
          </a:custGeom>
          <a:blipFill>
            <a:blip r:embed="rId5"/>
            <a:stretch>
              <a:fillRect/>
            </a:stretch>
          </a:blipFill>
        </p:spPr>
      </p:sp>
      <p:sp>
        <p:nvSpPr>
          <p:cNvPr id="7" name="Freeform 7"/>
          <p:cNvSpPr/>
          <p:nvPr/>
        </p:nvSpPr>
        <p:spPr>
          <a:xfrm>
            <a:off x="279477" y="8382530"/>
            <a:ext cx="3926068" cy="1702932"/>
          </a:xfrm>
          <a:custGeom>
            <a:avLst/>
            <a:gdLst/>
            <a:ahLst/>
            <a:cxnLst/>
            <a:rect l="l" t="t" r="r" b="b"/>
            <a:pathLst>
              <a:path w="3926068" h="1702932">
                <a:moveTo>
                  <a:pt x="0" y="0"/>
                </a:moveTo>
                <a:lnTo>
                  <a:pt x="3926068" y="0"/>
                </a:lnTo>
                <a:lnTo>
                  <a:pt x="3926068" y="1702931"/>
                </a:lnTo>
                <a:lnTo>
                  <a:pt x="0" y="1702931"/>
                </a:lnTo>
                <a:lnTo>
                  <a:pt x="0" y="0"/>
                </a:lnTo>
                <a:close/>
              </a:path>
            </a:pathLst>
          </a:custGeom>
          <a:blipFill>
            <a:blip r:embed="rId6"/>
            <a:stretch>
              <a:fillRect/>
            </a:stretch>
          </a:blipFill>
        </p:spPr>
      </p:sp>
      <p:sp>
        <p:nvSpPr>
          <p:cNvPr id="8" name="Freeform 8"/>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9" name="Freeform 9"/>
          <p:cNvSpPr/>
          <p:nvPr/>
        </p:nvSpPr>
        <p:spPr>
          <a:xfrm>
            <a:off x="14031923" y="1189"/>
            <a:ext cx="4256077" cy="3208018"/>
          </a:xfrm>
          <a:custGeom>
            <a:avLst/>
            <a:gdLst/>
            <a:ahLst/>
            <a:cxnLst/>
            <a:rect l="l" t="t" r="r" b="b"/>
            <a:pathLst>
              <a:path w="4256077" h="3208018">
                <a:moveTo>
                  <a:pt x="0" y="0"/>
                </a:moveTo>
                <a:lnTo>
                  <a:pt x="4256077" y="0"/>
                </a:lnTo>
                <a:lnTo>
                  <a:pt x="4256077" y="3208018"/>
                </a:lnTo>
                <a:lnTo>
                  <a:pt x="0" y="3208018"/>
                </a:lnTo>
                <a:lnTo>
                  <a:pt x="0" y="0"/>
                </a:lnTo>
                <a:close/>
              </a:path>
            </a:pathLst>
          </a:custGeom>
          <a:blipFill>
            <a:blip r:embed="rId7"/>
            <a:stretch>
              <a:fillRect/>
            </a:stretch>
          </a:blipFill>
        </p:spPr>
      </p:sp>
      <p:sp>
        <p:nvSpPr>
          <p:cNvPr id="10" name="TextBox 10"/>
          <p:cNvSpPr txBox="1"/>
          <p:nvPr/>
        </p:nvSpPr>
        <p:spPr>
          <a:xfrm>
            <a:off x="3265189" y="1490898"/>
            <a:ext cx="11005451" cy="979165"/>
          </a:xfrm>
          <a:prstGeom prst="rect">
            <a:avLst/>
          </a:prstGeom>
        </p:spPr>
        <p:txBody>
          <a:bodyPr lIns="0" tIns="0" rIns="0" bIns="0" rtlCol="0" anchor="t">
            <a:spAutoFit/>
          </a:bodyPr>
          <a:lstStyle/>
          <a:p>
            <a:pPr algn="ctr">
              <a:lnSpc>
                <a:spcPts val="7980"/>
              </a:lnSpc>
              <a:spcBef>
                <a:spcPct val="0"/>
              </a:spcBef>
            </a:pPr>
            <a:r>
              <a:rPr lang="en-US" sz="5700" b="1">
                <a:solidFill>
                  <a:srgbClr val="7C2616"/>
                </a:solidFill>
                <a:latin typeface="Open Sans Bold"/>
                <a:ea typeface="Open Sans Bold"/>
                <a:cs typeface="Open Sans Bold"/>
                <a:sym typeface="Open Sans Bold"/>
              </a:rPr>
              <a:t>Create the Greatest Film Ever!</a:t>
            </a:r>
          </a:p>
        </p:txBody>
      </p:sp>
      <p:sp>
        <p:nvSpPr>
          <p:cNvPr id="11" name="TextBox 11"/>
          <p:cNvSpPr txBox="1"/>
          <p:nvPr/>
        </p:nvSpPr>
        <p:spPr>
          <a:xfrm>
            <a:off x="4065830" y="2907453"/>
            <a:ext cx="9966093" cy="3778781"/>
          </a:xfrm>
          <a:prstGeom prst="rect">
            <a:avLst/>
          </a:prstGeom>
        </p:spPr>
        <p:txBody>
          <a:bodyPr lIns="0" tIns="0" rIns="0" bIns="0" rtlCol="0" anchor="t">
            <a:spAutoFit/>
          </a:bodyPr>
          <a:lstStyle/>
          <a:p>
            <a:pPr algn="l">
              <a:lnSpc>
                <a:spcPts val="4345"/>
              </a:lnSpc>
            </a:pPr>
            <a:r>
              <a:rPr lang="en-US" sz="3104">
                <a:solidFill>
                  <a:srgbClr val="1A1618"/>
                </a:solidFill>
                <a:latin typeface="Open Sans"/>
                <a:ea typeface="Open Sans"/>
                <a:cs typeface="Open Sans"/>
                <a:sym typeface="Open Sans"/>
              </a:rPr>
              <a:t>Students design a film:</a:t>
            </a:r>
          </a:p>
          <a:p>
            <a:pPr algn="l">
              <a:lnSpc>
                <a:spcPts val="4345"/>
              </a:lnSpc>
            </a:pPr>
            <a:r>
              <a:rPr lang="en-US" sz="3104">
                <a:solidFill>
                  <a:srgbClr val="1A1618"/>
                </a:solidFill>
                <a:latin typeface="Open Sans"/>
                <a:ea typeface="Open Sans"/>
                <a:cs typeface="Open Sans"/>
                <a:sym typeface="Open Sans"/>
              </a:rPr>
              <a:t>Include:</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genre</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storyline</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cinematography style</a:t>
            </a:r>
          </a:p>
          <a:p>
            <a:pPr marL="670170" lvl="1" indent="-335085" algn="l">
              <a:lnSpc>
                <a:spcPts val="4345"/>
              </a:lnSpc>
              <a:buFont typeface="Arial"/>
              <a:buChar char="•"/>
            </a:pPr>
            <a:r>
              <a:rPr lang="en-US" sz="3104">
                <a:solidFill>
                  <a:srgbClr val="1A1618"/>
                </a:solidFill>
                <a:latin typeface="Open Sans"/>
                <a:ea typeface="Open Sans"/>
                <a:cs typeface="Open Sans"/>
                <a:sym typeface="Open Sans"/>
              </a:rPr>
              <a:t>target audience</a:t>
            </a:r>
          </a:p>
          <a:p>
            <a:pPr algn="l">
              <a:lnSpc>
                <a:spcPts val="4345"/>
              </a:lnSpc>
            </a:pPr>
            <a:r>
              <a:rPr lang="en-US" sz="3104">
                <a:solidFill>
                  <a:srgbClr val="1A1618"/>
                </a:solidFill>
                <a:latin typeface="Open Sans"/>
                <a:ea typeface="Open Sans"/>
                <a:cs typeface="Open Sans"/>
                <a:sym typeface="Open Sans"/>
              </a:rPr>
              <a:t>Present t</a:t>
            </a:r>
            <a:r>
              <a:rPr lang="en-US" sz="3104" u="none" strike="noStrike">
                <a:solidFill>
                  <a:srgbClr val="1A1618"/>
                </a:solidFill>
                <a:latin typeface="Open Sans"/>
                <a:ea typeface="Open Sans"/>
                <a:cs typeface="Open Sans"/>
                <a:sym typeface="Open Sans"/>
              </a:rPr>
              <a:t>o class.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964" b="-14035"/>
            </a:stretch>
          </a:blipFill>
        </p:spPr>
      </p:sp>
      <p:sp>
        <p:nvSpPr>
          <p:cNvPr id="3" name="Freeform 3"/>
          <p:cNvSpPr/>
          <p:nvPr/>
        </p:nvSpPr>
        <p:spPr>
          <a:xfrm>
            <a:off x="0" y="1189"/>
            <a:ext cx="1401011" cy="2447059"/>
          </a:xfrm>
          <a:custGeom>
            <a:avLst/>
            <a:gdLst/>
            <a:ahLst/>
            <a:cxnLst/>
            <a:rect l="l" t="t" r="r" b="b"/>
            <a:pathLst>
              <a:path w="1401011" h="2447059">
                <a:moveTo>
                  <a:pt x="0" y="0"/>
                </a:moveTo>
                <a:lnTo>
                  <a:pt x="1401011" y="0"/>
                </a:lnTo>
                <a:lnTo>
                  <a:pt x="1401011" y="2447058"/>
                </a:lnTo>
                <a:lnTo>
                  <a:pt x="0" y="2447058"/>
                </a:lnTo>
                <a:lnTo>
                  <a:pt x="0" y="0"/>
                </a:lnTo>
                <a:close/>
              </a:path>
            </a:pathLst>
          </a:custGeom>
          <a:blipFill>
            <a:blip>
              <a:alphaModFix amt="87000"/>
              <a:extLst>
                <a:ext uri="{96DAC541-7B7A-43D3-8B79-37D633B846F1}">
                  <asvg:svgBlip xmlns:asvg="http://schemas.microsoft.com/office/drawing/2016/SVG/main" r:embed="rId3"/>
                </a:ext>
              </a:extLst>
            </a:blip>
            <a:stretch>
              <a:fillRect r="-235891"/>
            </a:stretch>
          </a:blipFill>
        </p:spPr>
      </p:sp>
      <p:sp>
        <p:nvSpPr>
          <p:cNvPr id="4" name="Freeform 4"/>
          <p:cNvSpPr/>
          <p:nvPr/>
        </p:nvSpPr>
        <p:spPr>
          <a:xfrm flipH="1">
            <a:off x="16749603" y="7474552"/>
            <a:ext cx="1538397" cy="2687022"/>
          </a:xfrm>
          <a:custGeom>
            <a:avLst/>
            <a:gdLst/>
            <a:ahLst/>
            <a:cxnLst/>
            <a:rect l="l" t="t" r="r" b="b"/>
            <a:pathLst>
              <a:path w="1538397" h="2687022">
                <a:moveTo>
                  <a:pt x="1538397" y="0"/>
                </a:moveTo>
                <a:lnTo>
                  <a:pt x="0" y="0"/>
                </a:lnTo>
                <a:lnTo>
                  <a:pt x="0" y="2687022"/>
                </a:lnTo>
                <a:lnTo>
                  <a:pt x="1538397" y="2687022"/>
                </a:lnTo>
                <a:lnTo>
                  <a:pt x="1538397" y="0"/>
                </a:lnTo>
                <a:close/>
              </a:path>
            </a:pathLst>
          </a:custGeom>
          <a:blipFill>
            <a:blip>
              <a:alphaModFix amt="87000"/>
              <a:extLst>
                <a:ext uri="{96DAC541-7B7A-43D3-8B79-37D633B846F1}">
                  <asvg:svgBlip xmlns:asvg="http://schemas.microsoft.com/office/drawing/2016/SVG/main" r:embed="rId3"/>
                </a:ext>
              </a:extLst>
            </a:blip>
            <a:stretch>
              <a:fillRect l="-235891"/>
            </a:stretch>
          </a:blipFill>
        </p:spPr>
      </p:sp>
      <p:sp>
        <p:nvSpPr>
          <p:cNvPr id="5" name="Freeform 5"/>
          <p:cNvSpPr/>
          <p:nvPr/>
        </p:nvSpPr>
        <p:spPr>
          <a:xfrm rot="-1086462">
            <a:off x="-808403" y="-104359"/>
            <a:ext cx="7225874" cy="3540678"/>
          </a:xfrm>
          <a:custGeom>
            <a:avLst/>
            <a:gdLst/>
            <a:ahLst/>
            <a:cxnLst/>
            <a:rect l="l" t="t" r="r" b="b"/>
            <a:pathLst>
              <a:path w="7225874" h="3540678">
                <a:moveTo>
                  <a:pt x="0" y="0"/>
                </a:moveTo>
                <a:lnTo>
                  <a:pt x="7225874" y="0"/>
                </a:lnTo>
                <a:lnTo>
                  <a:pt x="7225874" y="3540678"/>
                </a:lnTo>
                <a:lnTo>
                  <a:pt x="0" y="3540678"/>
                </a:lnTo>
                <a:lnTo>
                  <a:pt x="0" y="0"/>
                </a:lnTo>
                <a:close/>
              </a:path>
            </a:pathLst>
          </a:custGeom>
          <a:blipFill>
            <a:blip r:embed="rId4"/>
            <a:stretch>
              <a:fillRect/>
            </a:stretch>
          </a:blipFill>
        </p:spPr>
      </p:sp>
      <p:sp>
        <p:nvSpPr>
          <p:cNvPr id="6" name="Freeform 6"/>
          <p:cNvSpPr/>
          <p:nvPr/>
        </p:nvSpPr>
        <p:spPr>
          <a:xfrm>
            <a:off x="3450850" y="1364671"/>
            <a:ext cx="11386301" cy="7557657"/>
          </a:xfrm>
          <a:custGeom>
            <a:avLst/>
            <a:gdLst/>
            <a:ahLst/>
            <a:cxnLst/>
            <a:rect l="l" t="t" r="r" b="b"/>
            <a:pathLst>
              <a:path w="11386301" h="7557657">
                <a:moveTo>
                  <a:pt x="0" y="0"/>
                </a:moveTo>
                <a:lnTo>
                  <a:pt x="11386300" y="0"/>
                </a:lnTo>
                <a:lnTo>
                  <a:pt x="11386300" y="7557658"/>
                </a:lnTo>
                <a:lnTo>
                  <a:pt x="0" y="75576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139596">
            <a:off x="970305" y="5203029"/>
            <a:ext cx="3827935" cy="3746591"/>
          </a:xfrm>
          <a:custGeom>
            <a:avLst/>
            <a:gdLst/>
            <a:ahLst/>
            <a:cxnLst/>
            <a:rect l="l" t="t" r="r" b="b"/>
            <a:pathLst>
              <a:path w="3827935" h="3746591">
                <a:moveTo>
                  <a:pt x="0" y="0"/>
                </a:moveTo>
                <a:lnTo>
                  <a:pt x="3827935" y="0"/>
                </a:lnTo>
                <a:lnTo>
                  <a:pt x="3827935" y="3746591"/>
                </a:lnTo>
                <a:lnTo>
                  <a:pt x="0" y="3746591"/>
                </a:lnTo>
                <a:lnTo>
                  <a:pt x="0" y="0"/>
                </a:lnTo>
                <a:close/>
              </a:path>
            </a:pathLst>
          </a:custGeom>
          <a:blipFill>
            <a:blip r:embed="rId6"/>
            <a:stretch>
              <a:fillRect/>
            </a:stretch>
          </a:blipFill>
        </p:spPr>
      </p:sp>
      <p:sp>
        <p:nvSpPr>
          <p:cNvPr id="8" name="Freeform 8"/>
          <p:cNvSpPr/>
          <p:nvPr/>
        </p:nvSpPr>
        <p:spPr>
          <a:xfrm>
            <a:off x="831013" y="7930320"/>
            <a:ext cx="5144101" cy="2231254"/>
          </a:xfrm>
          <a:custGeom>
            <a:avLst/>
            <a:gdLst/>
            <a:ahLst/>
            <a:cxnLst/>
            <a:rect l="l" t="t" r="r" b="b"/>
            <a:pathLst>
              <a:path w="5144101" h="2231254">
                <a:moveTo>
                  <a:pt x="0" y="0"/>
                </a:moveTo>
                <a:lnTo>
                  <a:pt x="5144101" y="0"/>
                </a:lnTo>
                <a:lnTo>
                  <a:pt x="5144101" y="2231254"/>
                </a:lnTo>
                <a:lnTo>
                  <a:pt x="0" y="2231254"/>
                </a:lnTo>
                <a:lnTo>
                  <a:pt x="0" y="0"/>
                </a:lnTo>
                <a:close/>
              </a:path>
            </a:pathLst>
          </a:custGeom>
          <a:blipFill>
            <a:blip r:embed="rId7"/>
            <a:stretch>
              <a:fillRect/>
            </a:stretch>
          </a:blipFill>
        </p:spPr>
      </p:sp>
      <p:sp>
        <p:nvSpPr>
          <p:cNvPr id="9" name="Freeform 9"/>
          <p:cNvSpPr/>
          <p:nvPr/>
        </p:nvSpPr>
        <p:spPr>
          <a:xfrm rot="-1086462" flipH="1" flipV="1">
            <a:off x="11460644" y="6707546"/>
            <a:ext cx="7452734" cy="3651840"/>
          </a:xfrm>
          <a:custGeom>
            <a:avLst/>
            <a:gdLst/>
            <a:ahLst/>
            <a:cxnLst/>
            <a:rect l="l" t="t" r="r" b="b"/>
            <a:pathLst>
              <a:path w="7452734" h="3651840">
                <a:moveTo>
                  <a:pt x="7452734" y="3651839"/>
                </a:moveTo>
                <a:lnTo>
                  <a:pt x="0" y="3651839"/>
                </a:lnTo>
                <a:lnTo>
                  <a:pt x="0" y="0"/>
                </a:lnTo>
                <a:lnTo>
                  <a:pt x="7452734" y="0"/>
                </a:lnTo>
                <a:lnTo>
                  <a:pt x="7452734" y="3651839"/>
                </a:lnTo>
                <a:close/>
              </a:path>
            </a:pathLst>
          </a:custGeom>
          <a:blipFill>
            <a:blip r:embed="rId4"/>
            <a:stretch>
              <a:fillRect/>
            </a:stretch>
          </a:blipFill>
        </p:spPr>
      </p:sp>
      <p:sp>
        <p:nvSpPr>
          <p:cNvPr id="10" name="Freeform 10"/>
          <p:cNvSpPr/>
          <p:nvPr/>
        </p:nvSpPr>
        <p:spPr>
          <a:xfrm>
            <a:off x="12841943" y="240349"/>
            <a:ext cx="4417357" cy="3329582"/>
          </a:xfrm>
          <a:custGeom>
            <a:avLst/>
            <a:gdLst/>
            <a:ahLst/>
            <a:cxnLst/>
            <a:rect l="l" t="t" r="r" b="b"/>
            <a:pathLst>
              <a:path w="4417357" h="3329582">
                <a:moveTo>
                  <a:pt x="0" y="0"/>
                </a:moveTo>
                <a:lnTo>
                  <a:pt x="4417357" y="0"/>
                </a:lnTo>
                <a:lnTo>
                  <a:pt x="4417357" y="3329582"/>
                </a:lnTo>
                <a:lnTo>
                  <a:pt x="0" y="3329582"/>
                </a:lnTo>
                <a:lnTo>
                  <a:pt x="0" y="0"/>
                </a:lnTo>
                <a:close/>
              </a:path>
            </a:pathLst>
          </a:custGeom>
          <a:blipFill>
            <a:blip r:embed="rId8"/>
            <a:stretch>
              <a:fillRect/>
            </a:stretch>
          </a:blipFill>
        </p:spPr>
      </p:sp>
      <p:sp>
        <p:nvSpPr>
          <p:cNvPr id="11" name="TextBox 11"/>
          <p:cNvSpPr txBox="1"/>
          <p:nvPr/>
        </p:nvSpPr>
        <p:spPr>
          <a:xfrm>
            <a:off x="4507117" y="4458575"/>
            <a:ext cx="9273766" cy="1181231"/>
          </a:xfrm>
          <a:prstGeom prst="rect">
            <a:avLst/>
          </a:prstGeom>
        </p:spPr>
        <p:txBody>
          <a:bodyPr lIns="0" tIns="0" rIns="0" bIns="0" rtlCol="0" anchor="t">
            <a:spAutoFit/>
          </a:bodyPr>
          <a:lstStyle/>
          <a:p>
            <a:pPr algn="ctr">
              <a:lnSpc>
                <a:spcPts val="9727"/>
              </a:lnSpc>
              <a:spcBef>
                <a:spcPct val="0"/>
              </a:spcBef>
            </a:pPr>
            <a:r>
              <a:rPr lang="en-US" sz="6948" b="1">
                <a:solidFill>
                  <a:srgbClr val="FFDE59"/>
                </a:solidFill>
                <a:latin typeface="Open Sans Bold"/>
                <a:ea typeface="Open Sans Bold"/>
                <a:cs typeface="Open Sans Bold"/>
                <a:sym typeface="Open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1213</Words>
  <Application>Microsoft Office PowerPoint</Application>
  <PresentationFormat>Custom</PresentationFormat>
  <Paragraphs>183</Paragraphs>
  <Slides>14</Slides>
  <Notes>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Open Sans</vt:lpstr>
      <vt:lpstr>Arial</vt:lpstr>
      <vt:lpstr>Open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and Red Vintage Retro Cinema Group Project Presentation</dc:title>
  <cp:lastModifiedBy>salma sameh</cp:lastModifiedBy>
  <cp:revision>4</cp:revision>
  <dcterms:created xsi:type="dcterms:W3CDTF">2006-08-16T00:00:00Z</dcterms:created>
  <dcterms:modified xsi:type="dcterms:W3CDTF">2026-06-24T18:22:37Z</dcterms:modified>
  <dc:identifier>DAHGpsjvtUw</dc:identifier>
</cp:coreProperties>
</file>