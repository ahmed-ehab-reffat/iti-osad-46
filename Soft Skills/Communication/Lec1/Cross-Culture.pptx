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70" r:id="rId3"/>
    <p:sldId id="257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68" r:id="rId14"/>
    <p:sldId id="265" r:id="rId15"/>
    <p:sldId id="277" r:id="rId16"/>
    <p:sldId id="274" r:id="rId17"/>
    <p:sldId id="278" r:id="rId18"/>
    <p:sldId id="279" r:id="rId19"/>
    <p:sldId id="280" r:id="rId20"/>
    <p:sldId id="281" r:id="rId21"/>
    <p:sldId id="282" r:id="rId22"/>
    <p:sldId id="266" r:id="rId23"/>
    <p:sldId id="267" r:id="rId24"/>
  </p:sldIdLst>
  <p:sldSz cx="12192000" cy="6858000"/>
  <p:notesSz cx="6858000" cy="9144000"/>
  <p:embeddedFontLst>
    <p:embeddedFont>
      <p:font typeface="DM Sans" pitchFamily="2" charset="0"/>
      <p:regular r:id="rId26"/>
      <p:bold r:id="rId27"/>
      <p:italic r:id="rId28"/>
      <p:boldItalic r:id="rId29"/>
    </p:embeddedFont>
    <p:embeddedFont>
      <p:font typeface="Merriweather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E5ADF5-F550-48DF-B488-B70BB61C3F3E}">
  <a:tblStyle styleId="{64E5ADF5-F550-48DF-B488-B70BB61C3F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3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95325" y="2626072"/>
            <a:ext cx="108013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High-Context vs. Low-Context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52500" y="3683347"/>
            <a:ext cx="10287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 Cultural Comparison of Mexico and Norway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079C-12A5-9795-8A41-8B4AD709D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34" y="484187"/>
            <a:ext cx="7772400" cy="1470025"/>
          </a:xfrm>
        </p:spPr>
        <p:txBody>
          <a:bodyPr/>
          <a:lstStyle/>
          <a:p>
            <a:r>
              <a:rPr lang="en-US" dirty="0"/>
              <a:t>What is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CCC0B-5BE5-AEF8-160F-0D29AC9D6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0005" y="1954212"/>
            <a:ext cx="12124705" cy="441960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Culture is the complex whole of shared beliefs, values, customs, and behaviors that define a group or society. It includes the knowledge, arts, laws, and habits acquired by individuals as members of that society, encompassing both non-physical elements like traditions and beliefs, and physical ones like art and cuisine. Culture shapes how a group of people understand and interact with the world, and it is learned, shared, and dynamic, evolving over time. </a:t>
            </a:r>
          </a:p>
        </p:txBody>
      </p:sp>
    </p:spTree>
    <p:extLst>
      <p:ext uri="{BB962C8B-B14F-4D97-AF65-F5344CB8AC3E}">
        <p14:creationId xmlns:p14="http://schemas.microsoft.com/office/powerpoint/2010/main" val="1330743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66750" y="1385561"/>
            <a:ext cx="528637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Developed by anthropologist Edward T. Hall, this concept describes how cultures handle communication and the transmission of meaning.</a:t>
            </a:r>
            <a:endParaRPr sz="2000"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3139887"/>
            <a:ext cx="50006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High-Context: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Meaning is largely implicit, found in the physical context, shared history, and non-verbal cues. Relationships are foundational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4849191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Low-Context: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Meaning is explicit and conveyed through the verbal message itself. Communication is direct and task-oriented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385560"/>
            <a:ext cx="5248275" cy="47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Context Spectrum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0924-D931-E1C2-C7ED-261BA497C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0839" y="484187"/>
            <a:ext cx="7772400" cy="1470025"/>
          </a:xfrm>
        </p:spPr>
        <p:txBody>
          <a:bodyPr/>
          <a:lstStyle/>
          <a:p>
            <a:r>
              <a:rPr lang="en-US" dirty="0"/>
              <a:t>High and Low – Context Cultures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497BF-C9F3-F09B-6E68-E988FED75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03" y="1956192"/>
            <a:ext cx="5708073" cy="44176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High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East Asia:</a:t>
            </a:r>
            <a:r>
              <a:rPr lang="en-US" sz="2400" dirty="0">
                <a:solidFill>
                  <a:schemeClr val="tx1"/>
                </a:solidFill>
              </a:rPr>
              <a:t> Japan, China, South Korea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Latin America:</a:t>
            </a:r>
            <a:r>
              <a:rPr lang="en-US" sz="2400" dirty="0">
                <a:solidFill>
                  <a:schemeClr val="tx1"/>
                </a:solidFill>
              </a:rPr>
              <a:t> Brazil, Mexico, Argentina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South Asia:</a:t>
            </a:r>
            <a:r>
              <a:rPr lang="en-US" sz="2400" dirty="0">
                <a:solidFill>
                  <a:schemeClr val="tx1"/>
                </a:solidFill>
              </a:rPr>
              <a:t> India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Middle East:</a:t>
            </a:r>
            <a:r>
              <a:rPr lang="en-US" sz="2400" dirty="0">
                <a:solidFill>
                  <a:schemeClr val="tx1"/>
                </a:solidFill>
              </a:rPr>
              <a:t> Saudi Arabia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Africa:</a:t>
            </a:r>
            <a:r>
              <a:rPr lang="en-US" sz="2400" dirty="0">
                <a:solidFill>
                  <a:schemeClr val="tx1"/>
                </a:solidFill>
              </a:rPr>
              <a:t> Egypt</a:t>
            </a:r>
            <a:endParaRPr lang="en-US" sz="2400" b="1" dirty="0">
              <a:solidFill>
                <a:schemeClr val="tx1"/>
              </a:solidFill>
            </a:endParaRP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Europe:</a:t>
            </a:r>
            <a:r>
              <a:rPr lang="en-US" sz="2400" dirty="0">
                <a:solidFill>
                  <a:schemeClr val="tx1"/>
                </a:solidFill>
              </a:rPr>
              <a:t> France, Spain, Italy, Greece, Russia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EBAFF14-880C-E00C-E703-D6D8CC550926}"/>
              </a:ext>
            </a:extLst>
          </p:cNvPr>
          <p:cNvSpPr txBox="1">
            <a:spLocks/>
          </p:cNvSpPr>
          <p:nvPr/>
        </p:nvSpPr>
        <p:spPr>
          <a:xfrm>
            <a:off x="6096000" y="1956192"/>
            <a:ext cx="5708073" cy="441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Low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North America:</a:t>
            </a:r>
            <a:r>
              <a:rPr lang="en-US" sz="2400" dirty="0">
                <a:solidFill>
                  <a:schemeClr val="tx1"/>
                </a:solidFill>
              </a:rPr>
              <a:t> The United States, Canada</a:t>
            </a:r>
            <a:endParaRPr lang="en-US" sz="2400" b="1" dirty="0">
              <a:solidFill>
                <a:schemeClr val="tx1"/>
              </a:solidFill>
            </a:endParaRP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Oceania:</a:t>
            </a:r>
            <a:r>
              <a:rPr lang="en-US" sz="2400" dirty="0">
                <a:solidFill>
                  <a:schemeClr val="tx1"/>
                </a:solidFill>
              </a:rPr>
              <a:t> Australia, New Zealand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 algn="l"/>
            <a:r>
              <a:rPr lang="en-US" sz="2400" b="1" dirty="0">
                <a:solidFill>
                  <a:schemeClr val="tx1"/>
                </a:solidFill>
              </a:rPr>
              <a:t>Europe:</a:t>
            </a:r>
            <a:r>
              <a:rPr lang="en-US" sz="2400" dirty="0">
                <a:solidFill>
                  <a:schemeClr val="tx1"/>
                </a:solidFill>
              </a:rPr>
              <a:t> Germany, Switzerland, </a:t>
            </a:r>
            <a:r>
              <a:rPr lang="en-US" sz="2600" dirty="0">
                <a:solidFill>
                  <a:schemeClr val="tx1"/>
                </a:solidFill>
              </a:rPr>
              <a:t>Scandinavia (Denmark, Norway, Sweden), the Netherlands, the United Kingdom, Belgium</a:t>
            </a:r>
          </a:p>
        </p:txBody>
      </p:sp>
    </p:spTree>
    <p:extLst>
      <p:ext uri="{BB962C8B-B14F-4D97-AF65-F5344CB8AC3E}">
        <p14:creationId xmlns:p14="http://schemas.microsoft.com/office/powerpoint/2010/main" val="32955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4495800" y="2733675"/>
            <a:ext cx="3200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Part 1: Low-Context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619750" y="3400425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415790" y="3629025"/>
            <a:ext cx="33604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Norway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90762"/>
            <a:ext cx="3429000" cy="369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290762"/>
            <a:ext cx="3429000" cy="369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290762"/>
            <a:ext cx="3429000" cy="3698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1155858" y="3290887"/>
            <a:ext cx="22602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Direct &amp; Explicit</a:t>
            </a:r>
            <a:endParaRPr dirty="0"/>
          </a:p>
        </p:txBody>
      </p:sp>
      <p:sp>
        <p:nvSpPr>
          <p:cNvPr id="113" name="Google Shape;113;p16"/>
          <p:cNvSpPr txBox="1"/>
          <p:nvPr/>
        </p:nvSpPr>
        <p:spPr>
          <a:xfrm>
            <a:off x="857250" y="3948112"/>
            <a:ext cx="2857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Messages are literal and precise. Ambiguity is avoided. People "say what they mean" and expect clarity in return.</a:t>
            </a:r>
            <a:endParaRPr sz="1600"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5220890" y="3290887"/>
            <a:ext cx="17502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Verbal Focus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667250" y="3948112"/>
            <a:ext cx="28575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Meaning is conveyed through the words themselves, not heavily reliant on tone or body language. Written rules are followed.</a:t>
            </a:r>
            <a:endParaRPr sz="1600"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8405812" y="3290887"/>
            <a:ext cx="3000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Task-Oriented Conflict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477250" y="4291012"/>
            <a:ext cx="2857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Disagreements are handled directly and explicitly, focusing on the issue or task, not the person involved.</a:t>
            </a:r>
            <a:endParaRPr sz="1600" dirty="0"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0250" y="25955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4550" y="25955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7400" y="25955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Norway: Communication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90550" y="1360513"/>
            <a:ext cx="524827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Individualism: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Focus on personal achievement, independence, and immediate family.</a:t>
            </a:r>
            <a:endParaRPr sz="1800"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590550" y="2389495"/>
            <a:ext cx="524827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Egalitarian: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very flat social structure (low power distance). First names are used regardless of rank.</a:t>
            </a:r>
            <a:endParaRPr sz="1800" dirty="0"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793510"/>
            <a:ext cx="524827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Trust in Systems: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High trust is placed in institutions, rules, and contracts. Agendas are followed strictly.</a:t>
            </a:r>
            <a:endParaRPr sz="1800"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590550" y="5050810"/>
            <a:ext cx="522922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Punctuality: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Being on time is extremely important and seen as a sign of respect and reliability.</a:t>
            </a:r>
            <a:endParaRPr sz="1800" dirty="0"/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360513"/>
            <a:ext cx="5248275" cy="49367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Norway: Society &amp; Business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581525" y="2733675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Part 2: High-Context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619750" y="3400425"/>
            <a:ext cx="9525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505801" y="3629025"/>
            <a:ext cx="318039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Mexico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90761"/>
            <a:ext cx="3429000" cy="3641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290762"/>
            <a:ext cx="3429000" cy="364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290762"/>
            <a:ext cx="3429000" cy="364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785812" y="3290887"/>
            <a:ext cx="3000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Implicit &amp; Non-Verbal</a:t>
            </a:r>
            <a:endParaRPr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857250" y="4029551"/>
            <a:ext cx="2857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Much of the meaning is "read between the lines," derived from tone, gestures, and shared context.</a:t>
            </a:r>
            <a:endParaRPr sz="1800"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4770834" y="3290887"/>
            <a:ext cx="265033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Relationship Focus</a:t>
            </a:r>
            <a:endParaRPr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4667250" y="3948112"/>
            <a:ext cx="2857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Building rapport (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confianza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) is essential. The way something is said is as important as what is said.</a:t>
            </a:r>
            <a:endParaRPr sz="1800" dirty="0"/>
          </a:p>
        </p:txBody>
      </p:sp>
      <p:sp>
        <p:nvSpPr>
          <p:cNvPr id="155" name="Google Shape;155;p19"/>
          <p:cNvSpPr txBox="1"/>
          <p:nvPr/>
        </p:nvSpPr>
        <p:spPr>
          <a:xfrm>
            <a:off x="8940879" y="3290887"/>
            <a:ext cx="193024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Saving "Face"</a:t>
            </a:r>
            <a:endParaRPr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8477250" y="3948112"/>
            <a:ext cx="2857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Direct conflict is avoided to maintain harmony and protect everyone's honor. A "no" is often said indirectly.</a:t>
            </a:r>
            <a:endParaRPr sz="1800" dirty="0"/>
          </a:p>
        </p:txBody>
      </p:sp>
      <p:pic>
        <p:nvPicPr>
          <p:cNvPr id="157" name="Google Shape;15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8825" y="25955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25955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7400" y="25955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Mexico: Communication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612686"/>
            <a:ext cx="5286375" cy="46689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857250" y="1612686"/>
            <a:ext cx="5000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Collectivism: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Priority is given to the group (family, team, company). Loyalty is paramount.</a:t>
            </a:r>
            <a:endParaRPr sz="1800" dirty="0"/>
          </a:p>
        </p:txBody>
      </p:sp>
      <p:sp>
        <p:nvSpPr>
          <p:cNvPr id="169" name="Google Shape;169;p20"/>
          <p:cNvSpPr txBox="1"/>
          <p:nvPr/>
        </p:nvSpPr>
        <p:spPr>
          <a:xfrm>
            <a:off x="857250" y="2476500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Hierarchical: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Respect for authority, age, and rank is important (high power distance). Titles are often used.</a:t>
            </a:r>
            <a:endParaRPr sz="1800" dirty="0"/>
          </a:p>
        </p:txBody>
      </p:sp>
      <p:sp>
        <p:nvSpPr>
          <p:cNvPr id="171" name="Google Shape;171;p20"/>
          <p:cNvSpPr txBox="1"/>
          <p:nvPr/>
        </p:nvSpPr>
        <p:spPr>
          <a:xfrm>
            <a:off x="857250" y="3755811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Trust in People: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Personal relationships and trust are the foundation for all business dealings.</a:t>
            </a:r>
            <a:endParaRPr sz="1800" dirty="0"/>
          </a:p>
        </p:txBody>
      </p:sp>
      <p:sp>
        <p:nvSpPr>
          <p:cNvPr id="173" name="Google Shape;173;p20"/>
          <p:cNvSpPr txBox="1"/>
          <p:nvPr/>
        </p:nvSpPr>
        <p:spPr>
          <a:xfrm>
            <a:off x="838201" y="5035123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Flexible Time: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Socializing and relationship-building can take precedence over strict schedules.</a:t>
            </a:r>
            <a:endParaRPr sz="1800" dirty="0"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Mexico: Society &amp; Business</a:t>
            </a:r>
            <a:endParaRPr/>
          </a:p>
        </p:txBody>
      </p:sp>
      <p:pic>
        <p:nvPicPr>
          <p:cNvPr id="2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642182"/>
            <a:ext cx="5248275" cy="46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21"/>
          <p:cNvGraphicFramePr/>
          <p:nvPr>
            <p:extLst>
              <p:ext uri="{D42A27DB-BD31-4B8C-83A1-F6EECF244321}">
                <p14:modId xmlns:p14="http://schemas.microsoft.com/office/powerpoint/2010/main" val="465144206"/>
              </p:ext>
            </p:extLst>
          </p:nvPr>
        </p:nvGraphicFramePr>
        <p:xfrm>
          <a:off x="571500" y="2066925"/>
          <a:ext cx="11049000" cy="3676650"/>
        </p:xfrm>
        <a:graphic>
          <a:graphicData uri="http://schemas.openxmlformats.org/drawingml/2006/table">
            <a:tbl>
              <a:tblPr firstRow="1" bandRow="1">
                <a:noFill/>
                <a:tableStyleId>{64E5ADF5-F550-48DF-B488-B70BB61C3F3E}</a:tableStyleId>
              </a:tblPr>
              <a:tblGrid>
                <a:gridCol w="2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Norway (Low-Context)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Mexico (High-Context)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Primary 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Explicitly stated in </a:t>
                      </a: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words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Implicitly found in </a:t>
                      </a: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context</a:t>
                      </a: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&amp; non-</a:t>
                      </a:r>
                      <a:r>
                        <a:rPr lang="en-US" sz="1350" b="0" i="0" u="none" strike="noStrike" cap="none" dirty="0" err="1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verbals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Communication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Direct, precise, and literal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Indirect, nuanced, and layered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Relationships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Separate from tasks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Essential</a:t>
                      </a: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for tasks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Hierarchy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Egalitarian (Flat)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Hierarchical (Respected)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Trust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Placed in </a:t>
                      </a: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Systems</a:t>
                      </a: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&amp;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Placed in </a:t>
                      </a: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People</a:t>
                      </a: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&amp; Relationships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1" name="Google Shape;181;p21"/>
          <p:cNvSpPr/>
          <p:nvPr/>
        </p:nvSpPr>
        <p:spPr>
          <a:xfrm>
            <a:off x="571500" y="2690812"/>
            <a:ext cx="24320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003500" y="2690812"/>
            <a:ext cx="3777555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781055" y="2690812"/>
            <a:ext cx="483944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71500" y="3300412"/>
            <a:ext cx="24320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003500" y="3300412"/>
            <a:ext cx="3777555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6781055" y="3300412"/>
            <a:ext cx="483944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71500" y="3910012"/>
            <a:ext cx="24320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003500" y="3910012"/>
            <a:ext cx="3777555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781055" y="3910012"/>
            <a:ext cx="483944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4519612"/>
            <a:ext cx="24320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003500" y="4519612"/>
            <a:ext cx="3777555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6781055" y="4519612"/>
            <a:ext cx="483944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71500" y="5129212"/>
            <a:ext cx="2432000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003500" y="5129212"/>
            <a:ext cx="3777555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781055" y="5129212"/>
            <a:ext cx="483944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At Glance: Norway vs. Mexico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BB3B-DA99-FA08-EEA2-D0079C311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54379"/>
            <a:ext cx="7772400" cy="1470025"/>
          </a:xfrm>
        </p:spPr>
        <p:txBody>
          <a:bodyPr/>
          <a:lstStyle/>
          <a:p>
            <a:r>
              <a:rPr lang="en-US" dirty="0"/>
              <a:t>Hofstede dimensions of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9B3A0-64D9-FC2A-0584-7C75DE43B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717" y="1624404"/>
            <a:ext cx="11566566" cy="4880758"/>
          </a:xfrm>
        </p:spPr>
        <p:txBody>
          <a:bodyPr>
            <a:normAutofit/>
          </a:bodyPr>
          <a:lstStyle/>
          <a:p>
            <a:pPr marL="0" indent="0" algn="l"/>
            <a:r>
              <a:rPr lang="en-US" sz="2400" dirty="0">
                <a:solidFill>
                  <a:schemeClr val="tx1"/>
                </a:solidFill>
              </a:rPr>
              <a:t>Hofstede's cultural dimensions theory is a framework for understanding cultural differences across countries based on six dimensions: </a:t>
            </a:r>
          </a:p>
          <a:p>
            <a:pPr marL="0" indent="0" algn="l"/>
            <a:endParaRPr lang="en-US" sz="1200" dirty="0">
              <a:solidFill>
                <a:schemeClr val="tx1"/>
              </a:solidFill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1- Power Distance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2-Individualism versus Collectivism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3-Masculinity versus Femininity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4-Uncertainty Avoidance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5-Long-Term versus Short-Term Orientation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6-Indulgence versus Restraint.</a:t>
            </a:r>
          </a:p>
          <a:p>
            <a:pPr algn="l"/>
            <a:endParaRPr lang="en-US" sz="1200" dirty="0">
              <a:solidFill>
                <a:schemeClr val="tx1"/>
              </a:solidFill>
            </a:endParaRPr>
          </a:p>
          <a:p>
            <a:pPr marL="0" indent="0" algn="l"/>
            <a:r>
              <a:rPr lang="en-US" sz="2400" dirty="0">
                <a:solidFill>
                  <a:schemeClr val="tx1"/>
                </a:solidFill>
              </a:rPr>
              <a:t>Developed by Geert Hofstede, the model analyzes how cultural values influence behavior in society and the workplace</a:t>
            </a:r>
          </a:p>
        </p:txBody>
      </p:sp>
    </p:spTree>
    <p:extLst>
      <p:ext uri="{BB962C8B-B14F-4D97-AF65-F5344CB8AC3E}">
        <p14:creationId xmlns:p14="http://schemas.microsoft.com/office/powerpoint/2010/main" val="15925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FBEE15-34B7-E2CC-F6F8-9BED48B10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E57F5-EAD3-8AD6-F5CA-F99E03F6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1" t="11337" r="6927" b="16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DB659E-5FDA-3D76-2C10-346B9E71F771}"/>
              </a:ext>
            </a:extLst>
          </p:cNvPr>
          <p:cNvSpPr txBox="1"/>
          <p:nvPr/>
        </p:nvSpPr>
        <p:spPr>
          <a:xfrm>
            <a:off x="3048953" y="3275112"/>
            <a:ext cx="609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9D41B-6E41-D5EF-FE6A-0E5AB5B7DCE8}"/>
              </a:ext>
            </a:extLst>
          </p:cNvPr>
          <p:cNvSpPr txBox="1"/>
          <p:nvPr/>
        </p:nvSpPr>
        <p:spPr>
          <a:xfrm>
            <a:off x="3048953" y="3275112"/>
            <a:ext cx="609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04A34-6F73-F063-EF8C-4DA6CA18EC31}"/>
              </a:ext>
            </a:extLst>
          </p:cNvPr>
          <p:cNvSpPr txBox="1"/>
          <p:nvPr/>
        </p:nvSpPr>
        <p:spPr>
          <a:xfrm>
            <a:off x="3048953" y="3275112"/>
            <a:ext cx="609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933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52368"/>
            <a:ext cx="5286375" cy="3583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2369"/>
            <a:ext cx="5286375" cy="358345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958453" y="2360313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How Norway May See Mexico</a:t>
            </a:r>
            <a:endParaRPr sz="2400" dirty="0"/>
          </a:p>
        </p:txBody>
      </p:sp>
      <p:sp>
        <p:nvSpPr>
          <p:cNvPr id="204" name="Google Shape;204;p22"/>
          <p:cNvSpPr txBox="1"/>
          <p:nvPr/>
        </p:nvSpPr>
        <p:spPr>
          <a:xfrm>
            <a:off x="6721078" y="2422696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How Mexico May See Norway</a:t>
            </a:r>
            <a:endParaRPr sz="1600" dirty="0"/>
          </a:p>
        </p:txBody>
      </p:sp>
      <p:sp>
        <p:nvSpPr>
          <p:cNvPr id="206" name="Google Shape;206;p22"/>
          <p:cNvSpPr txBox="1"/>
          <p:nvPr/>
        </p:nvSpPr>
        <p:spPr>
          <a:xfrm>
            <a:off x="1061136" y="3013502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Vague or unclear</a:t>
            </a:r>
            <a:endParaRPr sz="1800" dirty="0"/>
          </a:p>
        </p:txBody>
      </p:sp>
      <p:sp>
        <p:nvSpPr>
          <p:cNvPr id="208" name="Google Shape;208;p22"/>
          <p:cNvSpPr txBox="1"/>
          <p:nvPr/>
        </p:nvSpPr>
        <p:spPr>
          <a:xfrm>
            <a:off x="1071562" y="3533433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Inefficient or slow</a:t>
            </a:r>
            <a:endParaRPr sz="1800"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1061136" y="4049155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Lacking directness</a:t>
            </a:r>
            <a:endParaRPr sz="18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1061136" y="4572000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Mixing business and personal life</a:t>
            </a:r>
            <a:endParaRPr sz="1800"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6834187" y="3015047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Blunt, cold, or rude</a:t>
            </a:r>
            <a:endParaRPr sz="1800"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6834187" y="3533433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Impersonal and distant</a:t>
            </a:r>
            <a:endParaRPr sz="1800"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6834187" y="4049155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Overly simplistic</a:t>
            </a:r>
            <a:endParaRPr sz="1800"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6834187" y="4572000"/>
            <a:ext cx="4286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Inflexible and rule-bound</a:t>
            </a:r>
            <a:endParaRPr sz="1800"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Potential Misunderstandings (Culture Shock)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48840"/>
            <a:ext cx="528637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1952625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Stereotypes are harmful, fixed shortcuts (e.g., "Cold Vikings," "Lazy Mexicans").</a:t>
            </a:r>
            <a:endParaRPr sz="1800"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857249" y="2828091"/>
            <a:ext cx="5000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Cultural models (like high/low context) are tools for 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understanding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not labeling.</a:t>
            </a:r>
            <a:endParaRPr sz="1800"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857249" y="3754338"/>
            <a:ext cx="5000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They describe "on average" tendencies, not all individuals.</a:t>
            </a:r>
            <a:endParaRPr sz="1800"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857249" y="4680585"/>
            <a:ext cx="5000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Goal: See behavior as a product of cultural norms, not personal flaws.</a:t>
            </a:r>
            <a:endParaRPr sz="1800" dirty="0"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 t="8655" b="9282"/>
          <a:stretch>
            <a:fillRect/>
          </a:stretch>
        </p:blipFill>
        <p:spPr>
          <a:xfrm>
            <a:off x="6353175" y="2148840"/>
            <a:ext cx="524827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Stereotyping vs. Understanding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24137"/>
            <a:ext cx="5286375" cy="3159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24137"/>
            <a:ext cx="5286375" cy="315944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952500" y="3005137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In Norway (Low-Context)</a:t>
            </a:r>
            <a:endParaRPr sz="1800" dirty="0"/>
          </a:p>
        </p:txBody>
      </p:sp>
      <p:sp>
        <p:nvSpPr>
          <p:cNvPr id="128" name="Google Shape;128;p17"/>
          <p:cNvSpPr txBox="1"/>
          <p:nvPr/>
        </p:nvSpPr>
        <p:spPr>
          <a:xfrm>
            <a:off x="6715125" y="3005137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In Mexico (High-Context)</a:t>
            </a:r>
            <a:endParaRPr sz="1800" dirty="0"/>
          </a:p>
        </p:txBody>
      </p:sp>
      <p:sp>
        <p:nvSpPr>
          <p:cNvPr id="130" name="Google Shape;130;p17"/>
          <p:cNvSpPr txBox="1"/>
          <p:nvPr/>
        </p:nvSpPr>
        <p:spPr>
          <a:xfrm>
            <a:off x="1184671" y="3558657"/>
            <a:ext cx="4286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DO: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Be punctual, be direct and honest, respect personal space.</a:t>
            </a:r>
            <a:endParaRPr sz="1800" dirty="0"/>
          </a:p>
        </p:txBody>
      </p:sp>
      <p:sp>
        <p:nvSpPr>
          <p:cNvPr id="132" name="Google Shape;132;p17"/>
          <p:cNvSpPr txBox="1"/>
          <p:nvPr/>
        </p:nvSpPr>
        <p:spPr>
          <a:xfrm>
            <a:off x="1184671" y="4486274"/>
            <a:ext cx="4286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AVOID: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Vague answers, excessive small talk in business, assumptions of hierarchy.</a:t>
            </a:r>
            <a:endParaRPr sz="1800"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6947296" y="3558300"/>
            <a:ext cx="4286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DO: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Build rapport first, accept hospitality, show respect for hierarchy.</a:t>
            </a:r>
            <a:endParaRPr sz="1800"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6947296" y="4486274"/>
            <a:ext cx="4286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AVOID: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Being blunt, rushing to business, causing someone to 'lose face'.</a:t>
            </a:r>
            <a:endParaRPr sz="18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How to Avoid Violating Values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52674"/>
            <a:ext cx="5286375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52675"/>
            <a:ext cx="5286375" cy="39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952500" y="2733675"/>
            <a:ext cx="475059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Slang (Norway 🇳🇴)</a:t>
            </a:r>
            <a:endParaRPr dirty="0"/>
          </a:p>
        </p:txBody>
      </p:sp>
      <p:sp>
        <p:nvSpPr>
          <p:cNvPr id="151" name="Google Shape;151;p19"/>
          <p:cNvSpPr txBox="1"/>
          <p:nvPr/>
        </p:nvSpPr>
        <p:spPr>
          <a:xfrm>
            <a:off x="952500" y="3219450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Best avoided in business. Clarity and formal language are valued.</a:t>
            </a:r>
            <a:endParaRPr sz="1800"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952500" y="4525327"/>
            <a:ext cx="475059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Humor (Norway 🇳🇴)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952500" y="4975620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Often dry, sarcastic, and direct. Can be misunderstood as actual criticism.</a:t>
            </a:r>
            <a:endParaRPr sz="1800"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6715125" y="2733675"/>
            <a:ext cx="475059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Slang (Mexico 🇲🇽)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715125" y="3219450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Very common, but high-risk for outsiders. Signals in-group status.</a:t>
            </a:r>
            <a:endParaRPr sz="1800"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6715124" y="4525326"/>
            <a:ext cx="475059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Humor (Mexico 🇲🇽)</a:t>
            </a:r>
            <a:endParaRPr dirty="0"/>
          </a:p>
        </p:txBody>
      </p:sp>
      <p:sp>
        <p:nvSpPr>
          <p:cNvPr id="157" name="Google Shape;157;p19"/>
          <p:cNvSpPr txBox="1"/>
          <p:nvPr/>
        </p:nvSpPr>
        <p:spPr>
          <a:xfrm>
            <a:off x="6715125" y="4978001"/>
            <a:ext cx="4524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Warm, relational, and teasing. Used to build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confianza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(trust).</a:t>
            </a:r>
            <a:endParaRPr sz="1800"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Nuances: Slang &amp; Humor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71500" y="1762125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significant point of difference in the professional world.</a:t>
            </a:r>
            <a:endParaRPr sz="1800" dirty="0"/>
          </a:p>
        </p:txBody>
      </p:sp>
      <p:sp>
        <p:nvSpPr>
          <p:cNvPr id="166" name="Google Shape;166;p20"/>
          <p:cNvSpPr txBox="1"/>
          <p:nvPr/>
        </p:nvSpPr>
        <p:spPr>
          <a:xfrm>
            <a:off x="857249" y="2866504"/>
            <a:ext cx="50006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NORWAY: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Consistently ranks in the top 5 globally for gender equality. Leadership roles are balanced. Treat all colleagues as equals.</a:t>
            </a:r>
            <a:endParaRPr sz="1800" dirty="0"/>
          </a:p>
        </p:txBody>
      </p:sp>
      <p:sp>
        <p:nvSpPr>
          <p:cNvPr id="168" name="Google Shape;168;p20"/>
          <p:cNvSpPr txBox="1"/>
          <p:nvPr/>
        </p:nvSpPr>
        <p:spPr>
          <a:xfrm>
            <a:off x="857249" y="4386382"/>
            <a:ext cx="50006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MEXICO: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More traditional roles ("machismo") can still influence culture. Business is male-dominated in many sectors, but professional women hold significant power.</a:t>
            </a:r>
            <a:endParaRPr sz="1800" dirty="0"/>
          </a:p>
        </p:txBody>
      </p:sp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 l="9401" r="9147"/>
          <a:stretch>
            <a:fillRect/>
          </a:stretch>
        </p:blipFill>
        <p:spPr>
          <a:xfrm>
            <a:off x="6334125" y="1781175"/>
            <a:ext cx="5286375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Gender Egalitarianism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68153"/>
            <a:ext cx="3429000" cy="378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368153"/>
            <a:ext cx="3429000" cy="378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368153"/>
            <a:ext cx="3429000" cy="378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1610915" y="3368278"/>
            <a:ext cx="13501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Greetings</a:t>
            </a:r>
            <a:endParaRPr dirty="0"/>
          </a:p>
        </p:txBody>
      </p:sp>
      <p:sp>
        <p:nvSpPr>
          <p:cNvPr id="179" name="Google Shape;179;p21"/>
          <p:cNvSpPr txBox="1"/>
          <p:nvPr/>
        </p:nvSpPr>
        <p:spPr>
          <a:xfrm>
            <a:off x="857249" y="4258746"/>
            <a:ext cx="28575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NOR: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Firm, brief handshake, direct eye contact.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MEX: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Warm handshake, often a hug ('abrazo') or cheek kiss.</a:t>
            </a:r>
            <a:endParaRPr sz="1800" dirty="0"/>
          </a:p>
        </p:txBody>
      </p:sp>
      <p:sp>
        <p:nvSpPr>
          <p:cNvPr id="180" name="Google Shape;180;p21"/>
          <p:cNvSpPr txBox="1"/>
          <p:nvPr/>
        </p:nvSpPr>
        <p:spPr>
          <a:xfrm>
            <a:off x="5050869" y="3368278"/>
            <a:ext cx="209026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Personal Space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667249" y="4260889"/>
            <a:ext cx="28575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NOR: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Value a larger 'bubble' of personal space.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MEX: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Closer proximity is common and signals warmth.</a:t>
            </a:r>
            <a:endParaRPr sz="1800" dirty="0"/>
          </a:p>
        </p:txBody>
      </p:sp>
      <p:sp>
        <p:nvSpPr>
          <p:cNvPr id="182" name="Google Shape;182;p21"/>
          <p:cNvSpPr txBox="1"/>
          <p:nvPr/>
        </p:nvSpPr>
        <p:spPr>
          <a:xfrm>
            <a:off x="8625840" y="3368278"/>
            <a:ext cx="25603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Gifts &amp; Hospitality</a:t>
            </a:r>
            <a:endParaRPr dirty="0"/>
          </a:p>
        </p:txBody>
      </p:sp>
      <p:sp>
        <p:nvSpPr>
          <p:cNvPr id="183" name="Google Shape;183;p21"/>
          <p:cNvSpPr txBox="1"/>
          <p:nvPr/>
        </p:nvSpPr>
        <p:spPr>
          <a:xfrm>
            <a:off x="8477250" y="4258746"/>
            <a:ext cx="28575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NOR: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Gifts are rare in business.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MEX: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Hospitality is crucial. Accepting food/drink is vital.</a:t>
            </a:r>
            <a:endParaRPr sz="1800" dirty="0"/>
          </a:p>
        </p:txBody>
      </p:sp>
      <p:pic>
        <p:nvPicPr>
          <p:cNvPr id="184" name="Google Shape;1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0250" y="267295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267295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7400" y="267295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Global Etiquette: Key Differences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09875"/>
            <a:ext cx="5286375" cy="257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09874"/>
            <a:ext cx="5286375" cy="257365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952500" y="3190875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Monochronic (Norway)</a:t>
            </a:r>
            <a:endParaRPr sz="1800" dirty="0"/>
          </a:p>
        </p:txBody>
      </p:sp>
      <p:sp>
        <p:nvSpPr>
          <p:cNvPr id="195" name="Google Shape;195;p22"/>
          <p:cNvSpPr txBox="1"/>
          <p:nvPr/>
        </p:nvSpPr>
        <p:spPr>
          <a:xfrm>
            <a:off x="952500" y="3836670"/>
            <a:ext cx="4524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Time is linear and literal (e.g., CET). Punctuality is rigid. Being late is disrespectful. Stick to the agenda.</a:t>
            </a:r>
            <a:endParaRPr sz="1800" dirty="0"/>
          </a:p>
        </p:txBody>
      </p:sp>
      <p:sp>
        <p:nvSpPr>
          <p:cNvPr id="196" name="Google Shape;196;p22"/>
          <p:cNvSpPr txBox="1"/>
          <p:nvPr/>
        </p:nvSpPr>
        <p:spPr>
          <a:xfrm>
            <a:off x="6715125" y="3190875"/>
            <a:ext cx="47505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Polychronic (Mexico)</a:t>
            </a:r>
            <a:endParaRPr sz="1800" dirty="0"/>
          </a:p>
        </p:txBody>
      </p:sp>
      <p:sp>
        <p:nvSpPr>
          <p:cNvPr id="197" name="Google Shape;197;p22"/>
          <p:cNvSpPr txBox="1"/>
          <p:nvPr/>
        </p:nvSpPr>
        <p:spPr>
          <a:xfrm>
            <a:off x="6715125" y="3836670"/>
            <a:ext cx="4524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Time is flexible and relational (e.g., CST/MST). Relationships are more important than schedules. Agendas are a guide.</a:t>
            </a:r>
            <a:endParaRPr sz="1800" dirty="0"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Time: Punctuality &amp; Perception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23"/>
          <p:cNvGraphicFramePr/>
          <p:nvPr/>
        </p:nvGraphicFramePr>
        <p:xfrm>
          <a:off x="571500" y="2181225"/>
          <a:ext cx="11049000" cy="34480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7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Topic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Norway (Low-Context)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Mexico (High-Context)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Clarity, Punctuality, Equality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Harmony, Relationships, Hierarchy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Humor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Dry, Sarcastic, Direct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Warm, Relational, Teasing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Etiquette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Reserved, Formal, Large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Warm, Expressive, Close Space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Monochronic (Linear)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Polychronic (Flexible)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Slang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Avoid in Business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Common In-Group Signal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4" name="Google Shape;204;p23"/>
          <p:cNvSpPr/>
          <p:nvPr/>
        </p:nvSpPr>
        <p:spPr>
          <a:xfrm>
            <a:off x="571500" y="2767012"/>
            <a:ext cx="187389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445394" y="2767012"/>
            <a:ext cx="437748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6822876" y="2767012"/>
            <a:ext cx="4797623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1500" y="3338512"/>
            <a:ext cx="187389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2445394" y="3338512"/>
            <a:ext cx="437748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6822876" y="3338512"/>
            <a:ext cx="4797623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71500" y="3910012"/>
            <a:ext cx="187389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2445394" y="3910012"/>
            <a:ext cx="437748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6822876" y="3910012"/>
            <a:ext cx="4797623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71500" y="4481512"/>
            <a:ext cx="187389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445394" y="4481512"/>
            <a:ext cx="437748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6822876" y="4481512"/>
            <a:ext cx="4797623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71500" y="5053012"/>
            <a:ext cx="1873894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445394" y="5053012"/>
            <a:ext cx="437748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6822876" y="5053012"/>
            <a:ext cx="4797623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Summary: Norway vs. Mexico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Bridging the Gap</a:t>
            </a:r>
            <a:endParaRPr/>
          </a:p>
        </p:txBody>
      </p:sp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1752658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Effective intercultural communication requires moving beyond assumptions.</a:t>
            </a:r>
            <a:endParaRPr sz="1800"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2706379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Awareness: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Recognize that your "normal" is not universal.</a:t>
            </a:r>
            <a:endParaRPr sz="1800" dirty="0"/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3660100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Flexibility: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Be prepared to adapt your style to the situation.</a:t>
            </a:r>
            <a:endParaRPr sz="1800"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762000" y="4491097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Curiosity: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Ask questions to clarify meaning rather than assuming intent.</a:t>
            </a:r>
            <a:endParaRPr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/>
        </p:nvSpPr>
        <p:spPr>
          <a:xfrm>
            <a:off x="295275" y="2967335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000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1280</Words>
  <Application>Microsoft Office PowerPoint</Application>
  <PresentationFormat>Widescreen</PresentationFormat>
  <Paragraphs>154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DM Sans</vt:lpstr>
      <vt:lpstr>Arial</vt:lpstr>
      <vt:lpstr>Merriweather</vt:lpstr>
      <vt:lpstr>Office Theme</vt:lpstr>
      <vt:lpstr>PowerPoint Presentation</vt:lpstr>
      <vt:lpstr>What is culture</vt:lpstr>
      <vt:lpstr>PowerPoint Presentation</vt:lpstr>
      <vt:lpstr>High and Low – Context Cultures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Hofstede dimensions of culture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Ehab</cp:lastModifiedBy>
  <cp:revision>3</cp:revision>
  <dcterms:modified xsi:type="dcterms:W3CDTF">2025-11-09T09:46:52Z</dcterms:modified>
</cp:coreProperties>
</file>